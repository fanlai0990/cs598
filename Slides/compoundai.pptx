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  <p:embeddedFont>
      <p:font typeface="Arial Black"/>
      <p:regular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ArialBlack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b78bf12d5_1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4b78bf12d5_1_2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4b78bf12d5_1_2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b78bf12d5_1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4b78bf12d5_1_2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4b78bf12d5_1_2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b7f221a62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4b7f221a62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C3C3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34b7f221a62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b7f221a62_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4b7f221a62_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4b7f221a62_2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b7f221a62_3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4b7f221a62_3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8" name="Google Shape;318;g34b7f221a62_3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e9f368fe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4e9f368fe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4e9f368fe8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e9f368fe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4e9f368fe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4e9f368fe8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b7f221a62_2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4b7f221a62_2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4b7f221a62_2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e9f368fe8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4e9f368fe8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4e9f368fe8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b7f221a62_2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4b7f221a62_2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4b7f221a62_2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4b7f221a62_2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4b7f221a62_2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4b7f221a62_2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4efdba83e4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4efdba83e4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4efdba83e4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b7f221a62_2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4b7f221a62_2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4b7f221a62_2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4b7f221a62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4b7f221a62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4b7f221a62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4b7f221a62_3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4b7f221a62_3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4b7f221a62_3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4b7f221a62_3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4b7f221a62_3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4b7f221a62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4b7f221a62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4b7f221a62_3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b7f221a62_3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4b7f221a62_3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4b7f221a62_3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4b7f221a62_3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4b7f221a62_3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4b7f221a62_3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4b7f221a62_3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4b7f221a62_3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4b7f221a62_3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4b7f221a62_3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4b7f221a62_3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4b7f221a62_3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4b7f221a62_3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4b7f221a62_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4b7f221a62_3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4b7f221a62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b7f221a62_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b7f221a62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4b7f221a62_3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4b7f221a62_3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4b7f221a62_3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4b7f221a62_3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b7f221a62_3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b7f221a62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4b7f221a62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4b7f221a62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4b7f221a62_3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4b7f221a62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4b7f221a62_3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4b7f221a62_3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4b7f221a62_3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4b7f221a62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4b78bf12d5_5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4b78bf12d5_5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4b78bf12d5_5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4b78bf12d5_5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4b78bf12d5_5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4b78bf12d5_5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4b78bf12d5_5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4b78bf12d5_5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1" name="Google Shape;601;g34b78bf12d5_5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4b78bf12d5_5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4b78bf12d5_5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4b78bf12d5_5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4b78bf12d5_5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4b78bf12d5_5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4b78bf12d5_5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4b78bf12d5_5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4b78bf12d5_5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4b78bf12d5_5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4b78bf12d5_5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4b78bf12d5_5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7" name="Google Shape;637;g34b78bf12d5_5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4b78bf12d5_5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4b78bf12d5_5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4b78bf12d5_5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4b78bf12d5_5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4b78bf12d5_5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4b78bf12d5_5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4b7f221a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4b7f221a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4b7f221a6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4b7f221a6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4b78bf12d5_5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4b78bf12d5_5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4b78bf12d5_5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4b78bf12d5_5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34b78bf12d5_5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4b78bf12d5_5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4b78bf12d5_5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4b78bf12d5_5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4b78bf12d5_5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4b78bf12d5_5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34b78bf12d5_5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4b78bf12d5_5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4b7f221a62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4b7f221a62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4b7f221a62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4b78bf12d5_5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g34b78bf12d5_5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4b78bf12d5_5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4b78bf12d5_5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34b78bf12d5_5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4b78bf12d5_5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4b7f221a62_3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4b7f221a62_3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4b7f221a62_3_2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4b7f221a62_3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4b7f221a62_3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we want to stick to the user specified performance constraint, there are a lot of decisions to make for each of the above steps, lots of knobs to turn, to reach an optimal configuration that satisfies the constraints</a:t>
            </a:r>
            <a:endParaRPr/>
          </a:p>
        </p:txBody>
      </p:sp>
      <p:sp>
        <p:nvSpPr>
          <p:cNvPr id="757" name="Google Shape;757;g34b7f221a62_3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4b7f221a62_3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4b7f221a62_3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4b7f221a62_3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4b7f221a62_3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4b7f221a62_3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4b7f221a62_3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3294B"/>
                </a:solidFill>
              </a:rPr>
              <a:t>Problem : Search space for filter ording is exponential.</a:t>
            </a:r>
            <a:endParaRPr sz="1500">
              <a:solidFill>
                <a:srgbClr val="13294B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13294B"/>
                </a:solidFill>
              </a:rPr>
              <a:t>Reduces search space from exponential → linear in filters.</a:t>
            </a:r>
            <a:endParaRPr sz="1500">
              <a:solidFill>
                <a:srgbClr val="13294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4b7f221a62_3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4b7f221a62_3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4b7f221a62_3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4b7f221a62_3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13294B"/>
                </a:solidFill>
              </a:rPr>
              <a:t>Stops when utility improves &lt;10% over 5 trials</a:t>
            </a:r>
            <a:br>
              <a:rPr lang="en" sz="1500">
                <a:solidFill>
                  <a:srgbClr val="13294B"/>
                </a:solidFill>
              </a:rPr>
            </a:br>
            <a:endParaRPr sz="1500">
              <a:solidFill>
                <a:srgbClr val="13294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4b7f221a62_3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4b7f221a62_3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Result: 2.5× better 99th percentile latency in dynamic settings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4b7f221a62_3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4b7f221a62_3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4b78bf12d5_1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4b78bf12d5_1_4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4b78bf12d5_1_4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2171904" y="1374458"/>
            <a:ext cx="71438" cy="23945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2462348" y="1468723"/>
            <a:ext cx="6426927" cy="1210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2464201" y="2617089"/>
            <a:ext cx="6426926" cy="5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2464201" y="3193066"/>
            <a:ext cx="6426926" cy="5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9" y="0"/>
            <a:ext cx="91355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>
            <a:off x="2171904" y="1374458"/>
            <a:ext cx="71438" cy="23945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462348" y="1468723"/>
            <a:ext cx="6426927" cy="1210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464201" y="2617089"/>
            <a:ext cx="6426926" cy="5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2464201" y="3193066"/>
            <a:ext cx="6426926" cy="5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 Slide 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521"/>
            <a:ext cx="9142151" cy="514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454" y="208354"/>
            <a:ext cx="397105" cy="5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>
            <p:ph type="title"/>
          </p:nvPr>
        </p:nvSpPr>
        <p:spPr>
          <a:xfrm>
            <a:off x="0" y="1622659"/>
            <a:ext cx="9142148" cy="1210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1853" y="2771026"/>
            <a:ext cx="9142148" cy="5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0" y="3375100"/>
            <a:ext cx="9142148" cy="5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 Slide 4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9" y="2379"/>
            <a:ext cx="9135541" cy="513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3706" y="209264"/>
            <a:ext cx="396431" cy="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>
            <p:ph type="title"/>
          </p:nvPr>
        </p:nvSpPr>
        <p:spPr>
          <a:xfrm>
            <a:off x="0" y="1622659"/>
            <a:ext cx="9142148" cy="1210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1853" y="2771026"/>
            <a:ext cx="9142148" cy="5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0" y="3375100"/>
            <a:ext cx="9142148" cy="5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521"/>
            <a:ext cx="9142149" cy="514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3706" y="209264"/>
            <a:ext cx="396431" cy="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/>
          <p:nvPr/>
        </p:nvSpPr>
        <p:spPr>
          <a:xfrm>
            <a:off x="1042988" y="1374458"/>
            <a:ext cx="71438" cy="239458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 txBox="1"/>
          <p:nvPr>
            <p:ph type="title"/>
          </p:nvPr>
        </p:nvSpPr>
        <p:spPr>
          <a:xfrm>
            <a:off x="1220657" y="1374458"/>
            <a:ext cx="710305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1220657" y="2702469"/>
            <a:ext cx="7103050" cy="1066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2">
  <p:cSld name="Section Divider 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521"/>
            <a:ext cx="9142150" cy="514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454" y="208354"/>
            <a:ext cx="397105" cy="5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/>
          <p:nvPr/>
        </p:nvSpPr>
        <p:spPr>
          <a:xfrm>
            <a:off x="1042988" y="1374458"/>
            <a:ext cx="71438" cy="2394585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9"/>
          <p:cNvSpPr txBox="1"/>
          <p:nvPr>
            <p:ph type="title"/>
          </p:nvPr>
        </p:nvSpPr>
        <p:spPr>
          <a:xfrm>
            <a:off x="1220657" y="1374458"/>
            <a:ext cx="710305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220657" y="2702469"/>
            <a:ext cx="7103050" cy="1066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2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3">
  <p:cSld name="Section Divider 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521"/>
            <a:ext cx="9142149" cy="514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3706" y="209264"/>
            <a:ext cx="396431" cy="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/>
          <p:nvPr/>
        </p:nvSpPr>
        <p:spPr>
          <a:xfrm>
            <a:off x="1042988" y="1374458"/>
            <a:ext cx="71438" cy="239458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1220657" y="1374458"/>
            <a:ext cx="710305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1220657" y="2702469"/>
            <a:ext cx="7103050" cy="1066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2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4">
  <p:cSld name="Section Divider 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454" y="208354"/>
            <a:ext cx="397105" cy="5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1042988" y="1374458"/>
            <a:ext cx="71438" cy="2394585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1220657" y="1374458"/>
            <a:ext cx="710305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1220657" y="2702469"/>
            <a:ext cx="7103050" cy="1066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1">
  <p:cSld name="Transition Slide 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4000" cy="5140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454" y="208354"/>
            <a:ext cx="397105" cy="5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/>
          <p:nvPr/>
        </p:nvSpPr>
        <p:spPr>
          <a:xfrm>
            <a:off x="4091748" y="3119461"/>
            <a:ext cx="956662" cy="106467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2"/>
          <p:cNvSpPr txBox="1"/>
          <p:nvPr>
            <p:ph type="title"/>
          </p:nvPr>
        </p:nvSpPr>
        <p:spPr>
          <a:xfrm>
            <a:off x="628650" y="201599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2">
  <p:cSld name="Transition Slide 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3706" y="208353"/>
            <a:ext cx="396431" cy="573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/>
          <p:nvPr/>
        </p:nvSpPr>
        <p:spPr>
          <a:xfrm>
            <a:off x="4091748" y="3119461"/>
            <a:ext cx="956662" cy="10646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/>
          <p:nvPr>
            <p:ph type="title"/>
          </p:nvPr>
        </p:nvSpPr>
        <p:spPr>
          <a:xfrm>
            <a:off x="628650" y="201599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Content Slide 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89347" y="1346812"/>
            <a:ext cx="7777642" cy="30902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2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2">
  <p:cSld name="Content Slide 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90671" y="1435152"/>
            <a:ext cx="7777643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2" type="body"/>
          </p:nvPr>
        </p:nvSpPr>
        <p:spPr>
          <a:xfrm>
            <a:off x="489347" y="2016604"/>
            <a:ext cx="7777642" cy="722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3" type="body"/>
          </p:nvPr>
        </p:nvSpPr>
        <p:spPr>
          <a:xfrm>
            <a:off x="490671" y="2968341"/>
            <a:ext cx="7777643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4" type="body"/>
          </p:nvPr>
        </p:nvSpPr>
        <p:spPr>
          <a:xfrm>
            <a:off x="489347" y="3549793"/>
            <a:ext cx="7777642" cy="722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5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 txBox="1"/>
          <p:nvPr>
            <p:ph idx="5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3">
  <p:cSld name="Content Slide 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490671" y="1507499"/>
            <a:ext cx="3657313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2" type="body"/>
          </p:nvPr>
        </p:nvSpPr>
        <p:spPr>
          <a:xfrm>
            <a:off x="489347" y="2088950"/>
            <a:ext cx="3657313" cy="16165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3" type="body"/>
          </p:nvPr>
        </p:nvSpPr>
        <p:spPr>
          <a:xfrm>
            <a:off x="4611002" y="1507499"/>
            <a:ext cx="3657313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4" type="body"/>
          </p:nvPr>
        </p:nvSpPr>
        <p:spPr>
          <a:xfrm>
            <a:off x="4609678" y="2088950"/>
            <a:ext cx="3657313" cy="16165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6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 txBox="1"/>
          <p:nvPr>
            <p:ph idx="5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4">
  <p:cSld name="Content Slide 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490671" y="1507499"/>
            <a:ext cx="3657313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2" type="body"/>
          </p:nvPr>
        </p:nvSpPr>
        <p:spPr>
          <a:xfrm>
            <a:off x="488311" y="2081213"/>
            <a:ext cx="3657313" cy="2001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3" type="body"/>
          </p:nvPr>
        </p:nvSpPr>
        <p:spPr>
          <a:xfrm>
            <a:off x="4611002" y="1507499"/>
            <a:ext cx="3657313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idx="4" type="body"/>
          </p:nvPr>
        </p:nvSpPr>
        <p:spPr>
          <a:xfrm>
            <a:off x="4608641" y="2081098"/>
            <a:ext cx="3657313" cy="2001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7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 txBox="1"/>
          <p:nvPr>
            <p:ph idx="5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>
            <p:ph type="title"/>
          </p:nvPr>
        </p:nvSpPr>
        <p:spPr>
          <a:xfrm>
            <a:off x="2288385" y="968739"/>
            <a:ext cx="4642116" cy="605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8"/>
          <p:cNvSpPr txBox="1"/>
          <p:nvPr/>
        </p:nvSpPr>
        <p:spPr>
          <a:xfrm>
            <a:off x="1705357" y="875976"/>
            <a:ext cx="888467" cy="1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69" name="Google Shape;169;p28"/>
          <p:cNvSpPr txBox="1"/>
          <p:nvPr/>
        </p:nvSpPr>
        <p:spPr>
          <a:xfrm>
            <a:off x="6855616" y="888942"/>
            <a:ext cx="888467" cy="1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5345395" y="1587549"/>
            <a:ext cx="1585106" cy="322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1" name="Google Shape;171;p28"/>
          <p:cNvSpPr txBox="1"/>
          <p:nvPr/>
        </p:nvSpPr>
        <p:spPr>
          <a:xfrm>
            <a:off x="1705357" y="2607768"/>
            <a:ext cx="888467" cy="1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rgbClr val="FF5F0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72" name="Google Shape;172;p28"/>
          <p:cNvSpPr txBox="1"/>
          <p:nvPr/>
        </p:nvSpPr>
        <p:spPr>
          <a:xfrm>
            <a:off x="6816200" y="2620734"/>
            <a:ext cx="888467" cy="1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  <p:sp>
        <p:nvSpPr>
          <p:cNvPr id="173" name="Google Shape;173;p28"/>
          <p:cNvSpPr txBox="1"/>
          <p:nvPr>
            <p:ph idx="2" type="body"/>
          </p:nvPr>
        </p:nvSpPr>
        <p:spPr>
          <a:xfrm>
            <a:off x="2295556" y="2626298"/>
            <a:ext cx="4634945" cy="1130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3" type="body"/>
          </p:nvPr>
        </p:nvSpPr>
        <p:spPr>
          <a:xfrm>
            <a:off x="5345395" y="3798843"/>
            <a:ext cx="1585106" cy="322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28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 txBox="1"/>
          <p:nvPr>
            <p:ph idx="4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1">
  <p:cSld name="Image Slide 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9"/>
          <p:cNvSpPr/>
          <p:nvPr>
            <p:ph idx="2" type="pic"/>
          </p:nvPr>
        </p:nvSpPr>
        <p:spPr>
          <a:xfrm>
            <a:off x="415529" y="1340015"/>
            <a:ext cx="3554015" cy="153219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4108011" y="1340015"/>
            <a:ext cx="4160304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3" type="body"/>
          </p:nvPr>
        </p:nvSpPr>
        <p:spPr>
          <a:xfrm>
            <a:off x="4106687" y="1921468"/>
            <a:ext cx="4160304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9"/>
          <p:cNvSpPr/>
          <p:nvPr>
            <p:ph idx="4" type="pic"/>
          </p:nvPr>
        </p:nvSpPr>
        <p:spPr>
          <a:xfrm>
            <a:off x="414205" y="2943086"/>
            <a:ext cx="3554015" cy="153219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6" name="Google Shape;186;p29"/>
          <p:cNvSpPr txBox="1"/>
          <p:nvPr>
            <p:ph idx="5" type="body"/>
          </p:nvPr>
        </p:nvSpPr>
        <p:spPr>
          <a:xfrm>
            <a:off x="4106687" y="2943086"/>
            <a:ext cx="4160304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4105363" y="3524539"/>
            <a:ext cx="4160304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29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>
            <p:ph idx="7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2">
  <p:cSld name="Image Slide 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490671" y="1340015"/>
            <a:ext cx="4160304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2" type="body"/>
          </p:nvPr>
        </p:nvSpPr>
        <p:spPr>
          <a:xfrm>
            <a:off x="489347" y="1921468"/>
            <a:ext cx="4160304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0"/>
          <p:cNvSpPr/>
          <p:nvPr>
            <p:ph idx="3" type="pic"/>
          </p:nvPr>
        </p:nvSpPr>
        <p:spPr>
          <a:xfrm>
            <a:off x="4711652" y="1340015"/>
            <a:ext cx="3554015" cy="153219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98" name="Google Shape;198;p30"/>
          <p:cNvSpPr txBox="1"/>
          <p:nvPr>
            <p:ph idx="4" type="body"/>
          </p:nvPr>
        </p:nvSpPr>
        <p:spPr>
          <a:xfrm>
            <a:off x="489347" y="2943086"/>
            <a:ext cx="4160304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30"/>
          <p:cNvSpPr txBox="1"/>
          <p:nvPr>
            <p:ph idx="5" type="body"/>
          </p:nvPr>
        </p:nvSpPr>
        <p:spPr>
          <a:xfrm>
            <a:off x="488024" y="3524539"/>
            <a:ext cx="4160304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30"/>
          <p:cNvSpPr/>
          <p:nvPr>
            <p:ph idx="6" type="pic"/>
          </p:nvPr>
        </p:nvSpPr>
        <p:spPr>
          <a:xfrm>
            <a:off x="4710329" y="2943086"/>
            <a:ext cx="3554015" cy="153219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01" name="Google Shape;201;p30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0"/>
          <p:cNvSpPr txBox="1"/>
          <p:nvPr>
            <p:ph idx="7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3">
  <p:cSld name="Image Slide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31"/>
          <p:cNvSpPr/>
          <p:nvPr>
            <p:ph idx="2" type="pic"/>
          </p:nvPr>
        </p:nvSpPr>
        <p:spPr>
          <a:xfrm>
            <a:off x="415529" y="1340015"/>
            <a:ext cx="3554015" cy="324165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4108011" y="2037828"/>
            <a:ext cx="4160304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3" type="body"/>
          </p:nvPr>
        </p:nvSpPr>
        <p:spPr>
          <a:xfrm>
            <a:off x="4106687" y="2619280"/>
            <a:ext cx="4160304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31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1"/>
          <p:cNvSpPr txBox="1"/>
          <p:nvPr>
            <p:ph idx="4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4">
  <p:cSld name="Image Slide 4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529" y="208352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489347" y="2037828"/>
            <a:ext cx="4160304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9" name="Google Shape;219;p32"/>
          <p:cNvSpPr txBox="1"/>
          <p:nvPr>
            <p:ph idx="2" type="body"/>
          </p:nvPr>
        </p:nvSpPr>
        <p:spPr>
          <a:xfrm>
            <a:off x="488024" y="2619280"/>
            <a:ext cx="4160304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32"/>
          <p:cNvSpPr/>
          <p:nvPr>
            <p:ph idx="3" type="pic"/>
          </p:nvPr>
        </p:nvSpPr>
        <p:spPr>
          <a:xfrm>
            <a:off x="4712976" y="1340015"/>
            <a:ext cx="3554015" cy="324165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21" name="Google Shape;221;p32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 txBox="1"/>
          <p:nvPr>
            <p:ph idx="4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5">
  <p:cSld name="Image Slide 5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490671" y="208352"/>
            <a:ext cx="7777643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27" name="Google Shape;22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>
            <p:ph idx="2" type="pic"/>
          </p:nvPr>
        </p:nvSpPr>
        <p:spPr>
          <a:xfrm>
            <a:off x="488024" y="1183920"/>
            <a:ext cx="7778968" cy="290644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29" name="Google Shape;229;p33"/>
          <p:cNvSpPr txBox="1"/>
          <p:nvPr>
            <p:ph idx="3" type="body"/>
          </p:nvPr>
        </p:nvSpPr>
        <p:spPr>
          <a:xfrm>
            <a:off x="491017" y="4192755"/>
            <a:ext cx="7775974" cy="459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33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 txBox="1"/>
          <p:nvPr>
            <p:ph idx="4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6">
  <p:cSld name="Image Slide 6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5759328" y="1793384"/>
            <a:ext cx="3140925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5" name="Google Shape;235;p34"/>
          <p:cNvSpPr txBox="1"/>
          <p:nvPr>
            <p:ph idx="2" type="body"/>
          </p:nvPr>
        </p:nvSpPr>
        <p:spPr>
          <a:xfrm>
            <a:off x="5758004" y="2374837"/>
            <a:ext cx="3140925" cy="9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34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4"/>
          <p:cNvSpPr txBox="1"/>
          <p:nvPr>
            <p:ph idx="3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8" name="Google Shape;238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7">
  <p:cSld name="Image Slide 7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>
            <p:ph idx="1" type="body"/>
          </p:nvPr>
        </p:nvSpPr>
        <p:spPr>
          <a:xfrm>
            <a:off x="1686185" y="3052868"/>
            <a:ext cx="5771629" cy="573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2" name="Google Shape;242;p35"/>
          <p:cNvSpPr txBox="1"/>
          <p:nvPr>
            <p:ph idx="2" type="body"/>
          </p:nvPr>
        </p:nvSpPr>
        <p:spPr>
          <a:xfrm>
            <a:off x="1686185" y="3735050"/>
            <a:ext cx="5771629" cy="459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5"/>
          <p:cNvSpPr txBox="1"/>
          <p:nvPr>
            <p:ph idx="3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Slide 1">
  <p:cSld name="Graph Slide 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/>
          <p:nvPr/>
        </p:nvSpPr>
        <p:spPr>
          <a:xfrm rot="5400000">
            <a:off x="6326" y="617699"/>
            <a:ext cx="892364" cy="736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36018" y="208353"/>
            <a:ext cx="387174" cy="55925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 txBox="1"/>
          <p:nvPr>
            <p:ph type="title"/>
          </p:nvPr>
        </p:nvSpPr>
        <p:spPr>
          <a:xfrm>
            <a:off x="489347" y="207431"/>
            <a:ext cx="7777642" cy="89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9" name="Google Shape;249;p36"/>
          <p:cNvSpPr/>
          <p:nvPr>
            <p:ph idx="2" type="chart"/>
          </p:nvPr>
        </p:nvSpPr>
        <p:spPr>
          <a:xfrm>
            <a:off x="1072754" y="1310879"/>
            <a:ext cx="6850856" cy="3270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6"/>
          <p:cNvSpPr/>
          <p:nvPr/>
        </p:nvSpPr>
        <p:spPr>
          <a:xfrm>
            <a:off x="0" y="4684060"/>
            <a:ext cx="9140300" cy="459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6"/>
          <p:cNvSpPr txBox="1"/>
          <p:nvPr>
            <p:ph idx="1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1">
  <p:cSld name="Thank You Slide 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4000" cy="514082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7"/>
          <p:cNvSpPr txBox="1"/>
          <p:nvPr>
            <p:ph type="title"/>
          </p:nvPr>
        </p:nvSpPr>
        <p:spPr>
          <a:xfrm>
            <a:off x="1208024" y="617898"/>
            <a:ext cx="6735915" cy="830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6" name="Google Shape;256;p37"/>
          <p:cNvSpPr/>
          <p:nvPr/>
        </p:nvSpPr>
        <p:spPr>
          <a:xfrm>
            <a:off x="4091748" y="1448183"/>
            <a:ext cx="956662" cy="10646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454" y="208354"/>
            <a:ext cx="397105" cy="5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1208023" y="1746196"/>
            <a:ext cx="6735914" cy="165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2" type="body"/>
          </p:nvPr>
        </p:nvSpPr>
        <p:spPr>
          <a:xfrm>
            <a:off x="1208023" y="3714124"/>
            <a:ext cx="6735914" cy="5975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3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2">
  <p:cSld name="Thank You Slide 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 txBox="1"/>
          <p:nvPr>
            <p:ph type="title"/>
          </p:nvPr>
        </p:nvSpPr>
        <p:spPr>
          <a:xfrm>
            <a:off x="1208024" y="617898"/>
            <a:ext cx="6735915" cy="830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38"/>
          <p:cNvSpPr/>
          <p:nvPr/>
        </p:nvSpPr>
        <p:spPr>
          <a:xfrm>
            <a:off x="4091748" y="1448183"/>
            <a:ext cx="956662" cy="10646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3706" y="208353"/>
            <a:ext cx="396431" cy="57359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1208023" y="1746196"/>
            <a:ext cx="6735914" cy="165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8" name="Google Shape;268;p38"/>
          <p:cNvSpPr txBox="1"/>
          <p:nvPr>
            <p:ph idx="2" type="body"/>
          </p:nvPr>
        </p:nvSpPr>
        <p:spPr>
          <a:xfrm>
            <a:off x="1208023" y="3714124"/>
            <a:ext cx="6735914" cy="5975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8"/>
          <p:cNvSpPr txBox="1"/>
          <p:nvPr>
            <p:ph idx="3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1">
  <p:cSld name="Closing Art 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4000" cy="5140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2">
  <p:cSld name="Closing Art 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3">
  <p:cSld name="Closing Art 3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521"/>
            <a:ext cx="9142150" cy="5142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4">
  <p:cSld name="Closing Art 4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9" y="2379"/>
            <a:ext cx="9135541" cy="5138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2462348" y="1468723"/>
            <a:ext cx="6426927" cy="1210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"/>
              <a:t>Compound AI</a:t>
            </a:r>
            <a:endParaRPr/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2464201" y="2617089"/>
            <a:ext cx="6426926" cy="5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95"/>
              <a:buNone/>
            </a:pPr>
            <a:r>
              <a:rPr lang="en" sz="1595"/>
              <a:t>Anu Agarwal, Saksham Gera, Ritik Hariani, Dhruv kathpalia</a:t>
            </a:r>
            <a:endParaRPr sz="1595"/>
          </a:p>
        </p:txBody>
      </p:sp>
      <p:sp>
        <p:nvSpPr>
          <p:cNvPr id="286" name="Google Shape;286;p43"/>
          <p:cNvSpPr txBox="1"/>
          <p:nvPr>
            <p:ph idx="2" type="body"/>
          </p:nvPr>
        </p:nvSpPr>
        <p:spPr>
          <a:xfrm>
            <a:off x="2464201" y="3193066"/>
            <a:ext cx="6426926" cy="5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</a:pPr>
            <a:r>
              <a:rPr lang="en" sz="1322"/>
              <a:t>CS598 Systems for Generative AI (Spring 2025)</a:t>
            </a:r>
            <a:endParaRPr sz="1322"/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type="title"/>
          </p:nvPr>
        </p:nvSpPr>
        <p:spPr>
          <a:xfrm>
            <a:off x="138450" y="1231700"/>
            <a:ext cx="8867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" sz="4000"/>
              <a:t>OMS-DPM: Optimizing the Model Schedule for Diffusion Probabilistic Models</a:t>
            </a:r>
            <a:endParaRPr sz="4000"/>
          </a:p>
        </p:txBody>
      </p:sp>
      <p:sp>
        <p:nvSpPr>
          <p:cNvPr id="293" name="Google Shape;293;p44"/>
          <p:cNvSpPr txBox="1"/>
          <p:nvPr>
            <p:ph idx="1" type="body"/>
          </p:nvPr>
        </p:nvSpPr>
        <p:spPr>
          <a:xfrm>
            <a:off x="342900" y="4767263"/>
            <a:ext cx="611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/>
              <a:t>Authors:</a:t>
            </a:r>
            <a:r>
              <a:rPr lang="en"/>
              <a:t> Enshu Liu, Xuefei Ning, Zinan Lin, Huazhong Yang, Yu Wang (ICML 2023)</a:t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94" name="Google Shape;294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DPM</a:t>
            </a:r>
            <a:endParaRPr/>
          </a:p>
        </p:txBody>
      </p:sp>
      <p:sp>
        <p:nvSpPr>
          <p:cNvPr id="301" name="Google Shape;301;p45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800"/>
              <a:t>Fig 1: </a:t>
            </a:r>
            <a:r>
              <a:rPr lang="en" sz="800"/>
              <a:t>LearnOpenCV. (2023).</a:t>
            </a:r>
            <a:r>
              <a:rPr lang="en" sz="800"/>
              <a:t> “An In-Depth Guide to Denoising Diffusion Probabilistic Models DDPM - Theory to Implementation”</a:t>
            </a:r>
            <a:endParaRPr sz="800"/>
          </a:p>
        </p:txBody>
      </p:sp>
      <p:sp>
        <p:nvSpPr>
          <p:cNvPr id="302" name="Google Shape;302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3" name="Google Shape;30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887" y="920425"/>
            <a:ext cx="6792426" cy="37082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5"/>
          <p:cNvSpPr/>
          <p:nvPr/>
        </p:nvSpPr>
        <p:spPr>
          <a:xfrm>
            <a:off x="3630725" y="1693950"/>
            <a:ext cx="1420200" cy="24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5"/>
          <p:cNvSpPr/>
          <p:nvPr/>
        </p:nvSpPr>
        <p:spPr>
          <a:xfrm>
            <a:off x="3542325" y="3097500"/>
            <a:ext cx="1774200" cy="27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DPMs Suffer from slow sampling speed.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DPMs solve SDEs/ODEs using time dependent score functions.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Neural networks evaluate the score, requiring discretization of continuous trajectories into thousands of steps.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Sampling can be up to 1000x slower than GANs.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13" name="Google Shape;313;p46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14" name="Google Shape;314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Background &amp; Related Works</a:t>
            </a:r>
            <a:endParaRPr/>
          </a:p>
        </p:txBody>
      </p:sp>
      <p:sp>
        <p:nvSpPr>
          <p:cNvPr id="321" name="Google Shape;321;p47"/>
          <p:cNvSpPr txBox="1"/>
          <p:nvPr>
            <p:ph idx="1" type="body"/>
          </p:nvPr>
        </p:nvSpPr>
        <p:spPr>
          <a:xfrm>
            <a:off x="489350" y="1172599"/>
            <a:ext cx="77775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Training Free Samplers: </a:t>
            </a:r>
            <a:r>
              <a:rPr lang="en">
                <a:solidFill>
                  <a:schemeClr val="dk1"/>
                </a:solidFill>
              </a:rPr>
              <a:t>Aim to reduce the Number of Function Evaluations (NFE) needed in the denoising process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500"/>
              <a:t>DDIM:</a:t>
            </a:r>
            <a:r>
              <a:rPr lang="en" sz="1500"/>
              <a:t> Deterministic non-Markovian sampling process</a:t>
            </a:r>
            <a:br>
              <a:rPr b="1" lang="en"/>
            </a:br>
            <a:br>
              <a:rPr b="1" lang="en"/>
            </a:br>
            <a:endParaRPr b="1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500"/>
              <a:t>DPM-SOLVER:</a:t>
            </a:r>
            <a:r>
              <a:rPr b="1" lang="en"/>
              <a:t> </a:t>
            </a:r>
            <a:r>
              <a:rPr lang="en" sz="1500"/>
              <a:t>High order diffusion ODE solver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	</a:t>
            </a:r>
            <a:endParaRPr b="1"/>
          </a:p>
        </p:txBody>
      </p:sp>
      <p:sp>
        <p:nvSpPr>
          <p:cNvPr id="322" name="Google Shape;322;p47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23" name="Google Shape;323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475" y="2183700"/>
            <a:ext cx="5217948" cy="77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575" y="3503550"/>
            <a:ext cx="5415625" cy="5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7"/>
          <p:cNvSpPr/>
          <p:nvPr/>
        </p:nvSpPr>
        <p:spPr>
          <a:xfrm>
            <a:off x="5870900" y="2332700"/>
            <a:ext cx="638700" cy="408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Background &amp; Related Works</a:t>
            </a:r>
            <a:endParaRPr/>
          </a:p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489350" y="1172599"/>
            <a:ext cx="77775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AutoML</a:t>
            </a:r>
            <a:r>
              <a:rPr b="1"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chemeClr val="dk1"/>
                </a:solidFill>
              </a:rPr>
              <a:t>Automates the machine learning pipeline, including tasks like model selection, hyperparameter tuning, and neural architecture design.​</a:t>
            </a:r>
            <a:endParaRPr b="1"/>
          </a:p>
        </p:txBody>
      </p:sp>
      <p:sp>
        <p:nvSpPr>
          <p:cNvPr id="334" name="Google Shape;334;p48"/>
          <p:cNvSpPr txBox="1"/>
          <p:nvPr>
            <p:ph idx="2" type="body"/>
          </p:nvPr>
        </p:nvSpPr>
        <p:spPr>
          <a:xfrm>
            <a:off x="864750" y="35749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>
                <a:solidFill>
                  <a:schemeClr val="dk1"/>
                </a:solidFill>
              </a:rPr>
              <a:t>Fig 2: Pipeline diagram for typical AutoML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8"/>
          <p:cNvSpPr/>
          <p:nvPr/>
        </p:nvSpPr>
        <p:spPr>
          <a:xfrm>
            <a:off x="864750" y="2454675"/>
            <a:ext cx="1534800" cy="93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Data Preprocessing</a:t>
            </a:r>
            <a:endParaRPr b="1" sz="1000"/>
          </a:p>
          <a:p>
            <a:pPr indent="0" lvl="0" marL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" sz="1000"/>
              <a:t>- </a:t>
            </a:r>
            <a:r>
              <a:rPr lang="en" sz="1000"/>
              <a:t>Data Collection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 Data Visualization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 Data Cleaning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lang="en" sz="1000"/>
              <a:t>- Data Augmentation</a:t>
            </a:r>
            <a:endParaRPr sz="1000"/>
          </a:p>
        </p:txBody>
      </p:sp>
      <p:cxnSp>
        <p:nvCxnSpPr>
          <p:cNvPr id="337" name="Google Shape;337;p48"/>
          <p:cNvCxnSpPr>
            <a:stCxn id="336" idx="3"/>
          </p:cNvCxnSpPr>
          <p:nvPr/>
        </p:nvCxnSpPr>
        <p:spPr>
          <a:xfrm>
            <a:off x="2399550" y="2923575"/>
            <a:ext cx="2634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48"/>
          <p:cNvSpPr/>
          <p:nvPr/>
        </p:nvSpPr>
        <p:spPr>
          <a:xfrm>
            <a:off x="2662950" y="2530425"/>
            <a:ext cx="1421700" cy="78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Feature Engineering</a:t>
            </a:r>
            <a:endParaRPr b="1" sz="1000"/>
          </a:p>
          <a:p>
            <a:pPr indent="0" lvl="0" marL="0" rtl="0" algn="l">
              <a:spcBef>
                <a:spcPts val="70"/>
              </a:spcBef>
              <a:spcAft>
                <a:spcPts val="0"/>
              </a:spcAft>
              <a:buNone/>
            </a:pPr>
            <a:r>
              <a:rPr lang="en" sz="1000"/>
              <a:t>- </a:t>
            </a:r>
            <a:r>
              <a:rPr lang="en" sz="1000"/>
              <a:t>Feature Selection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 Feature Extraction</a:t>
            </a:r>
            <a:endParaRPr sz="1000"/>
          </a:p>
        </p:txBody>
      </p:sp>
      <p:sp>
        <p:nvSpPr>
          <p:cNvPr id="339" name="Google Shape;339;p48"/>
          <p:cNvSpPr/>
          <p:nvPr/>
        </p:nvSpPr>
        <p:spPr>
          <a:xfrm>
            <a:off x="4348050" y="2577375"/>
            <a:ext cx="1893900" cy="69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Model Generation</a:t>
            </a:r>
            <a:endParaRPr b="1" sz="1000"/>
          </a:p>
          <a:p>
            <a:pPr indent="0" lvl="0" marL="0" rtl="0" algn="l">
              <a:spcBef>
                <a:spcPts val="70"/>
              </a:spcBef>
              <a:spcAft>
                <a:spcPts val="0"/>
              </a:spcAft>
              <a:buNone/>
            </a:pPr>
            <a:r>
              <a:rPr lang="en" sz="1000"/>
              <a:t>- S</a:t>
            </a:r>
            <a:r>
              <a:rPr lang="en" sz="1000"/>
              <a:t>tructure Identification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 Hyperparameter optimization</a:t>
            </a:r>
            <a:endParaRPr sz="1000"/>
          </a:p>
        </p:txBody>
      </p:sp>
      <p:sp>
        <p:nvSpPr>
          <p:cNvPr id="340" name="Google Shape;340;p48"/>
          <p:cNvSpPr/>
          <p:nvPr/>
        </p:nvSpPr>
        <p:spPr>
          <a:xfrm>
            <a:off x="6505350" y="2626875"/>
            <a:ext cx="1205700" cy="64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Model Validation</a:t>
            </a:r>
            <a:endParaRPr b="1" sz="1000"/>
          </a:p>
        </p:txBody>
      </p:sp>
      <p:cxnSp>
        <p:nvCxnSpPr>
          <p:cNvPr id="341" name="Google Shape;341;p48"/>
          <p:cNvCxnSpPr>
            <a:stCxn id="338" idx="3"/>
            <a:endCxn id="339" idx="1"/>
          </p:cNvCxnSpPr>
          <p:nvPr/>
        </p:nvCxnSpPr>
        <p:spPr>
          <a:xfrm>
            <a:off x="4084650" y="2924325"/>
            <a:ext cx="26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48"/>
          <p:cNvCxnSpPr/>
          <p:nvPr/>
        </p:nvCxnSpPr>
        <p:spPr>
          <a:xfrm>
            <a:off x="6241950" y="2922825"/>
            <a:ext cx="2634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Background &amp; Related Works</a:t>
            </a:r>
            <a:endParaRPr/>
          </a:p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489350" y="1172599"/>
            <a:ext cx="77775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Predictor Based Neural Architecture Search (NAS)</a:t>
            </a:r>
            <a:r>
              <a:rPr b="1" lang="en">
                <a:solidFill>
                  <a:schemeClr val="dk1"/>
                </a:solidFill>
              </a:rPr>
              <a:t>: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subfield of AutoML focused on automating the design of NN architectures.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Utilizes performance predictors trained on a subset of architectures to estimate the performance of new architectures efficiently.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Reduces the need for exhaustive training, accelerating the search process.​</a:t>
            </a:r>
            <a:endParaRPr/>
          </a:p>
        </p:txBody>
      </p:sp>
      <p:sp>
        <p:nvSpPr>
          <p:cNvPr id="350" name="Google Shape;350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 txBox="1"/>
          <p:nvPr>
            <p:ph idx="2" type="body"/>
          </p:nvPr>
        </p:nvSpPr>
        <p:spPr>
          <a:xfrm>
            <a:off x="7072038" y="3146675"/>
            <a:ext cx="17724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>
                <a:solidFill>
                  <a:schemeClr val="dk1"/>
                </a:solidFill>
              </a:rPr>
              <a:t>Fig 4: Denoising loss on CIFAR-10 test set.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7" name="Google Shape;357;p50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358" name="Google Shape;358;p50"/>
          <p:cNvSpPr txBox="1"/>
          <p:nvPr>
            <p:ph idx="2" type="body"/>
          </p:nvPr>
        </p:nvSpPr>
        <p:spPr>
          <a:xfrm>
            <a:off x="4572000" y="3167650"/>
            <a:ext cx="21753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3"/>
              <a:buNone/>
            </a:pPr>
            <a:r>
              <a:rPr lang="en">
                <a:solidFill>
                  <a:schemeClr val="dk1"/>
                </a:solidFill>
              </a:rPr>
              <a:t>Fig 3: Performance of 90 step DPM solver across set of different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3"/>
              <a:buNone/>
            </a:pPr>
            <a:r>
              <a:rPr lang="en">
                <a:solidFill>
                  <a:schemeClr val="dk1"/>
                </a:solidFill>
              </a:rPr>
              <a:t>size models.</a:t>
            </a:r>
            <a:endParaRPr sz="932">
              <a:solidFill>
                <a:schemeClr val="dk1"/>
              </a:solidFill>
            </a:endParaRPr>
          </a:p>
        </p:txBody>
      </p:sp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0" name="Google Shape;3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900" y="1045800"/>
            <a:ext cx="2217200" cy="21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6100" y="1066763"/>
            <a:ext cx="2260275" cy="20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0"/>
          <p:cNvSpPr txBox="1"/>
          <p:nvPr/>
        </p:nvSpPr>
        <p:spPr>
          <a:xfrm>
            <a:off x="437725" y="1254175"/>
            <a:ext cx="35817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Architecture 1 with worst FID score outperforms most models in late denoising steps.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 the later stages of denoising, replacing arch 6 with arch 1, yields lesser overall loss and latency.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369" name="Google Shape;369;p51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70" name="Google Shape;370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51"/>
          <p:cNvSpPr txBox="1"/>
          <p:nvPr/>
        </p:nvSpPr>
        <p:spPr>
          <a:xfrm>
            <a:off x="489350" y="1019325"/>
            <a:ext cx="79257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rPr>
              <a:t>“ </a:t>
            </a:r>
            <a:r>
              <a:rPr lang="en" sz="1800">
                <a:solidFill>
                  <a:schemeClr val="dk2"/>
                </a:solidFill>
              </a:rPr>
              <a:t>Mixing Different models across steps can benefit the trade off between generation quality and latency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i="1" lang="en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rPr>
              <a:t>”</a:t>
            </a:r>
            <a:endParaRPr b="1" sz="1800">
              <a:solidFill>
                <a:srgbClr val="12284B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72" name="Google Shape;37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50" y="2129925"/>
            <a:ext cx="8839200" cy="207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Empirical</a:t>
            </a:r>
            <a:r>
              <a:rPr lang="en"/>
              <a:t> Proof of Hypothesis</a:t>
            </a:r>
            <a:endParaRPr/>
          </a:p>
        </p:txBody>
      </p:sp>
      <p:sp>
        <p:nvSpPr>
          <p:cNvPr id="379" name="Google Shape;379;p52"/>
          <p:cNvSpPr txBox="1"/>
          <p:nvPr>
            <p:ph idx="2" type="body"/>
          </p:nvPr>
        </p:nvSpPr>
        <p:spPr>
          <a:xfrm>
            <a:off x="5419900" y="4253025"/>
            <a:ext cx="3007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>
                <a:solidFill>
                  <a:schemeClr val="dk1"/>
                </a:solidFill>
              </a:rPr>
              <a:t>Fig 5: Histogram of FIDs obtained by randomly combining models as the score function estimators for a 90 step DPM solver.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1" name="Google Shape;38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775" y="890481"/>
            <a:ext cx="3612637" cy="336253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2"/>
          <p:cNvSpPr txBox="1"/>
          <p:nvPr/>
        </p:nvSpPr>
        <p:spPr>
          <a:xfrm>
            <a:off x="444175" y="1232625"/>
            <a:ext cx="3923700" cy="30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Randomly select models for each of the denoising step to form model schedules. 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Certain</a:t>
            </a:r>
            <a:r>
              <a:rPr lang="en" sz="1500">
                <a:solidFill>
                  <a:schemeClr val="dk1"/>
                </a:solidFill>
              </a:rPr>
              <a:t> model schedules can outperform the best single model i.e arch 6. in terms of both quality and latency.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" type="body"/>
          </p:nvPr>
        </p:nvSpPr>
        <p:spPr>
          <a:xfrm>
            <a:off x="619425" y="1154849"/>
            <a:ext cx="77775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>
                <a:solidFill>
                  <a:schemeClr val="dk1"/>
                </a:solidFill>
              </a:rPr>
              <a:t>Sampling Time: </a:t>
            </a:r>
            <a:r>
              <a:rPr lang="en">
                <a:solidFill>
                  <a:schemeClr val="dk1"/>
                </a:solidFill>
              </a:rPr>
              <a:t>M Steps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>
                <a:solidFill>
                  <a:schemeClr val="dk1"/>
                </a:solidFill>
              </a:rPr>
              <a:t>Time Budget: </a:t>
            </a:r>
            <a:r>
              <a:rPr lang="en">
                <a:solidFill>
                  <a:schemeClr val="dk1"/>
                </a:solidFill>
              </a:rPr>
              <a:t>C (Hyperparameter)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>
                <a:solidFill>
                  <a:schemeClr val="dk1"/>
                </a:solidFill>
              </a:rPr>
              <a:t>Upper limit on number of steps: </a:t>
            </a:r>
            <a:r>
              <a:rPr lang="en">
                <a:solidFill>
                  <a:schemeClr val="dk1"/>
                </a:solidFill>
              </a:rPr>
              <a:t>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Model Schedule Optimization</a:t>
            </a:r>
            <a:endParaRPr/>
          </a:p>
        </p:txBody>
      </p:sp>
      <p:sp>
        <p:nvSpPr>
          <p:cNvPr id="390" name="Google Shape;390;p53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91" name="Google Shape;391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2" name="Google Shape;3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73" y="2470225"/>
            <a:ext cx="4639200" cy="7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500" y="2349100"/>
            <a:ext cx="156805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3"/>
          <p:cNvSpPr txBox="1"/>
          <p:nvPr/>
        </p:nvSpPr>
        <p:spPr>
          <a:xfrm>
            <a:off x="892775" y="3522225"/>
            <a:ext cx="6219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Where, 							 refers to the sample quality score (e.g, FID).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95" name="Google Shape;39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4274" y="3627225"/>
            <a:ext cx="3026301" cy="2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/>
          <p:nvPr>
            <p:ph idx="1" type="body"/>
          </p:nvPr>
        </p:nvSpPr>
        <p:spPr>
          <a:xfrm>
            <a:off x="416475" y="1099925"/>
            <a:ext cx="40410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Discretize L timesteps (Linear for DDIM and uniform logSNR for DPM solver)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To maintain M ≤ L, add null model a</a:t>
            </a:r>
            <a:r>
              <a:rPr baseline="-25000" lang="en">
                <a:solidFill>
                  <a:schemeClr val="dk1"/>
                </a:solidFill>
              </a:rPr>
              <a:t>0</a:t>
            </a:r>
            <a:r>
              <a:rPr lang="en">
                <a:solidFill>
                  <a:schemeClr val="dk1"/>
                </a:solidFill>
              </a:rPr>
              <a:t> to the zoo.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If a</a:t>
            </a:r>
            <a:r>
              <a:rPr baseline="-25000" lang="en">
                <a:solidFill>
                  <a:schemeClr val="dk1"/>
                </a:solidFill>
              </a:rPr>
              <a:t>0</a:t>
            </a:r>
            <a:r>
              <a:rPr lang="en">
                <a:solidFill>
                  <a:schemeClr val="dk1"/>
                </a:solidFill>
              </a:rPr>
              <a:t> is used at a certain timestep, that timestep is skipped for reverse generation process.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2" name="Google Shape;402;p54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Model Schedule Optimization</a:t>
            </a:r>
            <a:endParaRPr/>
          </a:p>
        </p:txBody>
      </p:sp>
      <p:sp>
        <p:nvSpPr>
          <p:cNvPr id="403" name="Google Shape;403;p54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04" name="Google Shape;404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5" name="Google Shape;40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450" y="1099931"/>
            <a:ext cx="4381725" cy="2329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The Challenge</a:t>
            </a:r>
            <a:endParaRPr/>
          </a:p>
        </p:txBody>
      </p:sp>
      <p:sp>
        <p:nvSpPr>
          <p:cNvPr id="412" name="Google Shape;412;p55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13" name="Google Shape;413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5"/>
          <p:cNvSpPr txBox="1"/>
          <p:nvPr>
            <p:ph idx="1" type="body"/>
          </p:nvPr>
        </p:nvSpPr>
        <p:spPr>
          <a:xfrm>
            <a:off x="489350" y="1172599"/>
            <a:ext cx="77775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Finding the most optimal model schedule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Loss values are not a good indication of generation quality.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N models and L step discretization, the search space size becomes </a:t>
            </a:r>
            <a:r>
              <a:rPr b="1" lang="en">
                <a:solidFill>
                  <a:schemeClr val="dk1"/>
                </a:solidFill>
              </a:rPr>
              <a:t>(N+1)</a:t>
            </a:r>
            <a:r>
              <a:rPr b="1" baseline="30000" lang="en">
                <a:solidFill>
                  <a:schemeClr val="dk1"/>
                </a:solidFill>
              </a:rPr>
              <a:t>L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Impractical to get optimal model from large search space with brute force search algorithms.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6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Let’s Estimate!</a:t>
            </a:r>
            <a:endParaRPr/>
          </a:p>
        </p:txBody>
      </p:sp>
      <p:sp>
        <p:nvSpPr>
          <p:cNvPr id="421" name="Google Shape;421;p56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b="1" lang="en">
                <a:solidFill>
                  <a:schemeClr val="dk1"/>
                </a:solidFill>
              </a:rPr>
              <a:t>It takes about 1 GPU hour to generate 5k samples (256×256 resolution), for evaluating only a single model schedule.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b="1" lang="en">
                <a:solidFill>
                  <a:schemeClr val="dk1"/>
                </a:solidFill>
              </a:rPr>
              <a:t>Assuming we have N=5 models in the zoo, and a maximum of L=1000 timesteps, the time taken to exhaustively search the entire search-space of (1+N)</a:t>
            </a:r>
            <a:r>
              <a:rPr b="1" baseline="30000" lang="en">
                <a:solidFill>
                  <a:schemeClr val="dk1"/>
                </a:solidFill>
              </a:rPr>
              <a:t>L</a:t>
            </a:r>
            <a:r>
              <a:rPr b="1" lang="en">
                <a:solidFill>
                  <a:schemeClr val="dk1"/>
                </a:solidFill>
              </a:rPr>
              <a:t> schedules would be 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b="1" lang="en">
                <a:solidFill>
                  <a:schemeClr val="dk1"/>
                </a:solidFill>
              </a:rPr>
              <a:t>1 x 6</a:t>
            </a:r>
            <a:r>
              <a:rPr b="1" baseline="30000" lang="en">
                <a:solidFill>
                  <a:schemeClr val="dk1"/>
                </a:solidFill>
              </a:rPr>
              <a:t>1000</a:t>
            </a:r>
            <a:r>
              <a:rPr b="1" lang="en">
                <a:solidFill>
                  <a:schemeClr val="dk1"/>
                </a:solidFill>
              </a:rPr>
              <a:t> GPU hours</a:t>
            </a:r>
            <a:br>
              <a:rPr b="1" lang="en">
                <a:solidFill>
                  <a:schemeClr val="dk1"/>
                </a:solidFill>
              </a:rPr>
            </a:b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Impractical!!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22" name="Google Shape;422;p56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23" name="Google Shape;423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Predictor-based Model Schedule Optimization</a:t>
            </a:r>
            <a:endParaRPr/>
          </a:p>
        </p:txBody>
      </p:sp>
      <p:sp>
        <p:nvSpPr>
          <p:cNvPr id="430" name="Google Shape;430;p57"/>
          <p:cNvSpPr txBox="1"/>
          <p:nvPr>
            <p:ph idx="1" type="body"/>
          </p:nvPr>
        </p:nvSpPr>
        <p:spPr>
          <a:xfrm>
            <a:off x="489350" y="1346800"/>
            <a:ext cx="81618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 a </a:t>
            </a:r>
            <a:r>
              <a:rPr b="1" lang="en">
                <a:solidFill>
                  <a:schemeClr val="dk1"/>
                </a:solidFill>
              </a:rPr>
              <a:t>separate predictor model</a:t>
            </a:r>
            <a:r>
              <a:rPr lang="en">
                <a:solidFill>
                  <a:schemeClr val="dk1"/>
                </a:solidFill>
              </a:rPr>
              <a:t> which </a:t>
            </a:r>
            <a:r>
              <a:rPr b="1" lang="en">
                <a:solidFill>
                  <a:schemeClr val="dk1"/>
                </a:solidFill>
              </a:rPr>
              <a:t>predicts the generation quality (i.e FID score)</a:t>
            </a:r>
            <a:r>
              <a:rPr lang="en">
                <a:solidFill>
                  <a:schemeClr val="dk1"/>
                </a:solidFill>
              </a:rPr>
              <a:t> for a given model schedule, and use it to efficiently navigate the model schedule search space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31" name="Google Shape;431;p57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32" name="Google Shape;432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3" name="Google Shape;433;p57"/>
          <p:cNvPicPr preferRelativeResize="0"/>
          <p:nvPr/>
        </p:nvPicPr>
        <p:blipFill rotWithShape="1">
          <a:blip r:embed="rId3">
            <a:alphaModFix/>
          </a:blip>
          <a:srcRect b="0" l="19406" r="0" t="2104"/>
          <a:stretch/>
        </p:blipFill>
        <p:spPr>
          <a:xfrm>
            <a:off x="1651525" y="2232425"/>
            <a:ext cx="5840952" cy="20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7"/>
          <p:cNvSpPr/>
          <p:nvPr/>
        </p:nvSpPr>
        <p:spPr>
          <a:xfrm>
            <a:off x="5051150" y="2666750"/>
            <a:ext cx="999900" cy="1417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8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Workflow</a:t>
            </a:r>
            <a:endParaRPr/>
          </a:p>
        </p:txBody>
      </p:sp>
      <p:sp>
        <p:nvSpPr>
          <p:cNvPr id="440" name="Google Shape;440;p58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Step 1: Gather training data for the predictor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Step 2: Train a performance predictor using this data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Step 3: Run a predictor-based search to find a suitable DPM schedule </a:t>
            </a:r>
            <a:endParaRPr/>
          </a:p>
        </p:txBody>
      </p:sp>
      <p:sp>
        <p:nvSpPr>
          <p:cNvPr id="441" name="Google Shape;441;p58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9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Gathering the Predictor Training Data</a:t>
            </a:r>
            <a:endParaRPr/>
          </a:p>
        </p:txBody>
      </p:sp>
      <p:sp>
        <p:nvSpPr>
          <p:cNvPr id="449" name="Google Shape;449;p59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50" name="Google Shape;450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1" name="Google Shape;45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75" y="1279175"/>
            <a:ext cx="8171648" cy="231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Training the Predictor Model</a:t>
            </a:r>
            <a:endParaRPr/>
          </a:p>
        </p:txBody>
      </p:sp>
      <p:sp>
        <p:nvSpPr>
          <p:cNvPr id="458" name="Google Shape;458;p60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5384"/>
              <a:buNone/>
            </a:pPr>
            <a:r>
              <a:rPr lang="en" sz="1300"/>
              <a:t>While comparing any two schedule, it is </a:t>
            </a:r>
            <a:r>
              <a:rPr b="1" lang="en" sz="1300"/>
              <a:t>more important</a:t>
            </a:r>
            <a:r>
              <a:rPr lang="en" sz="1300"/>
              <a:t> for the predictor to correctly estimate </a:t>
            </a:r>
            <a:r>
              <a:rPr b="1" lang="en" sz="1300"/>
              <a:t>relative FID scores</a:t>
            </a:r>
            <a:r>
              <a:rPr lang="en" sz="1300"/>
              <a:t>, as compared to their absolute values.</a:t>
            </a:r>
            <a:br>
              <a:rPr lang="en" sz="1300"/>
            </a:br>
            <a:br>
              <a:rPr lang="en" sz="1300"/>
            </a:br>
            <a:r>
              <a:rPr lang="en" sz="1300"/>
              <a:t>The predictor training loss tries to preserve </a:t>
            </a:r>
            <a:r>
              <a:rPr lang="en" sz="1300"/>
              <a:t>the relative ordering of predicted FID scores</a:t>
            </a:r>
            <a:r>
              <a:rPr lang="en" sz="1300"/>
              <a:t>:</a:t>
            </a:r>
            <a:br>
              <a:rPr lang="en" sz="1300"/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br>
              <a:rPr lang="en" sz="1300"/>
            </a:br>
            <a:r>
              <a:rPr lang="en" sz="1300"/>
              <a:t>q: model schedule	</a:t>
            </a:r>
            <a:br>
              <a:rPr lang="en" sz="1300"/>
            </a:br>
            <a:r>
              <a:rPr lang="en" sz="1300"/>
              <a:t>P(q): Predicted generation quality of </a:t>
            </a:r>
            <a:r>
              <a:rPr lang="en" sz="1300"/>
              <a:t>schedule</a:t>
            </a:r>
            <a:r>
              <a:rPr lang="en" sz="1300"/>
              <a:t> q</a:t>
            </a:r>
            <a:br>
              <a:rPr lang="en" sz="1300"/>
            </a:br>
            <a:r>
              <a:rPr lang="en" sz="1300"/>
              <a:t>m</a:t>
            </a:r>
            <a:r>
              <a:rPr lang="en" sz="1300"/>
              <a:t> : hinge compare margin</a:t>
            </a:r>
            <a:endParaRPr sz="1300"/>
          </a:p>
        </p:txBody>
      </p:sp>
      <p:sp>
        <p:nvSpPr>
          <p:cNvPr id="459" name="Google Shape;459;p60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60" name="Google Shape;460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1" name="Google Shape;4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500" y="2427600"/>
            <a:ext cx="5070550" cy="10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1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Predictor Design</a:t>
            </a:r>
            <a:endParaRPr/>
          </a:p>
        </p:txBody>
      </p:sp>
      <p:sp>
        <p:nvSpPr>
          <p:cNvPr id="468" name="Google Shape;468;p61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69" name="Google Shape;469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0" name="Google Shape;47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925" y="743450"/>
            <a:ext cx="4222924" cy="369577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1"/>
          <p:cNvSpPr txBox="1"/>
          <p:nvPr/>
        </p:nvSpPr>
        <p:spPr>
          <a:xfrm>
            <a:off x="236275" y="1313100"/>
            <a:ext cx="3768900" cy="25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Model Embedder</a:t>
            </a:r>
            <a:r>
              <a:rPr lang="en" sz="1100">
                <a:solidFill>
                  <a:schemeClr val="dk1"/>
                </a:solidFill>
              </a:rPr>
              <a:t> : A d</a:t>
            </a:r>
            <a:r>
              <a:rPr baseline="30000" lang="en" sz="1100">
                <a:solidFill>
                  <a:schemeClr val="dk1"/>
                </a:solidFill>
              </a:rPr>
              <a:t>M </a:t>
            </a:r>
            <a:r>
              <a:rPr lang="en" sz="1100">
                <a:solidFill>
                  <a:schemeClr val="dk1"/>
                </a:solidFill>
              </a:rPr>
              <a:t>dimensional embedding is learned for each model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Timestep Embedder</a:t>
            </a:r>
            <a:r>
              <a:rPr lang="en" sz="1100">
                <a:solidFill>
                  <a:schemeClr val="dk1"/>
                </a:solidFill>
              </a:rPr>
              <a:t> : MLP that generates                         using sinusoidal embedding vector of timestep </a:t>
            </a:r>
            <a:r>
              <a:rPr i="1" lang="en" sz="1100">
                <a:solidFill>
                  <a:schemeClr val="dk1"/>
                </a:solidFill>
              </a:rPr>
              <a:t>t</a:t>
            </a:r>
            <a:br>
              <a:rPr i="1" lang="en" sz="1100">
                <a:solidFill>
                  <a:schemeClr val="dk1"/>
                </a:solidFill>
              </a:rPr>
            </a:br>
            <a:br>
              <a:rPr i="1" lang="en" sz="1100">
                <a:solidFill>
                  <a:schemeClr val="dk1"/>
                </a:solidFill>
              </a:rPr>
            </a:br>
            <a:br>
              <a:rPr i="1" lang="en" sz="1100">
                <a:solidFill>
                  <a:schemeClr val="dk1"/>
                </a:solidFill>
              </a:rPr>
            </a:br>
            <a:r>
              <a:rPr i="1" lang="en" sz="1100">
                <a:solidFill>
                  <a:schemeClr val="dk1"/>
                </a:solidFill>
              </a:rPr>
              <a:t>Thus, for each timestep, we have </a:t>
            </a:r>
            <a:br>
              <a:rPr i="1" lang="en" sz="1100">
                <a:solidFill>
                  <a:schemeClr val="dk1"/>
                </a:solidFill>
              </a:rPr>
            </a:b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Sequence predictor</a:t>
            </a:r>
            <a:r>
              <a:rPr lang="en" sz="1100">
                <a:solidFill>
                  <a:schemeClr val="dk1"/>
                </a:solidFill>
              </a:rPr>
              <a:t> : LSTM followed by MLP which gives the final score </a:t>
            </a:r>
            <a:r>
              <a:rPr b="1" i="1" lang="en" sz="1100">
                <a:solidFill>
                  <a:schemeClr val="dk1"/>
                </a:solidFill>
              </a:rPr>
              <a:t>P(q)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pic>
        <p:nvPicPr>
          <p:cNvPr id="472" name="Google Shape;47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6526" y="1626725"/>
            <a:ext cx="981650" cy="2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553" y="2634825"/>
            <a:ext cx="896622" cy="23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1"/>
          <p:cNvPicPr preferRelativeResize="0"/>
          <p:nvPr/>
        </p:nvPicPr>
        <p:blipFill rotWithShape="1">
          <a:blip r:embed="rId6">
            <a:alphaModFix/>
          </a:blip>
          <a:srcRect b="0" l="1931" r="0" t="0"/>
          <a:stretch/>
        </p:blipFill>
        <p:spPr>
          <a:xfrm>
            <a:off x="1012025" y="3546450"/>
            <a:ext cx="1748650" cy="1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Predictor based Evolutionary Search</a:t>
            </a:r>
            <a:endParaRPr/>
          </a:p>
        </p:txBody>
      </p:sp>
      <p:sp>
        <p:nvSpPr>
          <p:cNvPr id="481" name="Google Shape;481;p62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82" name="Google Shape;482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3" name="Google Shape;483;p62"/>
          <p:cNvPicPr preferRelativeResize="0"/>
          <p:nvPr/>
        </p:nvPicPr>
        <p:blipFill rotWithShape="1">
          <a:blip r:embed="rId3">
            <a:alphaModFix/>
          </a:blip>
          <a:srcRect b="0" l="19471" r="0" t="0"/>
          <a:stretch/>
        </p:blipFill>
        <p:spPr>
          <a:xfrm>
            <a:off x="1107525" y="1252725"/>
            <a:ext cx="7018276" cy="25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2"/>
          <p:cNvSpPr/>
          <p:nvPr/>
        </p:nvSpPr>
        <p:spPr>
          <a:xfrm>
            <a:off x="1107525" y="1380400"/>
            <a:ext cx="1581300" cy="22479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2"/>
          <p:cNvSpPr txBox="1"/>
          <p:nvPr/>
        </p:nvSpPr>
        <p:spPr>
          <a:xfrm>
            <a:off x="297475" y="3908775"/>
            <a:ext cx="84546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algorithm iteratively modifies the current best model schedules (evaluated by the predictor) in the hope of finding better ones.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3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Predictor based Evolutionary Search</a:t>
            </a:r>
            <a:endParaRPr/>
          </a:p>
        </p:txBody>
      </p:sp>
      <p:sp>
        <p:nvSpPr>
          <p:cNvPr id="492" name="Google Shape;492;p63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Select a schedule q</a:t>
            </a:r>
            <a:r>
              <a:rPr baseline="-25000" lang="en" sz="1300"/>
              <a:t>i</a:t>
            </a:r>
            <a:r>
              <a:rPr lang="en" sz="1300"/>
              <a:t> with lowest predicted FID, out of available schedules P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Introduce mutations in q</a:t>
            </a:r>
            <a:r>
              <a:rPr baseline="-25000" lang="en" sz="1300"/>
              <a:t>i</a:t>
            </a:r>
            <a:r>
              <a:rPr lang="en" sz="1300"/>
              <a:t> to generate new variations of q</a:t>
            </a:r>
            <a:r>
              <a:rPr baseline="-25000" lang="en" sz="1300"/>
              <a:t>i</a:t>
            </a:r>
            <a:endParaRPr baseline="-25000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Add these newly generated schedule to the set of available schedules P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Repeat steps 1-3 for a fixed number of iterations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The schedule with the lowest predicted FID out of P is the selected schedule.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/>
            </a:br>
            <a:br>
              <a:rPr lang="en" sz="1300"/>
            </a:br>
            <a:endParaRPr sz="1300"/>
          </a:p>
        </p:txBody>
      </p:sp>
      <p:sp>
        <p:nvSpPr>
          <p:cNvPr id="493" name="Google Shape;493;p63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94" name="Google Shape;494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4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</a:t>
            </a:r>
            <a:r>
              <a:rPr lang="en"/>
              <a:t> Setup</a:t>
            </a:r>
            <a:endParaRPr/>
          </a:p>
        </p:txBody>
      </p:sp>
      <p:sp>
        <p:nvSpPr>
          <p:cNvPr id="500" name="Google Shape;500;p64"/>
          <p:cNvSpPr txBox="1"/>
          <p:nvPr>
            <p:ph idx="1" type="body"/>
          </p:nvPr>
        </p:nvSpPr>
        <p:spPr>
          <a:xfrm>
            <a:off x="489350" y="1324300"/>
            <a:ext cx="8076600" cy="311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Task : Unconditional Generation</a:t>
            </a:r>
            <a:endParaRPr b="1"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Datasets</a:t>
            </a:r>
            <a:r>
              <a:rPr b="1" lang="en" sz="1200"/>
              <a:t>:</a:t>
            </a:r>
            <a:r>
              <a:rPr lang="en" sz="1200"/>
              <a:t> CIFAR-10, CelebA, ImageNet-64, LSUN Church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Samplers</a:t>
            </a:r>
            <a:r>
              <a:rPr lang="en" sz="1200"/>
              <a:t> : DDIM, DPM-Solver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Model Zoo:</a:t>
            </a:r>
            <a:r>
              <a:rPr lang="en" sz="1200"/>
              <a:t> U-Net Architecture tweaked manually and trained on above datasets specifically for the experiment.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Task: Text-to-image Generation</a:t>
            </a:r>
            <a:endParaRPr b="1"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Dataset : MS-COCO 256x256 validation set (image-caption pairs)</a:t>
            </a:r>
            <a:endParaRPr b="1"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Sampler : DPM-Solver</a:t>
            </a:r>
            <a:endParaRPr b="1"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Model Zoo : </a:t>
            </a:r>
            <a:r>
              <a:rPr lang="en" sz="1200">
                <a:solidFill>
                  <a:schemeClr val="dk1"/>
                </a:solidFill>
              </a:rPr>
              <a:t>Four</a:t>
            </a:r>
            <a:r>
              <a:rPr lang="en" sz="1200">
                <a:solidFill>
                  <a:schemeClr val="dk1"/>
                </a:solidFill>
              </a:rPr>
              <a:t> incremental publicly available checkpoints of stable-diffusion-v1</a:t>
            </a:r>
            <a:endParaRPr b="1" sz="1200"/>
          </a:p>
        </p:txBody>
      </p:sp>
      <p:sp>
        <p:nvSpPr>
          <p:cNvPr id="501" name="Google Shape;501;p64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508" name="Google Shape;508;p65"/>
          <p:cNvSpPr txBox="1"/>
          <p:nvPr>
            <p:ph idx="1" type="body"/>
          </p:nvPr>
        </p:nvSpPr>
        <p:spPr>
          <a:xfrm>
            <a:off x="489350" y="1324300"/>
            <a:ext cx="8076600" cy="311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Baselines:</a:t>
            </a:r>
            <a:br>
              <a:rPr lang="en" sz="1200"/>
            </a:br>
            <a:r>
              <a:rPr b="1" lang="en" sz="1200"/>
              <a:t>(1) Using single model across all timesteps</a:t>
            </a:r>
            <a:br>
              <a:rPr lang="en" sz="1200"/>
            </a:br>
            <a:r>
              <a:rPr b="1" lang="en" sz="1200"/>
              <a:t>(2) Schedule with best FID under budget C in the training set</a:t>
            </a:r>
            <a:br>
              <a:rPr lang="en" sz="1200"/>
            </a:br>
            <a:r>
              <a:rPr b="1" lang="en" sz="1200"/>
              <a:t>(3) Randomly generated schedule under budget C</a:t>
            </a:r>
            <a:br>
              <a:rPr b="1" lang="en" sz="1200"/>
            </a:b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Metrics:</a:t>
            </a:r>
            <a:br>
              <a:rPr b="1" lang="en" sz="1200"/>
            </a:br>
            <a:r>
              <a:rPr b="1" lang="en" sz="1200"/>
              <a:t>Fréchet Inception Distance (FID) </a:t>
            </a:r>
            <a:r>
              <a:rPr lang="en" sz="1200"/>
              <a:t>- It measures the distance between distribution of real and generated images</a:t>
            </a:r>
            <a:endParaRPr sz="1200"/>
          </a:p>
        </p:txBody>
      </p:sp>
      <p:sp>
        <p:nvSpPr>
          <p:cNvPr id="509" name="Google Shape;509;p65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6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16" name="Google Shape;516;p66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7" name="Google Shape;5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425" y="1009000"/>
            <a:ext cx="6511177" cy="3428099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7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24" name="Google Shape;524;p67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5" name="Google Shape;52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225" y="1099925"/>
            <a:ext cx="6556174" cy="3416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8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32" name="Google Shape;532;p68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475" y="942569"/>
            <a:ext cx="3784116" cy="336253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8"/>
          <p:cNvSpPr txBox="1"/>
          <p:nvPr/>
        </p:nvSpPr>
        <p:spPr>
          <a:xfrm>
            <a:off x="766475" y="1287375"/>
            <a:ext cx="3058500" cy="20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The DPMs with model schedules derived by OMS-DPM achieves a significantly better trade-off than existing DPMs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35" name="Google Shape;535;p68"/>
          <p:cNvSpPr txBox="1"/>
          <p:nvPr/>
        </p:nvSpPr>
        <p:spPr>
          <a:xfrm>
            <a:off x="5060175" y="4249025"/>
            <a:ext cx="282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Generation quality vs latency on CIFAR-10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536" name="Google Shape;536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9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Evaluations</a:t>
            </a:r>
            <a:endParaRPr/>
          </a:p>
        </p:txBody>
      </p:sp>
      <p:sp>
        <p:nvSpPr>
          <p:cNvPr id="542" name="Google Shape;542;p69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69"/>
          <p:cNvPicPr preferRelativeResize="0"/>
          <p:nvPr/>
        </p:nvPicPr>
        <p:blipFill rotWithShape="1">
          <a:blip r:embed="rId3">
            <a:alphaModFix/>
          </a:blip>
          <a:srcRect b="0" l="0" r="0" t="2477"/>
          <a:stretch/>
        </p:blipFill>
        <p:spPr>
          <a:xfrm>
            <a:off x="1142500" y="966950"/>
            <a:ext cx="7124350" cy="34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9"/>
          <p:cNvSpPr txBox="1"/>
          <p:nvPr/>
        </p:nvSpPr>
        <p:spPr>
          <a:xfrm>
            <a:off x="2238725" y="4330275"/>
            <a:ext cx="55074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FIDs scores for Unconditional Generation</a:t>
            </a:r>
            <a:r>
              <a:rPr lang="en" sz="1300">
                <a:solidFill>
                  <a:schemeClr val="dk1"/>
                </a:solidFill>
              </a:rPr>
              <a:t> with </a:t>
            </a:r>
            <a:r>
              <a:rPr b="1" lang="en" sz="1300">
                <a:solidFill>
                  <a:schemeClr val="dk1"/>
                </a:solidFill>
              </a:rPr>
              <a:t>DPM-Solver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545" name="Google Shape;545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0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Ablations</a:t>
            </a:r>
            <a:endParaRPr/>
          </a:p>
        </p:txBody>
      </p:sp>
      <p:sp>
        <p:nvSpPr>
          <p:cNvPr id="551" name="Google Shape;551;p70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0"/>
          <p:cNvSpPr txBox="1"/>
          <p:nvPr/>
        </p:nvSpPr>
        <p:spPr>
          <a:xfrm>
            <a:off x="1471400" y="3683875"/>
            <a:ext cx="66006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553" name="Google Shape;55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075" y="932350"/>
            <a:ext cx="4025475" cy="29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 txBox="1"/>
          <p:nvPr/>
        </p:nvSpPr>
        <p:spPr>
          <a:xfrm>
            <a:off x="683175" y="1114100"/>
            <a:ext cx="38889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Varying Model Zoo Size:</a:t>
            </a:r>
            <a:r>
              <a:rPr lang="en" sz="1300">
                <a:solidFill>
                  <a:schemeClr val="dk1"/>
                </a:solidFill>
              </a:rPr>
              <a:t> Using the largest model zoo with N = 6 achieves the best results</a:t>
            </a:r>
            <a:br>
              <a:rPr lang="en" sz="1300">
                <a:solidFill>
                  <a:schemeClr val="dk1"/>
                </a:solidFill>
              </a:rPr>
            </a:br>
            <a:br>
              <a:rPr lang="en" sz="1300">
                <a:solidFill>
                  <a:schemeClr val="dk1"/>
                </a:solidFill>
              </a:rPr>
            </a:b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</p:txBody>
      </p:sp>
      <p:sp>
        <p:nvSpPr>
          <p:cNvPr id="555" name="Google Shape;555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1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Ablations</a:t>
            </a:r>
            <a:endParaRPr/>
          </a:p>
        </p:txBody>
      </p:sp>
      <p:sp>
        <p:nvSpPr>
          <p:cNvPr id="561" name="Google Shape;561;p71"/>
          <p:cNvSpPr txBox="1"/>
          <p:nvPr>
            <p:ph idx="1" type="body"/>
          </p:nvPr>
        </p:nvSpPr>
        <p:spPr>
          <a:xfrm>
            <a:off x="489349" y="1346800"/>
            <a:ext cx="37674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Varying predictor Training Data Size: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More training data gives better results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Less training data config still exceeds baseline results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1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3" name="Google Shape;563;p71"/>
          <p:cNvPicPr preferRelativeResize="0"/>
          <p:nvPr/>
        </p:nvPicPr>
        <p:blipFill rotWithShape="1">
          <a:blip r:embed="rId3">
            <a:alphaModFix/>
          </a:blip>
          <a:srcRect b="9608" l="0" r="0" t="0"/>
          <a:stretch/>
        </p:blipFill>
        <p:spPr>
          <a:xfrm>
            <a:off x="4256750" y="910875"/>
            <a:ext cx="4214626" cy="3163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2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</a:t>
            </a:r>
            <a:endParaRPr/>
          </a:p>
        </p:txBody>
      </p:sp>
      <p:sp>
        <p:nvSpPr>
          <p:cNvPr id="570" name="Google Shape;570;p72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Strengths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Explores a rather overlooked dimension - </a:t>
            </a:r>
            <a:r>
              <a:rPr i="1" lang="en" sz="1300"/>
              <a:t>model schedule</a:t>
            </a:r>
            <a:r>
              <a:rPr lang="en" sz="1300"/>
              <a:t> for improving DPMs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Leverages different models to achieve lower FID score than a single model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No retraining of models required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Robust to datasets, samplers and time budgets. </a:t>
            </a:r>
            <a:endParaRPr sz="1300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Weaknesses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Requires multiple off-the-shelf models trained on the same dataset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Predictor training data-collection is time consuming and expensive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Provides empirical improvements in FID without theoretical guarantees</a:t>
            </a:r>
            <a:endParaRPr sz="1300"/>
          </a:p>
        </p:txBody>
      </p:sp>
      <p:sp>
        <p:nvSpPr>
          <p:cNvPr id="571" name="Google Shape;571;p72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3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578" name="Google Shape;578;p73"/>
          <p:cNvSpPr txBox="1"/>
          <p:nvPr>
            <p:ph idx="1" type="body"/>
          </p:nvPr>
        </p:nvSpPr>
        <p:spPr>
          <a:xfrm>
            <a:off x="489347" y="134121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Using</a:t>
            </a:r>
            <a:r>
              <a:rPr lang="en"/>
              <a:t> different generative models handle different aspects of creation</a:t>
            </a:r>
            <a:endParaRPr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"/>
              <a:t>Combining off-the-shelf models trained on different datasets in a multi-modal setup would be an interesting future direction</a:t>
            </a:r>
            <a:endParaRPr/>
          </a:p>
        </p:txBody>
      </p:sp>
      <p:sp>
        <p:nvSpPr>
          <p:cNvPr id="579" name="Google Shape;579;p73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4"/>
          <p:cNvSpPr txBox="1"/>
          <p:nvPr>
            <p:ph type="title"/>
          </p:nvPr>
        </p:nvSpPr>
        <p:spPr>
          <a:xfrm>
            <a:off x="628650" y="1097749"/>
            <a:ext cx="7886700" cy="20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" sz="4000"/>
              <a:t>Self-Reflection in LLM Agents: Effects on Problem-Solving Performance</a:t>
            </a:r>
            <a:endParaRPr sz="4000"/>
          </a:p>
        </p:txBody>
      </p:sp>
      <p:sp>
        <p:nvSpPr>
          <p:cNvPr id="587" name="Google Shape;587;p74"/>
          <p:cNvSpPr txBox="1"/>
          <p:nvPr>
            <p:ph idx="1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/>
              <a:t>By: Matthew Renze (John Hopkins University), Erhan Guven (John Hopkins University)</a:t>
            </a:r>
            <a:endParaRPr/>
          </a:p>
        </p:txBody>
      </p:sp>
      <p:sp>
        <p:nvSpPr>
          <p:cNvPr id="588" name="Google Shape;588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5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595" name="Google Shape;595;p75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LLMs still make errors despite chain-of-thought (CoT) prompting.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Inspired by human learning: reflection on mistakes leads to better future performance.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Aim: Can LLMs benefit from self-reflection to improve problem-solving?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Valuable for building more robust, autonomous LLM-based agents.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96" name="Google Shape;596;p75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97" name="Google Shape;597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6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Prior Works</a:t>
            </a:r>
            <a:endParaRPr/>
          </a:p>
        </p:txBody>
      </p:sp>
      <p:sp>
        <p:nvSpPr>
          <p:cNvPr id="604" name="Google Shape;604;p76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/>
              <a:t>Reflexion</a:t>
            </a:r>
            <a:r>
              <a:rPr lang="en"/>
              <a:t> (Shinn et al.): Verbal reinforcement improves LLM reasoning.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/>
              <a:t>Self-Refine</a:t>
            </a:r>
            <a:r>
              <a:rPr lang="en"/>
              <a:t> (Madaan et al.): Iterative self-feedback for answer correction.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/>
              <a:t>Metacognitive Prompting</a:t>
            </a:r>
            <a:r>
              <a:rPr lang="en"/>
              <a:t> (Wang &amp; Zhao): Improves LLM understanding.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/>
              <a:t>SelfCheck</a:t>
            </a:r>
            <a:r>
              <a:rPr lang="en"/>
              <a:t>, </a:t>
            </a:r>
            <a:r>
              <a:rPr b="1" lang="en"/>
              <a:t>ReAct</a:t>
            </a:r>
            <a:r>
              <a:rPr lang="en"/>
              <a:t>, and </a:t>
            </a:r>
            <a:r>
              <a:rPr b="1" lang="en"/>
              <a:t>Toolformer</a:t>
            </a:r>
            <a:r>
              <a:rPr lang="en"/>
              <a:t>: Related techniques leveraging LLM feedback and tools.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05" name="Google Shape;605;p76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06" name="Google Shape;606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7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3" name="Google Shape;613;p77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Research Question: Does self-reflection improve LLM accuracy on MCQA tasks?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Compared 9 LLMs across 8 self-reflection strategies + 1 baseline.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Domains covered: math, science, law, logic, English, medicine.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Designed a controlled, large-scale experiment for reproducibility and analysis.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14" name="Google Shape;614;p77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15" name="Google Shape;615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8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22" name="Google Shape;622;p78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LLMs can use CoT prompting to simulate reasoning.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Despite improvements, CoT often contains logical/mathematical errors.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Self-reflection simulates metacognition: analyzing one’s reasoning and revising based on it.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This study decomposes reflection into multiple strategies to evaluate effectiveness.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23" name="Google Shape;623;p78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24" name="Google Shape;624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9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Agents Compared</a:t>
            </a:r>
            <a:endParaRPr/>
          </a:p>
        </p:txBody>
      </p:sp>
      <p:sp>
        <p:nvSpPr>
          <p:cNvPr id="631" name="Google Shape;631;p79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Baseline</a:t>
            </a:r>
            <a:r>
              <a:rPr lang="en"/>
              <a:t> – No reflection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Retry</a:t>
            </a:r>
            <a:r>
              <a:rPr lang="en"/>
              <a:t> – Try again after failure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Keywords</a:t>
            </a:r>
            <a:r>
              <a:rPr lang="en"/>
              <a:t> – Labels for error types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Advice</a:t>
            </a:r>
            <a:r>
              <a:rPr lang="en"/>
              <a:t> – Generic guidance for future improvement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Explanation</a:t>
            </a:r>
            <a:r>
              <a:rPr lang="en"/>
              <a:t> – Why the original answer was wrong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Instructions</a:t>
            </a:r>
            <a:r>
              <a:rPr lang="en"/>
              <a:t> – Step-by-step guide to solving the problem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Solution</a:t>
            </a:r>
            <a:r>
              <a:rPr lang="en"/>
              <a:t> – Full correct solution using CoT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Composite</a:t>
            </a:r>
            <a:r>
              <a:rPr lang="en"/>
              <a:t> – All above types combined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/>
              <a:t>Unredacted</a:t>
            </a:r>
            <a:r>
              <a:rPr lang="en"/>
              <a:t> – Composite + correct answer (used as upper-bound)</a:t>
            </a:r>
            <a:endParaRPr sz="1900"/>
          </a:p>
        </p:txBody>
      </p:sp>
      <p:sp>
        <p:nvSpPr>
          <p:cNvPr id="632" name="Google Shape;632;p79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33" name="Google Shape;633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0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40" name="Google Shape;640;p80"/>
          <p:cNvSpPr txBox="1"/>
          <p:nvPr>
            <p:ph idx="1" type="body"/>
          </p:nvPr>
        </p:nvSpPr>
        <p:spPr>
          <a:xfrm>
            <a:off x="489350" y="1346800"/>
            <a:ext cx="42192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Each model first answers all questions (Baseline pass)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Incorrect answers are reflected upon using the correct answer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Each agent generates a specific reflection type, then re-answers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Redactions applied to prevent answer leakage (except Unredacted agent)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Accuracy evaluated before and after reflection using McNemar’s test</a:t>
            </a:r>
            <a:endParaRPr/>
          </a:p>
        </p:txBody>
      </p:sp>
      <p:sp>
        <p:nvSpPr>
          <p:cNvPr id="641" name="Google Shape;641;p80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42" name="Google Shape;642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3" name="Google Shape;64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875" y="780425"/>
            <a:ext cx="3492476" cy="38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1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50" name="Google Shape;650;p81"/>
          <p:cNvSpPr txBox="1"/>
          <p:nvPr>
            <p:ph idx="1" type="body"/>
          </p:nvPr>
        </p:nvSpPr>
        <p:spPr>
          <a:xfrm>
            <a:off x="489347" y="10266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</a:t>
            </a:r>
            <a:r>
              <a:rPr lang="en" sz="1300"/>
              <a:t>et of multiple-choice question-and-answer (MCQA) problems from benchmarks like ARC, AGIEval, HellaSwag, MedMCQA</a:t>
            </a:r>
            <a:endParaRPr sz="1300"/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Randomly selected 100 questions from each of the 10 datasets.</a:t>
            </a:r>
            <a:endParaRPr sz="1300"/>
          </a:p>
        </p:txBody>
      </p:sp>
      <p:sp>
        <p:nvSpPr>
          <p:cNvPr id="651" name="Google Shape;651;p81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52" name="Google Shape;652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3" name="Google Shape;653;p81"/>
          <p:cNvPicPr preferRelativeResize="0"/>
          <p:nvPr/>
        </p:nvPicPr>
        <p:blipFill rotWithShape="1">
          <a:blip r:embed="rId3">
            <a:alphaModFix/>
          </a:blip>
          <a:srcRect b="4725" l="0" r="0" t="18433"/>
          <a:stretch/>
        </p:blipFill>
        <p:spPr>
          <a:xfrm>
            <a:off x="1139000" y="2170450"/>
            <a:ext cx="6866002" cy="19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1"/>
          <p:cNvSpPr txBox="1"/>
          <p:nvPr/>
        </p:nvSpPr>
        <p:spPr>
          <a:xfrm>
            <a:off x="1859100" y="4116900"/>
            <a:ext cx="542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Table 1.Problem sets used to create the 1000 question multi-domain MCQA exam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2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Models Evaluated</a:t>
            </a:r>
            <a:endParaRPr/>
          </a:p>
        </p:txBody>
      </p:sp>
      <p:sp>
        <p:nvSpPr>
          <p:cNvPr id="661" name="Google Shape;661;p82"/>
          <p:cNvSpPr txBox="1"/>
          <p:nvPr>
            <p:ph idx="1" type="body"/>
          </p:nvPr>
        </p:nvSpPr>
        <p:spPr>
          <a:xfrm>
            <a:off x="377725" y="1290900"/>
            <a:ext cx="35247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Evaluation of Nine Popular LLMs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Models evaluated include GPT-4, Llama 2 70B, Gemini 1.5 Pro, etc.</a:t>
            </a:r>
            <a:endParaRPr sz="1300"/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Strengths and Weaknesses of LLMs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GPT-4, Gemini 1.5 Pro, and Claude Opus: Powerful with a large number of parameters</a:t>
            </a:r>
            <a:r>
              <a:rPr lang="en" sz="1300"/>
              <a:t>.</a:t>
            </a:r>
            <a:endParaRPr sz="1300"/>
          </a:p>
          <a:p>
            <a:pPr indent="-3111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Higher cost per token compared to smaller models.</a:t>
            </a:r>
            <a:endParaRPr sz="1300"/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Smaller Models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GPT-3.5 and Llama 2 7B: More cost-efficient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2" name="Google Shape;662;p82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63" name="Google Shape;663;p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4" name="Google Shape;66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600" y="1402125"/>
            <a:ext cx="4762701" cy="233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3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&amp; Analysis</a:t>
            </a:r>
            <a:endParaRPr/>
          </a:p>
        </p:txBody>
      </p:sp>
      <p:sp>
        <p:nvSpPr>
          <p:cNvPr id="670" name="Google Shape;670;p83"/>
          <p:cNvSpPr txBox="1"/>
          <p:nvPr>
            <p:ph idx="1" type="body"/>
          </p:nvPr>
        </p:nvSpPr>
        <p:spPr>
          <a:xfrm>
            <a:off x="574172" y="1169437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Primary Metric: Correct-Answer Accuracy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Accuracy = Correct Answers / Total Questions.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Self-reflecting agents only re-answer incorrectly answered questions by the Baseline agent.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Total score for self-reflecting agent = Baseline agent score + Correct re-answer score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Accuracy Calculations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671" name="Google Shape;671;p83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2" name="Google Shape;67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904" y="2894674"/>
            <a:ext cx="6712184" cy="8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4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&amp; Analysis</a:t>
            </a:r>
            <a:endParaRPr/>
          </a:p>
        </p:txBody>
      </p:sp>
      <p:sp>
        <p:nvSpPr>
          <p:cNvPr id="679" name="Google Shape;679;p84"/>
          <p:cNvSpPr txBox="1"/>
          <p:nvPr>
            <p:ph idx="1" type="body"/>
          </p:nvPr>
        </p:nvSpPr>
        <p:spPr>
          <a:xfrm>
            <a:off x="574172" y="1169437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Statistical Analysis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400">
                <a:solidFill>
                  <a:schemeClr val="dk1"/>
                </a:solidFill>
              </a:rPr>
              <a:t>McNemar Test</a:t>
            </a:r>
            <a:r>
              <a:rPr lang="en" sz="1400">
                <a:solidFill>
                  <a:schemeClr val="dk1"/>
                </a:solidFill>
              </a:rPr>
              <a:t> used to compare Baseline and self-reflecting agent scores.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Test compares binary outcomes (correct/incorrect answers) using a 2x2 contingency table.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Cell a: both agents incorrect; d: both correct. Cell b: incorrect/correct pairs; c: correct/incorrect pairs.</a:t>
            </a:r>
            <a:endParaRPr sz="1400"/>
          </a:p>
        </p:txBody>
      </p:sp>
      <p:sp>
        <p:nvSpPr>
          <p:cNvPr id="680" name="Google Shape;680;p84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1" name="Google Shape;681;p84"/>
          <p:cNvPicPr preferRelativeResize="0"/>
          <p:nvPr/>
        </p:nvPicPr>
        <p:blipFill rotWithShape="1">
          <a:blip r:embed="rId3">
            <a:alphaModFix/>
          </a:blip>
          <a:srcRect b="0" l="0" r="0" t="6428"/>
          <a:stretch/>
        </p:blipFill>
        <p:spPr>
          <a:xfrm>
            <a:off x="739025" y="2917125"/>
            <a:ext cx="7665949" cy="1146684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8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5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Results: By Agent</a:t>
            </a:r>
            <a:endParaRPr/>
          </a:p>
        </p:txBody>
      </p:sp>
      <p:sp>
        <p:nvSpPr>
          <p:cNvPr id="689" name="Google Shape;689;p85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90" name="Google Shape;690;p8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1" name="Google Shape;69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530" y="1016625"/>
            <a:ext cx="6513146" cy="342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6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Results: By Model</a:t>
            </a:r>
            <a:endParaRPr/>
          </a:p>
        </p:txBody>
      </p:sp>
      <p:sp>
        <p:nvSpPr>
          <p:cNvPr id="698" name="Google Shape;698;p86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99" name="Google Shape;699;p8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0" name="Google Shape;70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150" y="1191425"/>
            <a:ext cx="6323325" cy="340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7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Results</a:t>
            </a:r>
            <a:r>
              <a:rPr lang="en"/>
              <a:t>: By Exam Domain</a:t>
            </a:r>
            <a:endParaRPr/>
          </a:p>
        </p:txBody>
      </p:sp>
      <p:sp>
        <p:nvSpPr>
          <p:cNvPr id="707" name="Google Shape;707;p87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708" name="Google Shape;708;p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9" name="Google Shape;70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437" y="1099925"/>
            <a:ext cx="5945577" cy="340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8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716" name="Google Shape;716;p88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All types of self-reflection improve LLM performance.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Self-reflection types with more information (e.g., Instructions, Explanation, Solution) outperform those with less (e.g., Retry, Keywords, Advice).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Retry agents showed significant improvements across all LLMs.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Self-reflection effectively eliminates direct answer leakage, while guiding towards correct answers indirectly.</a:t>
            </a:r>
            <a:endParaRPr/>
          </a:p>
        </p:txBody>
      </p:sp>
      <p:sp>
        <p:nvSpPr>
          <p:cNvPr id="717" name="Google Shape;717;p88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718" name="Google Shape;718;p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9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725" name="Google Shape;725;p89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Practical implications:</a:t>
            </a:r>
            <a:r>
              <a:rPr lang="en"/>
              <a:t> Self-reflecting agents can avoid repeating mistakes and reduce unproductive loops.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Theoretical implications:</a:t>
            </a:r>
            <a:r>
              <a:rPr lang="en"/>
              <a:t> Supports metacognition in LLMs to improve performance based on error feedback.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89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727" name="Google Shape;727;p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0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734" name="Google Shape;734;p90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Study limited to single-step</a:t>
            </a:r>
            <a:r>
              <a:rPr lang="en" sz="1400"/>
              <a:t> tasks; self-reflection harms multi-step reasoning (e.g., -4% accuracy in HotpotQA) due to cognitive overload.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Near-perfect accuracy (~100%) in high-performing models obscures measurable performance improvements.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Larger models (GPT-4o) show 36% higher reflection gains vs. smaller ones (Llama-3 8B).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Iterative reflection increases compute costs by 2–5×, hindering resource-efficient deployment.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LSAT-AR’s outlier performance gains (largest improvement) skewed aggregate results.</a:t>
            </a:r>
            <a:endParaRPr sz="1400"/>
          </a:p>
        </p:txBody>
      </p:sp>
      <p:sp>
        <p:nvSpPr>
          <p:cNvPr id="735" name="Google Shape;735;p90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736" name="Google Shape;736;p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1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743" name="Google Shape;743;p91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Test with more complex problems, especially those harder than the LSAT-AR exam.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Implement multi-step problems and provide feedback after each step for error correction.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Explore self-reflection with external tools (e.g., errors from Python compilers, search engines).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Investigate agents with external memory to store and retrieve past reflections. (RAG can be used in real world scenario)</a:t>
            </a:r>
            <a:br>
              <a:rPr lang="en"/>
            </a:b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Conduct surveys on self-reflection across diverse LLMs, agent types, and domains.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91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745" name="Google Shape;745;p9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2"/>
          <p:cNvSpPr txBox="1"/>
          <p:nvPr>
            <p:ph type="title"/>
          </p:nvPr>
        </p:nvSpPr>
        <p:spPr>
          <a:xfrm>
            <a:off x="138450" y="1231700"/>
            <a:ext cx="8867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/>
              <a:t>Vulcan</a:t>
            </a:r>
            <a:r>
              <a:rPr lang="en" sz="4000"/>
              <a:t>: Automatic Query planning for Live ML Analytics</a:t>
            </a:r>
            <a:endParaRPr sz="4000"/>
          </a:p>
        </p:txBody>
      </p:sp>
      <p:sp>
        <p:nvSpPr>
          <p:cNvPr id="752" name="Google Shape;752;p92"/>
          <p:cNvSpPr txBox="1"/>
          <p:nvPr>
            <p:ph idx="1" type="body"/>
          </p:nvPr>
        </p:nvSpPr>
        <p:spPr>
          <a:xfrm>
            <a:off x="67575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3636"/>
              <a:buNone/>
            </a:pPr>
            <a:r>
              <a:rPr lang="en"/>
              <a:t>Authors</a:t>
            </a:r>
            <a:r>
              <a:rPr lang="en"/>
              <a:t>: </a:t>
            </a:r>
            <a:r>
              <a:rPr lang="en"/>
              <a:t>Yiwen Zhang, Xumiao Zhang, Ganesh Ananthanarayanan, Anand Iyer, Yuanchao Shu, Victor Bahl, Z. Morley Mao, Mosharaf Chowdhury (NSDI 2024)</a:t>
            </a:r>
            <a:endParaRPr sz="5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53" name="Google Shape;753;p9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3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60" name="Google Shape;760;p93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61" name="Google Shape;761;p93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762" name="Google Shape;762;p9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3" name="Google Shape;763;p93"/>
          <p:cNvPicPr preferRelativeResize="0"/>
          <p:nvPr/>
        </p:nvPicPr>
        <p:blipFill rotWithShape="1">
          <a:blip r:embed="rId3">
            <a:alphaModFix/>
          </a:blip>
          <a:srcRect b="8842" l="0" r="0" t="0"/>
          <a:stretch/>
        </p:blipFill>
        <p:spPr>
          <a:xfrm>
            <a:off x="178175" y="1398975"/>
            <a:ext cx="8399848" cy="24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93"/>
          <p:cNvSpPr txBox="1"/>
          <p:nvPr/>
        </p:nvSpPr>
        <p:spPr>
          <a:xfrm>
            <a:off x="1205500" y="1125075"/>
            <a:ext cx="69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Sample Live ML Query :  Detect surrounding objects in </a:t>
            </a:r>
            <a:r>
              <a:rPr lang="en" sz="1200">
                <a:solidFill>
                  <a:schemeClr val="dk1"/>
                </a:solidFill>
              </a:rPr>
              <a:t>edge assisted</a:t>
            </a:r>
            <a:r>
              <a:rPr lang="en" sz="1200">
                <a:solidFill>
                  <a:schemeClr val="dk1"/>
                </a:solidFill>
              </a:rPr>
              <a:t> autonomous driving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65" name="Google Shape;765;p93"/>
          <p:cNvSpPr/>
          <p:nvPr/>
        </p:nvSpPr>
        <p:spPr>
          <a:xfrm>
            <a:off x="103750" y="3289075"/>
            <a:ext cx="1704300" cy="468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93"/>
          <p:cNvSpPr txBox="1"/>
          <p:nvPr/>
        </p:nvSpPr>
        <p:spPr>
          <a:xfrm>
            <a:off x="2448225" y="3809300"/>
            <a:ext cx="510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Fig. The existing workflow of query planning for a live ML query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4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72" name="Google Shape;772;p94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/>
              <a:t>Key Challenges faced with current SOTA Live ML Analytics systems are: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Huge search space to find the optimal knob configurations 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Constructing pipelines based on performance requirements is challenging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 joint optimization framework for pipeline placement and query configurations</a:t>
            </a:r>
            <a:br>
              <a:rPr lang="en" sz="1300"/>
            </a:br>
            <a:endParaRPr sz="1300"/>
          </a:p>
        </p:txBody>
      </p:sp>
      <p:sp>
        <p:nvSpPr>
          <p:cNvPr id="773" name="Google Shape;773;p94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5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Vulcan : Key Contributions</a:t>
            </a:r>
            <a:endParaRPr/>
          </a:p>
        </p:txBody>
      </p:sp>
      <p:sp>
        <p:nvSpPr>
          <p:cNvPr id="780" name="Google Shape;780;p95"/>
          <p:cNvSpPr txBox="1"/>
          <p:nvPr>
            <p:ph idx="1" type="body"/>
          </p:nvPr>
        </p:nvSpPr>
        <p:spPr>
          <a:xfrm>
            <a:off x="489350" y="1346800"/>
            <a:ext cx="40827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250"/>
              <a:t>Vulcan is the first end-to-end system for automatic query planning in live ML analytics which supports:</a:t>
            </a:r>
            <a:endParaRPr sz="1250"/>
          </a:p>
          <a:p>
            <a:pPr indent="-307975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Utility-based pipeline construction (accuracy/latency aware)</a:t>
            </a:r>
            <a:endParaRPr sz="1250"/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Efficient pipeline placement on ege infrastructure tiers</a:t>
            </a:r>
            <a:endParaRPr sz="1250"/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Query configuration using Bayesian Optimization (BO)</a:t>
            </a:r>
            <a:endParaRPr sz="1250"/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Fast online adaptation to changing runtime dynamics </a:t>
            </a:r>
            <a:endParaRPr sz="125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250"/>
          </a:p>
        </p:txBody>
      </p:sp>
      <p:sp>
        <p:nvSpPr>
          <p:cNvPr id="781" name="Google Shape;781;p95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95"/>
          <p:cNvPicPr preferRelativeResize="0"/>
          <p:nvPr/>
        </p:nvPicPr>
        <p:blipFill rotWithShape="1">
          <a:blip r:embed="rId3">
            <a:alphaModFix/>
          </a:blip>
          <a:srcRect b="6235" l="0" r="0" t="0"/>
          <a:stretch/>
        </p:blipFill>
        <p:spPr>
          <a:xfrm>
            <a:off x="4572050" y="1043975"/>
            <a:ext cx="3940576" cy="31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95"/>
          <p:cNvSpPr txBox="1"/>
          <p:nvPr/>
        </p:nvSpPr>
        <p:spPr>
          <a:xfrm>
            <a:off x="5589813" y="4163200"/>
            <a:ext cx="27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Fig. High-level workflow of Vulcan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84" name="Google Shape;784;p9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96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Utility-aware Pipeline Construction</a:t>
            </a:r>
            <a:endParaRPr/>
          </a:p>
        </p:txBody>
      </p:sp>
      <p:sp>
        <p:nvSpPr>
          <p:cNvPr id="790" name="Google Shape;790;p96"/>
          <p:cNvSpPr txBox="1"/>
          <p:nvPr>
            <p:ph idx="1" type="body"/>
          </p:nvPr>
        </p:nvSpPr>
        <p:spPr>
          <a:xfrm>
            <a:off x="489349" y="1346800"/>
            <a:ext cx="42360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287"/>
              <a:t>Challenge:</a:t>
            </a:r>
            <a:endParaRPr sz="1287"/>
          </a:p>
          <a:p>
            <a:pPr indent="-2868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18"/>
              <a:buChar char="●"/>
            </a:pPr>
            <a:r>
              <a:rPr lang="en" sz="1287"/>
              <a:t>Choosing the best filter order affects both accuracy and latency.</a:t>
            </a:r>
            <a:endParaRPr sz="12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287"/>
              <a:t>Vulcan’s Solution:</a:t>
            </a:r>
            <a:endParaRPr sz="1287"/>
          </a:p>
          <a:p>
            <a:pPr indent="-2868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18"/>
              <a:buChar char="●"/>
            </a:pPr>
            <a:r>
              <a:rPr lang="en" sz="1287"/>
              <a:t>Models filters as information retrieval operators (precision &amp; recall).</a:t>
            </a:r>
            <a:br>
              <a:rPr lang="en" sz="1287"/>
            </a:br>
            <a:endParaRPr sz="1287"/>
          </a:p>
          <a:p>
            <a:pPr indent="-2868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8"/>
              <a:buChar char="●"/>
            </a:pPr>
            <a:r>
              <a:rPr lang="en" sz="1287"/>
              <a:t>Defines F</a:t>
            </a:r>
            <a:r>
              <a:rPr baseline="-25000" lang="en" sz="1287"/>
              <a:t>γ</a:t>
            </a:r>
            <a:r>
              <a:rPr lang="en" sz="1287"/>
              <a:t> metric as</a:t>
            </a:r>
            <a:br>
              <a:rPr lang="en" sz="1287"/>
            </a:br>
            <a:br>
              <a:rPr lang="en" sz="1287"/>
            </a:br>
            <a:endParaRPr sz="1287"/>
          </a:p>
          <a:p>
            <a:pPr indent="-2868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8"/>
              <a:buChar char="●"/>
            </a:pPr>
            <a:r>
              <a:rPr lang="en" sz="1287"/>
              <a:t>Evaluates only a few key configurations to identify best filter sequence.</a:t>
            </a:r>
            <a:endParaRPr sz="1287"/>
          </a:p>
        </p:txBody>
      </p:sp>
      <p:sp>
        <p:nvSpPr>
          <p:cNvPr id="791" name="Google Shape;791;p96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96"/>
          <p:cNvPicPr preferRelativeResize="0"/>
          <p:nvPr/>
        </p:nvPicPr>
        <p:blipFill rotWithShape="1">
          <a:blip r:embed="rId3">
            <a:alphaModFix/>
          </a:blip>
          <a:srcRect b="28197" l="0" r="0" t="0"/>
          <a:stretch/>
        </p:blipFill>
        <p:spPr>
          <a:xfrm>
            <a:off x="5156875" y="2189500"/>
            <a:ext cx="3481099" cy="5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9151" y="3132650"/>
            <a:ext cx="2231425" cy="4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96"/>
          <p:cNvSpPr txBox="1"/>
          <p:nvPr/>
        </p:nvSpPr>
        <p:spPr>
          <a:xfrm>
            <a:off x="5350375" y="2755000"/>
            <a:ext cx="3571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Fig. Template used by Vulcan to construct the initial pipeline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95" name="Google Shape;795;p9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7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Pipeline Placement</a:t>
            </a:r>
            <a:endParaRPr/>
          </a:p>
        </p:txBody>
      </p:sp>
      <p:sp>
        <p:nvSpPr>
          <p:cNvPr id="801" name="Google Shape;801;p97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/>
              <a:t>Problem:</a:t>
            </a: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Operator placement affects network latency, GPU cost.</a:t>
            </a:r>
            <a:br>
              <a:rPr lang="en"/>
            </a:b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Full profiling for all configurations × placements is expensive.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/>
              <a:t>Vulcan’s Innovations:</a:t>
            </a: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Observes: accuracy ≠ placement-dependent.</a:t>
            </a:r>
            <a:br>
              <a:rPr lang="en"/>
            </a:b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Reuses results from a single offline run to estimate cost for all placements.</a:t>
            </a:r>
            <a:br>
              <a:rPr lang="en"/>
            </a:b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Reduces search complexity from O(M×N) → O(N) (where M: pipeline choices, N: query config choices)</a:t>
            </a:r>
            <a:br>
              <a:rPr lang="en"/>
            </a:b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Achieves up to 174× network savings and better latency.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97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9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98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Config Selection via BO</a:t>
            </a:r>
            <a:endParaRPr/>
          </a:p>
        </p:txBody>
      </p:sp>
      <p:sp>
        <p:nvSpPr>
          <p:cNvPr id="809" name="Google Shape;809;p98"/>
          <p:cNvSpPr txBox="1"/>
          <p:nvPr>
            <p:ph idx="1" type="body"/>
          </p:nvPr>
        </p:nvSpPr>
        <p:spPr>
          <a:xfrm>
            <a:off x="489347" y="134681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/>
              <a:t>Challenges:</a:t>
            </a: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Many configuration knobs (e.g., model type, compression level).</a:t>
            </a:r>
            <a:br>
              <a:rPr lang="en"/>
            </a:b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Exhaustive or greedy tuning is slow or gets stuck.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/>
              <a:t>Vulcan’s Approach:</a:t>
            </a: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7073"/>
              <a:buChar char="●"/>
            </a:pPr>
            <a:r>
              <a:rPr lang="en"/>
              <a:t>Uses </a:t>
            </a:r>
            <a:r>
              <a:rPr b="1" lang="en"/>
              <a:t>B</a:t>
            </a:r>
            <a:r>
              <a:rPr lang="en"/>
              <a:t>ayesian </a:t>
            </a:r>
            <a:r>
              <a:rPr b="1" lang="en"/>
              <a:t>O</a:t>
            </a:r>
            <a:r>
              <a:rPr lang="en"/>
              <a:t>ptimization (BO) with </a:t>
            </a:r>
            <a:r>
              <a:rPr lang="en" sz="1640"/>
              <a:t>Gaussian prior + UCB acquisition.</a:t>
            </a:r>
            <a:br>
              <a:rPr lang="en" sz="1640"/>
            </a:br>
            <a:endParaRPr sz="164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Jointly tunes configurations with placement to find global optimum.</a:t>
            </a:r>
            <a:br>
              <a:rPr lang="en"/>
            </a:b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Achieves 3.5× faster tuning than greedy hill climbing.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98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9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Adaptation</a:t>
            </a:r>
            <a:endParaRPr/>
          </a:p>
        </p:txBody>
      </p:sp>
      <p:sp>
        <p:nvSpPr>
          <p:cNvPr id="817" name="Google Shape;817;p99"/>
          <p:cNvSpPr txBox="1"/>
          <p:nvPr>
            <p:ph idx="1" type="body"/>
          </p:nvPr>
        </p:nvSpPr>
        <p:spPr>
          <a:xfrm>
            <a:off x="489349" y="1346800"/>
            <a:ext cx="43104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/>
              <a:t>Challenge</a:t>
            </a:r>
            <a:r>
              <a:rPr lang="en"/>
              <a:t>:</a:t>
            </a:r>
            <a:endParaRPr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Changing network bandwidth, compute loads, or data patterns.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/>
              <a:t>Vulcan’s Solution:</a:t>
            </a:r>
            <a:endParaRPr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Monitors “utility” (accuracy + latency / resource use).</a:t>
            </a:r>
            <a:br>
              <a:rPr lang="en"/>
            </a:br>
            <a:endParaRPr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Detects &gt;10% utility drop → triggers quick reprofiling.</a:t>
            </a:r>
            <a:br>
              <a:rPr lang="en"/>
            </a:br>
            <a:endParaRPr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Leverages prior configs (best/worst K) to warm-start BO.</a:t>
            </a:r>
            <a:br>
              <a:rPr lang="en"/>
            </a:br>
            <a:endParaRPr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Dynamically updates container configs via API (no downtime).</a:t>
            </a:r>
            <a:br>
              <a:rPr lang="en"/>
            </a:br>
            <a:endParaRPr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Char char="●"/>
            </a:pPr>
            <a:r>
              <a:rPr lang="en"/>
              <a:t>Adjusts placement as well (e.g., move detector to edge if MEC chokes).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99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99"/>
          <p:cNvPicPr preferRelativeResize="0"/>
          <p:nvPr/>
        </p:nvPicPr>
        <p:blipFill rotWithShape="1">
          <a:blip r:embed="rId3">
            <a:alphaModFix/>
          </a:blip>
          <a:srcRect b="20451" l="0" r="0" t="0"/>
          <a:stretch/>
        </p:blipFill>
        <p:spPr>
          <a:xfrm>
            <a:off x="4755075" y="1562700"/>
            <a:ext cx="3810001" cy="13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99"/>
          <p:cNvSpPr txBox="1"/>
          <p:nvPr/>
        </p:nvSpPr>
        <p:spPr>
          <a:xfrm>
            <a:off x="4851775" y="2961675"/>
            <a:ext cx="3810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Fig. Scenes taken during different time of the day from a video query detecting red vehicles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21" name="Google Shape;821;p9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0"/>
          <p:cNvSpPr txBox="1"/>
          <p:nvPr>
            <p:ph type="title"/>
          </p:nvPr>
        </p:nvSpPr>
        <p:spPr>
          <a:xfrm>
            <a:off x="489347" y="207431"/>
            <a:ext cx="7777500" cy="89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</a:t>
            </a:r>
            <a:endParaRPr/>
          </a:p>
        </p:txBody>
      </p:sp>
      <p:sp>
        <p:nvSpPr>
          <p:cNvPr id="827" name="Google Shape;827;p100"/>
          <p:cNvSpPr txBox="1"/>
          <p:nvPr>
            <p:ph idx="1" type="body"/>
          </p:nvPr>
        </p:nvSpPr>
        <p:spPr>
          <a:xfrm>
            <a:off x="489347" y="1190562"/>
            <a:ext cx="7777500" cy="309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Strengths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Jointly optimizes filter ordering, placement, and configuration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Fast, intelligent profiling via BO and reuse of intermediate results.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Online adaptation handles real-world dynamics.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Weaknesses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Assumes ML modules are pre-specified by user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No current support for concurrent ML queries (multi-tenancy)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Future Work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Multi-query scheduling and resource sharing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Broader utility models (e.g., fairness, energy)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Support to select best ML model for </a:t>
            </a:r>
            <a:r>
              <a:rPr lang="en" sz="1200"/>
              <a:t>the</a:t>
            </a:r>
            <a:r>
              <a:rPr lang="en" sz="1200"/>
              <a:t> given query and constraints</a:t>
            </a:r>
            <a:endParaRPr sz="1200"/>
          </a:p>
        </p:txBody>
      </p:sp>
      <p:sp>
        <p:nvSpPr>
          <p:cNvPr id="828" name="Google Shape;828;p100"/>
          <p:cNvSpPr txBox="1"/>
          <p:nvPr>
            <p:ph idx="2" type="body"/>
          </p:nvPr>
        </p:nvSpPr>
        <p:spPr>
          <a:xfrm>
            <a:off x="342900" y="4767263"/>
            <a:ext cx="61152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1"/>
          <p:cNvSpPr txBox="1"/>
          <p:nvPr>
            <p:ph type="title"/>
          </p:nvPr>
        </p:nvSpPr>
        <p:spPr>
          <a:xfrm>
            <a:off x="1208024" y="617898"/>
            <a:ext cx="6735915" cy="830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"/>
              <a:t>Thank You </a:t>
            </a:r>
            <a:endParaRPr/>
          </a:p>
        </p:txBody>
      </p:sp>
      <p:sp>
        <p:nvSpPr>
          <p:cNvPr id="836" name="Google Shape;836;p101"/>
          <p:cNvSpPr txBox="1"/>
          <p:nvPr>
            <p:ph idx="1" type="body"/>
          </p:nvPr>
        </p:nvSpPr>
        <p:spPr>
          <a:xfrm>
            <a:off x="1208023" y="1746196"/>
            <a:ext cx="6735914" cy="165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837" name="Google Shape;837;p10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