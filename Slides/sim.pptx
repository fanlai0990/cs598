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42"/>
  </p:notesMasterIdLst>
  <p:sldIdLst>
    <p:sldId id="282" r:id="rId2"/>
    <p:sldId id="283" r:id="rId3"/>
    <p:sldId id="284" r:id="rId4"/>
    <p:sldId id="285" r:id="rId5"/>
    <p:sldId id="290" r:id="rId6"/>
    <p:sldId id="291" r:id="rId7"/>
    <p:sldId id="286" r:id="rId8"/>
    <p:sldId id="287" r:id="rId9"/>
    <p:sldId id="288" r:id="rId10"/>
    <p:sldId id="292" r:id="rId11"/>
    <p:sldId id="293" r:id="rId12"/>
    <p:sldId id="289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13" r:id="rId28"/>
    <p:sldId id="308" r:id="rId29"/>
    <p:sldId id="309" r:id="rId30"/>
    <p:sldId id="310" r:id="rId31"/>
    <p:sldId id="311" r:id="rId32"/>
    <p:sldId id="312" r:id="rId33"/>
    <p:sldId id="314" r:id="rId34"/>
    <p:sldId id="316" r:id="rId35"/>
    <p:sldId id="315" r:id="rId36"/>
    <p:sldId id="317" r:id="rId37"/>
    <p:sldId id="318" r:id="rId38"/>
    <p:sldId id="319" r:id="rId39"/>
    <p:sldId id="320" r:id="rId40"/>
    <p:sldId id="270" r:id="rId41"/>
  </p:sldIdLst>
  <p:sldSz cx="9144000" cy="5143500" type="screen16x9"/>
  <p:notesSz cx="6858000" cy="9144000"/>
  <p:embeddedFontLs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Raleway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B41839-0318-4B2B-B149-48735998DB54}">
  <a:tblStyle styleId="{76B41839-0318-4B2B-B149-48735998DB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3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85EE-5A67-7AA6-3248-6CA5FC1A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4EAC59-89F9-D768-7E9F-C5A92111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FD5433-19C8-697A-0F3C-3681834DF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373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E2F8-E2DE-1A5D-58F3-B85BCE73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7DA326-B50A-7CC1-625F-016370B65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7DD655-BC2B-FD77-5D79-FD59FFC8C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0469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94daee6b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f94daee6b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_alt1">
  <p:cSld name="SECTION_HEADER_2">
    <p:bg>
      <p:bgPr>
        <a:solidFill>
          <a:srgbClr val="43434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4" name="Google Shape;8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" name="Google Shape;88;p13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" name="Google Shape;89;p13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3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3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_alt2">
  <p:cSld name="TITLE_AND_BODY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shutterstock_31891705.jpg"/>
          <p:cNvPicPr preferRelativeResize="0"/>
          <p:nvPr/>
        </p:nvPicPr>
        <p:blipFill rotWithShape="1">
          <a:blip r:embed="rId2">
            <a:alphaModFix/>
          </a:blip>
          <a:srcRect t="11971" b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" name="Google Shape;96;p14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" name="Google Shape;97;p14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4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4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5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" name="Google Shape;105;p15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5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5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3FD81-82E9-9BC1-6686-39B4F8110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+mj-lt"/>
              </a:rPr>
              <a:t>Training Simulation: </a:t>
            </a:r>
            <a:br>
              <a:rPr lang="en-US" altLang="zh-CN" sz="4000" dirty="0">
                <a:latin typeface="+mj-lt"/>
              </a:rPr>
            </a:br>
            <a:r>
              <a:rPr lang="en-US" altLang="zh-CN" sz="4000" dirty="0" err="1">
                <a:latin typeface="+mj-lt"/>
              </a:rPr>
              <a:t>SimAI</a:t>
            </a:r>
            <a:r>
              <a:rPr lang="en-US" altLang="zh-CN" sz="4000" dirty="0">
                <a:latin typeface="+mj-lt"/>
              </a:rPr>
              <a:t> and </a:t>
            </a:r>
            <a:r>
              <a:rPr lang="en-US" altLang="zh-CN" sz="4000" dirty="0" err="1">
                <a:latin typeface="+mj-lt"/>
              </a:rPr>
              <a:t>Vidur</a:t>
            </a:r>
            <a:endParaRPr lang="zh-CN" altLang="en-US" sz="4000" dirty="0">
              <a:latin typeface="+mj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1D6B7A-82BA-6B22-8775-F3E0DFBDD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450" y="3194165"/>
            <a:ext cx="7688100" cy="945444"/>
          </a:xfrm>
        </p:spPr>
        <p:txBody>
          <a:bodyPr>
            <a:normAutofit/>
          </a:bodyPr>
          <a:lstStyle/>
          <a:p>
            <a:r>
              <a:rPr lang="en-US" altLang="zh-CN" sz="1800" dirty="0" err="1"/>
              <a:t>Haoyu</a:t>
            </a:r>
            <a:r>
              <a:rPr lang="en-US" altLang="zh-CN" sz="1800" dirty="0"/>
              <a:t> Chen</a:t>
            </a:r>
          </a:p>
          <a:p>
            <a:r>
              <a:rPr lang="en-US" altLang="zh-CN" sz="1800" dirty="0"/>
              <a:t>haoyuc7@illinois.edu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2204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23B70-F1E4-F503-6D4C-A02D17E47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err="1">
                <a:latin typeface="+mj-lt"/>
              </a:rPr>
              <a:t>SimAI</a:t>
            </a:r>
            <a:r>
              <a:rPr lang="en-US" altLang="zh-CN" sz="2800" dirty="0">
                <a:latin typeface="+mj-lt"/>
              </a:rPr>
              <a:t>: Unifying Architecture Design and Performance Tunning for Large-Scale Large Language Model Training with Scalability and Precision</a:t>
            </a:r>
            <a:endParaRPr lang="zh-CN" altLang="en-US" sz="2800" dirty="0">
              <a:latin typeface="+mj-lt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34AB872-E51B-ABE9-B725-DD938CB5FF38}"/>
              </a:ext>
            </a:extLst>
          </p:cNvPr>
          <p:cNvSpPr txBox="1">
            <a:spLocks/>
          </p:cNvSpPr>
          <p:nvPr/>
        </p:nvSpPr>
        <p:spPr>
          <a:xfrm>
            <a:off x="729450" y="3310738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altLang="zh-CN" sz="1800" dirty="0">
                <a:latin typeface="+mj-lt"/>
              </a:rPr>
              <a:t>Wang et al., 2025</a:t>
            </a:r>
            <a:endParaRPr lang="zh-CN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393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8FB55-1620-158B-0310-A57C85EA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Why we need simulators for LLM training?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4693B-ADE0-B15E-0C53-B3CA6DADB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Training LLM needs massive amount of GPU resources, hinder the validation of new designs and optimizations.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Simulators are important both before and after model investments</a:t>
            </a:r>
          </a:p>
          <a:p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Before: estimate the scale</a:t>
            </a:r>
          </a:p>
          <a:p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After: performance tuning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669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6557-E64C-983E-EA58-C85F25D6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D9202-7DEE-65FA-FCB5-86EC904E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Existing Solutions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DFB90A-5F35-8A40-266F-B327D944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4"/>
            <a:ext cx="7688700" cy="226629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Use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separate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simulators for capacity planning and optimizing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Capacity planning simulations is commonly performed at job level, don’t consider packet-level behaviors</a:t>
            </a:r>
          </a:p>
          <a:p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Separate simulators for computation simulation, network simulation… Gem5-GPU: a CPU-GPU simulator (Power et al., 2015)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30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CAB7-4585-73E1-7FE0-560CFE1D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C88B-C038-A43B-B2EF-9EF03594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Existing Solutions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C78336-2236-2E84-F4DE-C1205E241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Problems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of using separate simulators: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Inaccurate cost-performance predictions</a:t>
            </a:r>
          </a:p>
          <a:p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Poor performance in simulating large-scale training</a:t>
            </a:r>
          </a:p>
          <a:p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Complicated development and testing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03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342B-9DB1-CE1F-3AB5-5000D160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D0CF5-7AEC-AFD4-71C4-C403A4A6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Existing Solutions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5CECC4-8F0B-82FC-D173-653661B63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ASTRA-sim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: only 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comprehensive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DNN training simulator to simulate to simulate software hardware co-design stack in distributed training systems (Won et al., 2023)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is inspired by ASTRA-sim, but with significant improvements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97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0A51-1CB0-1A35-FEB9-C2E90760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0185D-2D27-8056-35A9-81A3E777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solidFill>
                  <a:schemeClr val="bg2"/>
                </a:solidFill>
                <a:latin typeface="+mj-lt"/>
              </a:rPr>
              <a:t>SimAI</a:t>
            </a: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 Overview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6AEA1-DF2F-AB48-7188-557D5F92E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3915824"/>
            <a:ext cx="7688700" cy="962037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 is a </a:t>
            </a:r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unified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 simulator that handles capacity planning and performance tuning in a single framework.</a:t>
            </a:r>
            <a:endParaRPr lang="en-US" altLang="zh-CN" sz="1800" dirty="0">
              <a:latin typeface="+mn-lt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D3E596-277E-AA3C-589A-038DD8C9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61" y="1853850"/>
            <a:ext cx="8484781" cy="206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6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C069-1346-6F38-6C1C-75E7493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65ADF-89A8-057B-C5DA-D32515C7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Workload </a:t>
            </a:r>
            <a:br>
              <a:rPr lang="en-US" altLang="zh-CN" sz="2400" dirty="0">
                <a:solidFill>
                  <a:schemeClr val="bg2"/>
                </a:solidFill>
                <a:latin typeface="+mj-lt"/>
              </a:rPr>
            </a:b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Generator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7C342-16EC-E23D-5096-FB11070FF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3560859"/>
            <a:ext cx="7688700" cy="124505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Input: description of parameters, cluster topology</a:t>
            </a: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Output: workload description file, contains algorithm modules, communication operators, used by execution engine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72B634-F5CD-C793-3921-5F9944457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49" y="638247"/>
            <a:ext cx="5387164" cy="29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5E0D-46B3-7A14-B834-06E056E0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7E665-F0C2-44F1-B9C2-56DF8231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Workload Generator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640B2F-7782-0D42-081F-F558EB0EB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Traditional trace-based methods: require large-scale physical cluster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uses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“hijacking”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method to generate workload on a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single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host</a:t>
            </a:r>
          </a:p>
          <a:p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Use existing training framework (Megatron and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DeepSpeed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), make the framework believe it runs in a cluster</a:t>
            </a:r>
          </a:p>
          <a:p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All real communication in NCCL is skipped</a:t>
            </a:r>
            <a:endParaRPr lang="en-US" altLang="zh-CN" sz="19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2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8361-CEE0-6F0B-E109-B64B045B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89A37-BF16-D475-A043-A6552778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Workload Generator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EB3E4-51DA-5A37-FC99-6909804B7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The generated operations lack dependency specifications, need defining dependency information in workload file</a:t>
            </a:r>
          </a:p>
          <a:p>
            <a:pPr marL="146050" indent="0">
              <a:buNone/>
            </a:pPr>
            <a:endParaRPr lang="en-US" altLang="zh-CN" sz="2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Dependencies are determined by parallelism strategy the framework uses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602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5B81-7AA4-2A33-4663-E11A59C1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A6F28-6B84-C3B0-662F-DCC898B6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Workload Generator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1DAF75-40C7-A81A-5C4F-750E252D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133601"/>
            <a:ext cx="2346903" cy="2495106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Example of dependencies when using TP, DP and PP parallelisms.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6C703F-5BD4-F21C-812D-ED44FDAA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514" y="773489"/>
            <a:ext cx="4430416" cy="395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7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8BC6-3C7D-307B-76D6-C35B7EB9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18795-D089-6ED8-C351-EA767B70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Execution </a:t>
            </a:r>
            <a:br>
              <a:rPr lang="en-US" altLang="zh-CN" sz="2400" dirty="0">
                <a:solidFill>
                  <a:schemeClr val="bg2"/>
                </a:solidFill>
                <a:latin typeface="+mj-lt"/>
              </a:rPr>
            </a:b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Engine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A6B4BE-1026-81EE-D522-047FC5C0E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291" y="1586250"/>
            <a:ext cx="6196023" cy="280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8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A8CF-4421-CA8D-6736-D47F3D0D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2EA1C-64F2-B769-0472-075C656F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Computation Simulator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4526D8-0811-9B20-C723-A5801E0C0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Each GPU is dedicated to a single task, can accurately simulate the entire computation by filling time for each submodule in workload file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Submodule-level simulation not always work, especially for new parallelization strategies or optimizations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designs a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module-kernel converter</a:t>
            </a:r>
          </a:p>
          <a:p>
            <a:pPr marL="146050" indent="0">
              <a:buNone/>
            </a:pPr>
            <a:endParaRPr lang="en-US" altLang="zh-CN" sz="19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751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1680-A4B0-C641-9EE6-EF9D8CBB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C2068-B2D4-6217-4689-8685ADC3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Computation Simulator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C381C6-F541-EDE2-5A1F-B5F86A8E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866" y="2835995"/>
            <a:ext cx="2551814" cy="907312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Part of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module-kernel converter</a:t>
            </a:r>
          </a:p>
          <a:p>
            <a:pPr marL="146050" indent="0">
              <a:buNone/>
            </a:pPr>
            <a:endParaRPr lang="en-US" altLang="zh-CN" sz="19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BE43B2-7956-B3C5-CDA4-DDE3FB69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753" y="2059269"/>
            <a:ext cx="4901381" cy="20662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B71760-3A18-94D8-34EA-8C2D3879F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43" y="4194986"/>
            <a:ext cx="4572000" cy="4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0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D67F-19CA-E032-4B10-DC3B37EA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4469C-C2F3-9B20-EEBF-C03E364A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Computation Simulator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C5729-B006-42FF-947E-320445E2D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also supports 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unreleased GPUs</a:t>
            </a:r>
            <a:endParaRPr lang="en-US" altLang="zh-CN" sz="2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Need of evaluating whether new GPUs worth the investment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Initial approach: scale values from existing GPUs, inaccurate</a:t>
            </a: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New approach: different kernels have 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different bottlenecks: </a:t>
            </a: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computation-intensive, memory-bandwidth-intensive</a:t>
            </a:r>
          </a:p>
          <a:p>
            <a:pPr marL="14605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610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E0AA-DF92-12A4-BAE5-A0CAF307C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CD0E1-C353-7CC1-1C29-7B6D374A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Communication Simulator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448C58-B556-439B-AAD1-487A0CDD8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Training framework rely on collective communication library, like NCCL</a:t>
            </a: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NCCL translates collective communication operations (</a:t>
            </a: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AllReduce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AllGather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ReduceScatter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) into network-level operations (Send, Receive)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uses a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modified version of NCCL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, called </a:t>
            </a:r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SimCCL</a:t>
            </a:r>
            <a:endParaRPr lang="en-US" altLang="zh-CN" sz="1900" b="1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SimCCL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uses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“hijacking”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method, run on a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single host</a:t>
            </a:r>
            <a:endParaRPr lang="zh-CN" alt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1116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F990-C525-914B-F72B-5714E9A4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78F70-B1B5-FF0B-8D7B-6BB35D98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Simulation Speedup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9BE8EC-B7FD-5F95-7536-DD2E1D87B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implemented 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multithread version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to speed up simulation</a:t>
            </a:r>
          </a:p>
          <a:p>
            <a:pPr marL="146050" indent="0">
              <a:buNone/>
            </a:pPr>
            <a:endParaRPr lang="en-US" altLang="zh-CN" sz="1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Integrate UNISON to automatically distribute network topologies across different processes (Bai et al., 2024)</a:t>
            </a:r>
          </a:p>
          <a:p>
            <a:pPr marL="146050" indent="0">
              <a:buNone/>
            </a:pPr>
            <a:endParaRPr lang="en-US" altLang="zh-CN" sz="1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23x speedup compared to single-thread version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7616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2F57-C356-DCFF-F30B-5374ECDB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E318-F635-94D5-B62E-A7F7CC4D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C77B94-FC5F-CD8E-D060-01EA345B0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74121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Evaluate </a:t>
            </a:r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based on 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precision and scalability</a:t>
            </a:r>
          </a:p>
          <a:p>
            <a:pPr marL="146050" indent="0">
              <a:buNone/>
            </a:pPr>
            <a:endParaRPr lang="en-US" altLang="zh-CN" sz="1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Performance is compared with ASTRA-sim and ground truth</a:t>
            </a:r>
          </a:p>
          <a:p>
            <a:pPr marL="146050" indent="0">
              <a:buNone/>
            </a:pPr>
            <a:endParaRPr lang="en-US" altLang="zh-CN" sz="10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Communication, computation, end-to-end precision tests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3520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E6567-6F9F-58BE-63ED-EAC265E7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8E30A-F97C-AAEF-EE4C-D6127CFBB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 of Communication Simulation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D057F-DF52-A5A7-C3C6-533A822A8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335" y="3289649"/>
            <a:ext cx="3827722" cy="1530443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Intra-host and inter-host communication simulation</a:t>
            </a: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Average deviation (A100):</a:t>
            </a:r>
          </a:p>
          <a:p>
            <a:pPr marL="146050" indent="0">
              <a:buNone/>
            </a:pP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 3.9%, ASTRA-sim 74.8%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EB5429-3FCC-DCAC-A7EB-FCA5ECE9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9" y="2029419"/>
            <a:ext cx="4146698" cy="11595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E82159-4477-C4C3-A417-DDAF106A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054010"/>
            <a:ext cx="4302642" cy="226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C68A-487D-559F-1B39-9533778F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B6A20-F9CB-49EB-1589-BC990C7C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 of Computation Simulation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C07B3-B012-4449-9326-52E7E16F7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063" y="4260111"/>
            <a:ext cx="8230253" cy="5889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Execution time deviation: </a:t>
            </a: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: 0.5% - 3.1%; ASTRA-sim: 49.8% - 224%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35B9B2-DF21-2DF9-FE5C-F874D775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319" y="1966780"/>
            <a:ext cx="5475109" cy="220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68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A8F3-F615-BFB7-C620-545EDBBD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B245A-3C4D-196D-D345-394F0EC5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 of End-to-end Simulation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D43B59-BDD2-E380-37EB-19DF54962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3206" y="4096685"/>
            <a:ext cx="6883462" cy="666953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Deviation between </a:t>
            </a: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SimAI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 and ground truth &lt; 4%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DB4097-45F6-676D-FB07-78ABD90B7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8" y="2002312"/>
            <a:ext cx="7096479" cy="198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51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56A9-EF79-63E9-F8AA-0B7A6837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AB4FF-C55E-5EF7-71F3-3AEC3C5A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 err="1">
                <a:latin typeface="+mj-lt"/>
              </a:rPr>
              <a:t>Vidur</a:t>
            </a:r>
            <a:r>
              <a:rPr lang="en-US" altLang="zh-CN" sz="3200" dirty="0">
                <a:latin typeface="+mj-lt"/>
              </a:rPr>
              <a:t>: A Large-Scale Simulation Framework For LLM Inference</a:t>
            </a:r>
            <a:endParaRPr lang="zh-CN" altLang="en-US" sz="3200" dirty="0">
              <a:latin typeface="+mj-lt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0CD0C3B-D509-861A-1C04-D2265D1FD562}"/>
              </a:ext>
            </a:extLst>
          </p:cNvPr>
          <p:cNvSpPr txBox="1">
            <a:spLocks/>
          </p:cNvSpPr>
          <p:nvPr/>
        </p:nvSpPr>
        <p:spPr>
          <a:xfrm>
            <a:off x="726150" y="2841050"/>
            <a:ext cx="7688400" cy="125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altLang="zh-CN" sz="1800" dirty="0">
                <a:latin typeface="+mj-lt"/>
              </a:rPr>
              <a:t>Agrawal et al., 2024</a:t>
            </a:r>
            <a:endParaRPr lang="zh-CN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7772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B10B-FFD1-847E-B283-D780D925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4DBAF-F75E-DB2E-15E4-A46DD32B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What is LLM Inference?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0CAEFA-640D-C6D5-AFC9-9BC6AA251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LLM Inference: process of using LLM to produce some natural language outputs based on some inputs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LLM Inference contains two phases: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prefill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: process the entire input and produce first output token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decode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: generate next token based on previous token until a special “end-of-sequence” token is generated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799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BA36-176A-E924-FEAA-7B7895A2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1B1E9-CDA0-758E-42A8-9519669E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Why we need simulators for LLM Inference?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65BA85-21ED-2298-46B3-EA389DA45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The cost of LLM Inference serving is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expensive</a:t>
            </a: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Example: cost of serving ChatGPT is estimated $694K per day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To optimize LLM Inference, provider need decide model parallelization strategy, scheduling algorithms, many parameters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Systematically deploy and test these options is expensive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832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8042-10ED-7808-BF9B-092FACFA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C58F9-4988-3231-FAEE-939666A5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Challenges of Simulating LLM Inference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5BB49-1523-D21A-83BA-A1E092E0F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Unique challenges of simulating LLM inference compared to training</a:t>
            </a:r>
          </a:p>
          <a:p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LLM inference predictions have to be accurate in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finer time scale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Input size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can vary drastically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Small errors cascade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over time and lead to aggregated errors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643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57DF-2857-AC6A-2311-72A1C400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5DA62-F61C-0834-9D61-6C1471FD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Related Works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9E6843-0C9B-2A68-5511-5E8B05B43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Previous works focus on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training simulations</a:t>
            </a:r>
          </a:p>
          <a:p>
            <a:pPr marL="146050" indent="0">
              <a:buNone/>
            </a:pP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Daydream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simulates training performance under various system optimizations in different deployment scenarios (Zhu et al., 2020)</a:t>
            </a:r>
            <a:endParaRPr lang="en-US" altLang="zh-CN" sz="1900" b="1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is the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first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simulator for properties of LLM Inference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4333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3D29-5597-0320-FFF9-20CF0060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A6ADE-3088-7420-547B-21A4FFDE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Solution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AF3FC8-E26C-E8FA-F659-9AE0BE009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The paper presents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-Bench and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-Search:</a:t>
            </a:r>
          </a:p>
          <a:p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: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a large-scale, high-fidelity, easily extensible simulation framework for LLM inference performance</a:t>
            </a:r>
          </a:p>
          <a:p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-Bench: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 collection of workload traces for LLM inference</a:t>
            </a:r>
          </a:p>
          <a:p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-Search: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 tool that uses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to automatically search the best configuration for a given model and workload</a:t>
            </a:r>
            <a:endParaRPr lang="en-US" altLang="zh-CN" sz="1900" b="1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0188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9B45-7495-91AB-7DFE-217087F0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4DE0B-96D7-59CF-4929-FE01F8FF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solidFill>
                  <a:schemeClr val="bg2"/>
                </a:solidFill>
                <a:latin typeface="+mj-lt"/>
              </a:rPr>
              <a:t>Vidur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0EC257-0E5C-3008-B30D-CCF81B50B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537" y="630863"/>
            <a:ext cx="5322934" cy="42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22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15B5-CFB5-D0D6-EDE7-27DD1B84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F39E5-C7A3-CB7F-DC71-F963094B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Profiler 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579B50-F5B4-D6C4-EAB8-307B8617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806319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Profiler takes model specification as input, compute the profiled runtimes for different operations</a:t>
            </a:r>
          </a:p>
          <a:p>
            <a:pPr marL="146050" indent="0">
              <a:buNone/>
            </a:pPr>
            <a:endParaRPr lang="en-US" altLang="zh-CN" sz="800" b="1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LLM share common architectures, allow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to use a common model specification format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D19DAB-CE64-C837-0E80-AB90507F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62" y="940999"/>
            <a:ext cx="5989675" cy="155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1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B45B-1390-B422-0553-91ECE629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738DE-75E4-53F9-1C05-45ED3B4E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Profiler 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0EE1D2-06A9-2D1A-301C-77C4E445B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2735436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Profiler divides operators into three types based on </a:t>
            </a:r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dependencies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:</a:t>
            </a: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Token-level: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depend on number of tokens generated (addition)</a:t>
            </a:r>
            <a:endParaRPr lang="en-US" altLang="zh-CN" sz="1800" b="1" dirty="0">
              <a:solidFill>
                <a:schemeClr val="bg2"/>
              </a:solidFill>
              <a:latin typeface="+mn-lt"/>
            </a:endParaRP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Sequence-level: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depend on number of tokens generated and length of input request (attention kernel)</a:t>
            </a: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Communication: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depend on amount of data to transfer (all-reduce)</a:t>
            </a:r>
            <a:endParaRPr lang="zh-CN" altLang="en-US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13F026-291E-FD77-7E8C-14AD035B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875" y="948086"/>
            <a:ext cx="6010940" cy="15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DE60-C05B-D6B5-F771-87E66407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40D08-DDED-1F18-E36F-48B50223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Runtime</a:t>
            </a:r>
            <a:br>
              <a:rPr lang="en-US" altLang="zh-CN" sz="2400" dirty="0">
                <a:solidFill>
                  <a:schemeClr val="bg2"/>
                </a:solidFill>
                <a:latin typeface="+mj-lt"/>
              </a:rPr>
            </a:b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Estimator 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69F7E8-E71A-89E0-0135-F966BA3A6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2735436"/>
            <a:ext cx="7688700" cy="2337181"/>
          </a:xfrm>
        </p:spPr>
        <p:txBody>
          <a:bodyPr>
            <a:normAutofit lnSpcReduction="10000"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Operation runtime depends on query length, number of KV caches, …</a:t>
            </a: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Impossible to profile all combinations in the input space</a:t>
            </a:r>
          </a:p>
          <a:p>
            <a:pPr marL="146050" indent="0">
              <a:buNone/>
            </a:pPr>
            <a:endParaRPr lang="en-US" altLang="zh-CN" sz="800" b="1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Runtime Estimator collects a limited set of data from Profiler, train small </a:t>
            </a:r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machine-learning models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to estimate runtime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Choose random forest models to capture non-linear runtime characteristics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5C967D-92F5-A1D7-39A1-2D4AE067D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875" y="948086"/>
            <a:ext cx="6010940" cy="15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96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0801-EB0D-6D07-1DDC-A0652C05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625ED-4FD2-EA54-354A-046EDFF5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Hierarchical</a:t>
            </a:r>
            <a:br>
              <a:rPr lang="en-US" altLang="zh-CN" sz="2400" dirty="0">
                <a:solidFill>
                  <a:schemeClr val="bg2"/>
                </a:solidFill>
                <a:latin typeface="+mj-lt"/>
              </a:rPr>
            </a:b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Scheduler 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6BAC0D-589F-E0FA-EE9F-52E18A46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2735436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 uses a three-tier hierarchical scheduler:</a:t>
            </a: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global scheduler: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responsible for</a:t>
            </a:r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request routing, support different scheduling policies</a:t>
            </a:r>
            <a:endParaRPr lang="en-US" altLang="zh-CN" sz="1800" b="1" dirty="0">
              <a:solidFill>
                <a:schemeClr val="bg2"/>
              </a:solidFill>
              <a:latin typeface="+mn-lt"/>
            </a:endParaRP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replica scheduler: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responsible for batching and memory management, support different memory size and batching policies</a:t>
            </a:r>
          </a:p>
          <a:p>
            <a:r>
              <a:rPr lang="en-US" altLang="zh-CN" sz="1800" b="1" dirty="0">
                <a:solidFill>
                  <a:schemeClr val="bg2"/>
                </a:solidFill>
                <a:latin typeface="+mn-lt"/>
              </a:rPr>
              <a:t>replica stage scheduler: </a:t>
            </a: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handle pipeline schedule of micro-batches</a:t>
            </a:r>
            <a:endParaRPr lang="zh-CN" altLang="en-US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FD7EC5-9BCC-7086-D91A-65CAF101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48" y="721981"/>
            <a:ext cx="5534222" cy="192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20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5369-B74F-F2CB-C2F2-33D28898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626E6-5F99-6756-46FC-B2472429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solidFill>
                  <a:schemeClr val="bg2"/>
                </a:solidFill>
                <a:latin typeface="+mj-lt"/>
              </a:rPr>
              <a:t>Vidur</a:t>
            </a: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-Bench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6227B-D5B2-9C5F-EB0D-09DEEF3E8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33718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The LLM inference performance is highly sensitive to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workload type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, such as the length of input and output 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There’s no standardized benchmark for LLM inference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-Bench provides a set of workloads for different request types, arrival rates, and a set of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592351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7ACF-837C-04C6-BE77-7B93DC67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1CC53-9F17-45C1-DBF7-E77B9D22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solidFill>
                  <a:schemeClr val="bg2"/>
                </a:solidFill>
                <a:latin typeface="+mj-lt"/>
              </a:rPr>
              <a:t>Vidur</a:t>
            </a: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-Search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35714-B588-9EBB-6365-39E51E973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627804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Search is a tool that uses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to automatically search the 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optimal cost configuration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while satisfying SLO (service level objective) constraints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Inputs: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LLM model, workload, GPU specifications, SLO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contraints</a:t>
            </a:r>
            <a:endParaRPr lang="en-US" altLang="zh-CN" sz="19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Search Space: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parallelism strategy, parallelism degree, scheduling policy, batch size, …</a:t>
            </a:r>
          </a:p>
        </p:txBody>
      </p:sp>
    </p:spTree>
    <p:extLst>
      <p:ext uri="{BB962C8B-B14F-4D97-AF65-F5344CB8AC3E}">
        <p14:creationId xmlns:p14="http://schemas.microsoft.com/office/powerpoint/2010/main" val="3118706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D9ED-7D48-3BC5-E732-6A8D4939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E7989-E7FB-5028-DEDA-357221E7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solidFill>
                  <a:schemeClr val="bg2"/>
                </a:solidFill>
                <a:latin typeface="+mj-lt"/>
              </a:rPr>
              <a:t>Vidur</a:t>
            </a:r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-Search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83BD7-CA6E-18D5-FE38-2E585A06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627804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Optimization Objective: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QPS per dollar</a:t>
            </a: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QPS: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maximum number of queries per second that the system can support without queuing delay aggregates</a:t>
            </a:r>
            <a:endParaRPr lang="en-US" altLang="zh-CN" sz="1900" b="1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endParaRPr lang="en-US" altLang="zh-CN" sz="800" dirty="0">
              <a:solidFill>
                <a:schemeClr val="bg2"/>
              </a:solidFill>
              <a:latin typeface="+mn-lt"/>
            </a:endParaRPr>
          </a:p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For each configuration in the search space,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Vidur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-Search performs a binary search to find the maximum QPS that the queuing delay doesn’t exceed a threshold</a:t>
            </a:r>
          </a:p>
        </p:txBody>
      </p:sp>
    </p:spTree>
    <p:extLst>
      <p:ext uri="{BB962C8B-B14F-4D97-AF65-F5344CB8AC3E}">
        <p14:creationId xmlns:p14="http://schemas.microsoft.com/office/powerpoint/2010/main" val="719061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C674-72ED-140D-66FC-66DFA917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2A25B-1676-15E6-605B-1E19DCF3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B3245C-0B0A-F562-BFFA-4BA7F06F8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627804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Different types of workloads: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LMSys-Chat-1M: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one million real-world conversations with many state-of-the-art LLMs</a:t>
            </a:r>
          </a:p>
          <a:p>
            <a:r>
              <a:rPr lang="en-US" altLang="zh-CN" sz="1900" b="1" dirty="0" err="1">
                <a:solidFill>
                  <a:schemeClr val="bg2"/>
                </a:solidFill>
                <a:latin typeface="+mn-lt"/>
              </a:rPr>
              <a:t>Arxiv</a:t>
            </a:r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-Summarization: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 collection of publications from </a:t>
            </a:r>
            <a:r>
              <a:rPr lang="en-US" altLang="zh-CN" sz="1900" dirty="0" err="1">
                <a:solidFill>
                  <a:schemeClr val="bg2"/>
                </a:solidFill>
                <a:latin typeface="+mn-lt"/>
              </a:rPr>
              <a:t>arXiv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 and their summaries</a:t>
            </a:r>
          </a:p>
          <a:p>
            <a:r>
              <a:rPr lang="en-US" altLang="zh-CN" sz="1900" b="1" dirty="0">
                <a:solidFill>
                  <a:schemeClr val="bg2"/>
                </a:solidFill>
                <a:latin typeface="+mn-lt"/>
              </a:rPr>
              <a:t>Bilingual-Web-Book: </a:t>
            </a:r>
            <a:r>
              <a:rPr lang="en-US" altLang="zh-CN" sz="1900" dirty="0">
                <a:solidFill>
                  <a:schemeClr val="bg2"/>
                </a:solidFill>
                <a:latin typeface="+mn-lt"/>
              </a:rPr>
              <a:t>a collection of Chinese online novels and their corresponding English translations</a:t>
            </a:r>
          </a:p>
        </p:txBody>
      </p:sp>
    </p:spTree>
    <p:extLst>
      <p:ext uri="{BB962C8B-B14F-4D97-AF65-F5344CB8AC3E}">
        <p14:creationId xmlns:p14="http://schemas.microsoft.com/office/powerpoint/2010/main" val="1825317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1D26-0783-AC14-B40F-AF93848E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9A4C9-599A-B86C-2E69-96F78BBB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F5232-4219-2EE1-DF7B-E09AE0E5E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7688700" cy="2627804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Different types of workloads:</a:t>
            </a:r>
          </a:p>
          <a:p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Static workloads: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all requests are assumed to arrive before the system starts, measure the execution time</a:t>
            </a:r>
          </a:p>
          <a:p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Dynamic workloads: 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requests arrive based on a Poisson distribution, measure normalized end-to-end latency</a:t>
            </a:r>
          </a:p>
        </p:txBody>
      </p:sp>
    </p:spTree>
    <p:extLst>
      <p:ext uri="{BB962C8B-B14F-4D97-AF65-F5344CB8AC3E}">
        <p14:creationId xmlns:p14="http://schemas.microsoft.com/office/powerpoint/2010/main" val="2526650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31C-2B77-7AAC-4FEC-6DF5A196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16B84-DABF-1260-1BB4-A8E7E2F9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BCF6D8-F1C3-805C-C543-0710EA710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4014434"/>
            <a:ext cx="7688700" cy="800986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Static workloads: &lt; 3.33% error across four models and three datasets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341938-1947-B88B-516F-75D18415E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405" y="1129066"/>
            <a:ext cx="5515406" cy="27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60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ADE7-DB91-DEAA-F955-8A603204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7C36B-DBB8-C9FB-0D9F-390DC767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2"/>
                </a:solidFill>
                <a:latin typeface="+mj-lt"/>
              </a:rPr>
              <a:t>Evaluation</a:t>
            </a:r>
            <a:endParaRPr lang="zh-CN" altLang="en-US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A0518-0319-FAF4-0B4F-3B75C6DB9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4014434"/>
            <a:ext cx="7688700" cy="800986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altLang="zh-CN" sz="1800" dirty="0">
                <a:solidFill>
                  <a:schemeClr val="bg2"/>
                </a:solidFill>
                <a:latin typeface="+mn-lt"/>
              </a:rPr>
              <a:t>Dynamic workloads: &lt; 5% error in almost all scenarios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57DA31-656A-D1DF-4AED-23D84BF1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79405" y="1140316"/>
            <a:ext cx="5515406" cy="275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00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8157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+mj-lt"/>
              </a:rPr>
              <a:t>Thank you!</a:t>
            </a:r>
            <a:endParaRPr sz="32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1269</Words>
  <Application>Microsoft Office PowerPoint</Application>
  <PresentationFormat>全屏显示(16:9)</PresentationFormat>
  <Paragraphs>169</Paragraphs>
  <Slides>40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Arial</vt:lpstr>
      <vt:lpstr>Raleway</vt:lpstr>
      <vt:lpstr>Lato</vt:lpstr>
      <vt:lpstr>Streamline</vt:lpstr>
      <vt:lpstr>Training Simulation:  SimAI and Vidur</vt:lpstr>
      <vt:lpstr>SimAI: Unifying Architecture Design and Performance Tunning for Large-Scale Large Language Model Training with Scalability and Precision</vt:lpstr>
      <vt:lpstr>Why we need simulators for LLM training?</vt:lpstr>
      <vt:lpstr>Existing Solutions</vt:lpstr>
      <vt:lpstr>Existing Solutions</vt:lpstr>
      <vt:lpstr>Existing Solutions</vt:lpstr>
      <vt:lpstr>SimAI Overview</vt:lpstr>
      <vt:lpstr>Workload  Generator</vt:lpstr>
      <vt:lpstr>Workload Generator</vt:lpstr>
      <vt:lpstr>Workload Generator</vt:lpstr>
      <vt:lpstr>Workload Generator</vt:lpstr>
      <vt:lpstr>Execution  Engine</vt:lpstr>
      <vt:lpstr>Computation Simulator</vt:lpstr>
      <vt:lpstr>Computation Simulator</vt:lpstr>
      <vt:lpstr>Computation Simulator</vt:lpstr>
      <vt:lpstr>Communication Simulator</vt:lpstr>
      <vt:lpstr>Simulation Speedup</vt:lpstr>
      <vt:lpstr>Evaluation</vt:lpstr>
      <vt:lpstr>Evaluation of Communication Simulation</vt:lpstr>
      <vt:lpstr>Evaluation of Computation Simulation</vt:lpstr>
      <vt:lpstr>Evaluation of End-to-end Simulation</vt:lpstr>
      <vt:lpstr>Vidur: A Large-Scale Simulation Framework For LLM Inference</vt:lpstr>
      <vt:lpstr>What is LLM Inference?</vt:lpstr>
      <vt:lpstr>Why we need simulators for LLM Inference?</vt:lpstr>
      <vt:lpstr>Challenges of Simulating LLM Inference</vt:lpstr>
      <vt:lpstr>Related Works</vt:lpstr>
      <vt:lpstr>Solution</vt:lpstr>
      <vt:lpstr>Vidur</vt:lpstr>
      <vt:lpstr>Profiler </vt:lpstr>
      <vt:lpstr>Profiler </vt:lpstr>
      <vt:lpstr>Runtime Estimator </vt:lpstr>
      <vt:lpstr>Hierarchical Scheduler </vt:lpstr>
      <vt:lpstr>Vidur-Bench</vt:lpstr>
      <vt:lpstr>Vidur-Search</vt:lpstr>
      <vt:lpstr>Vidur-Search</vt:lpstr>
      <vt:lpstr>Evaluation</vt:lpstr>
      <vt:lpstr>Evaluation</vt:lpstr>
      <vt:lpstr>Evaluation</vt:lpstr>
      <vt:lpstr>Evaluation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universe.chen</dc:creator>
  <cp:lastModifiedBy>昊宇 陈</cp:lastModifiedBy>
  <cp:revision>10</cp:revision>
  <dcterms:modified xsi:type="dcterms:W3CDTF">2025-02-27T03:15:09Z</dcterms:modified>
</cp:coreProperties>
</file>