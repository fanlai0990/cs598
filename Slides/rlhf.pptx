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5143500" type="screen16x9"/>
  <p:notesSz cx="6858000" cy="9144000"/>
  <p:embeddedFontLst>
    <p:embeddedFont>
      <p:font typeface="Lato" panose="020F0502020204030203" pitchFamily="34" charset="0"/>
      <p:regular r:id="rId46"/>
      <p:bold r:id="rId47"/>
      <p:italic r:id="rId48"/>
      <p:boldItalic r:id="rId49"/>
    </p:embeddedFont>
    <p:embeddedFont>
      <p:font typeface="Raleway" panose="020B0003030101060003" pitchFamily="34"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39" d="100"/>
          <a:sy n="139" d="100"/>
        </p:scale>
        <p:origin x="176" y="53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3bbdd59762_0_4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3bbdd59762_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329e006353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329e00635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329e006353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329e00635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3bbdd5976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3bbdd5976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329e006353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329e006353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329e006353_1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329e006353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329e006353_1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329e006353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3c18d3cee5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3c18d3cee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29e006353_1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29e006353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329e006353_1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329e006353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329e006353_1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329e006353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Yash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3c18d3cee5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3c18d3cee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3c18d3cee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3c18d3cee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3bbdd59762_0_4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3bbdd59762_0_4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InstructGPT &gt; GPT-3</a:t>
            </a:r>
            <a:endParaRPr/>
          </a:p>
          <a:p>
            <a:pPr marL="0" lvl="0" indent="0" algn="l" rtl="0">
              <a:spcBef>
                <a:spcPts val="0"/>
              </a:spcBef>
              <a:spcAft>
                <a:spcPts val="0"/>
              </a:spcAft>
              <a:buNone/>
            </a:pPr>
            <a:r>
              <a:rPr lang="en"/>
              <a:t>Outputs from our 175B</a:t>
            </a:r>
            <a:endParaRPr/>
          </a:p>
          <a:p>
            <a:pPr marL="457200" lvl="0" indent="-298450" algn="l" rtl="0">
              <a:spcBef>
                <a:spcPts val="0"/>
              </a:spcBef>
              <a:spcAft>
                <a:spcPts val="0"/>
              </a:spcAft>
              <a:buSzPts val="1100"/>
              <a:buChar char="-"/>
            </a:pPr>
            <a:r>
              <a:rPr lang="en"/>
              <a:t>InstructGPT are preferred to 175B GPT-3 outputs 85 ± 3% of the time, and preferred 71 ± 4% of the time to few-shot 175B GPT-3</a:t>
            </a:r>
            <a:endParaRPr/>
          </a:p>
          <a:p>
            <a:pPr marL="457200" lvl="0" indent="-298450" algn="l" rtl="0">
              <a:spcBef>
                <a:spcPts val="0"/>
              </a:spcBef>
              <a:spcAft>
                <a:spcPts val="0"/>
              </a:spcAft>
              <a:buSzPts val="1100"/>
              <a:buChar char="-"/>
            </a:pPr>
            <a:r>
              <a:rPr lang="en"/>
              <a:t>models generalize to the preferences of "held-out" labelers that did not produce any training data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3bbdd59762_0_4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3bbdd59762_0_4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InstructGPT outputs favorable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3bbdd59762_0_4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3bbdd59762_0_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Public NLP datasets are not reflective of how our language models are used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3bbdd59762_0_4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3bbdd59762_0_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Figure 6: Results on the TruthfulQA dataset. Gray bars indicate ratings of truthfulness; colored bars indicate ratings of truthfulness and informativeness.</a:t>
            </a:r>
            <a:endParaRPr/>
          </a:p>
          <a:p>
            <a:pPr marL="0" lvl="0" indent="0" algn="l" rtl="0">
              <a:spcBef>
                <a:spcPts val="0"/>
              </a:spcBef>
              <a:spcAft>
                <a:spcPts val="0"/>
              </a:spcAft>
              <a:buNone/>
            </a:pPr>
            <a:endParaRPr/>
          </a:p>
          <a:p>
            <a:pPr marL="0" lvl="0" indent="0" algn="l" rtl="0">
              <a:spcBef>
                <a:spcPts val="0"/>
              </a:spcBef>
              <a:spcAft>
                <a:spcPts val="0"/>
              </a:spcAft>
              <a:buNone/>
            </a:pPr>
            <a:r>
              <a:rPr lang="en"/>
              <a:t>InstructGPT models show improvements in truthfulness over GPT-3.</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3bbdd59762_0_4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3bbdd59762_0_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InstructGPT shows small improvements in toxicity over GPT-3, but not bias</a:t>
            </a:r>
            <a:endParaRPr/>
          </a:p>
          <a:p>
            <a:pPr marL="0" lvl="0" indent="0" algn="l" rtl="0">
              <a:spcBef>
                <a:spcPts val="0"/>
              </a:spcBef>
              <a:spcAft>
                <a:spcPts val="0"/>
              </a:spcAft>
              <a:buNone/>
            </a:pPr>
            <a:endParaRPr/>
          </a:p>
          <a:p>
            <a:pPr marL="0" lvl="0" indent="0" algn="l" rtl="0">
              <a:spcBef>
                <a:spcPts val="0"/>
              </a:spcBef>
              <a:spcAft>
                <a:spcPts val="0"/>
              </a:spcAft>
              <a:buNone/>
            </a:pPr>
            <a:r>
              <a:rPr lang="en"/>
              <a:t>Perspective API to obtain automatic toxicity scores, which is the standard evaluation procedure for RealToxicityPrompts dataset</a:t>
            </a:r>
            <a:endParaRPr/>
          </a:p>
          <a:p>
            <a:pPr marL="0" lvl="0" indent="0" algn="l" rtl="0">
              <a:spcBef>
                <a:spcPts val="0"/>
              </a:spcBef>
              <a:spcAft>
                <a:spcPts val="0"/>
              </a:spcAft>
              <a:buNone/>
            </a:pPr>
            <a:endParaRPr/>
          </a:p>
          <a:p>
            <a:pPr marL="0" lvl="0" indent="0" algn="l" rtl="0">
              <a:spcBef>
                <a:spcPts val="0"/>
              </a:spcBef>
              <a:spcAft>
                <a:spcPts val="0"/>
              </a:spcAft>
              <a:buNone/>
            </a:pPr>
            <a:r>
              <a:rPr lang="en"/>
              <a:t>InstructGPT models generate less toxic outputs than those from GPT-3 according to the Perspective API</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3c18d3cee5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3c18d3cee5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3c18d3cee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3c18d3ce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3bbdd59762_0_4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3bbdd59762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3c0fb8b10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3c0fb8b10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329cafb353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329cafb35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329cafb353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329cafb35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329cafb353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329cafb353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329cafb353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329cafb35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329cafb353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329cafb353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3bc647559c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3bc647559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RLHF consists of multiple independent tasks, such as:</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Policy model training</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Reward model inference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Value function optimization</a:t>
            </a:r>
            <a:endParaRPr>
              <a:solidFill>
                <a:schemeClr val="dk1"/>
              </a:solidFill>
            </a:endParaRPr>
          </a:p>
          <a:p>
            <a:pPr marL="0" lvl="0" indent="0" algn="l" rtl="0">
              <a:lnSpc>
                <a:spcPct val="115000"/>
              </a:lnSpc>
              <a:spcBef>
                <a:spcPts val="1200"/>
              </a:spcBef>
              <a:spcAft>
                <a:spcPts val="0"/>
              </a:spcAft>
              <a:buNone/>
            </a:pPr>
            <a:r>
              <a:rPr lang="en">
                <a:solidFill>
                  <a:schemeClr val="dk1"/>
                </a:solidFill>
              </a:rPr>
              <a:t>These tasks are not tightly coupled, meaning they can run in parallel rather than waiting for each other.</a:t>
            </a:r>
            <a:endParaRPr>
              <a:solidFill>
                <a:schemeClr val="dk1"/>
              </a:solidFill>
            </a:endParaRPr>
          </a:p>
          <a:p>
            <a:pPr marL="0" lvl="0" indent="0" algn="l" rtl="0">
              <a:lnSpc>
                <a:spcPct val="115000"/>
              </a:lnSpc>
              <a:spcBef>
                <a:spcPts val="0"/>
              </a:spcBef>
              <a:spcAft>
                <a:spcPts val="0"/>
              </a:spcAft>
              <a:buNone/>
            </a:pPr>
            <a:br>
              <a:rPr lang="en">
                <a:solidFill>
                  <a:schemeClr val="dk1"/>
                </a:solidFill>
              </a:rPr>
            </a:br>
            <a:r>
              <a:rPr lang="en">
                <a:solidFill>
                  <a:schemeClr val="dk1"/>
                </a:solidFill>
              </a:rPr>
              <a:t>Instead of processing one large batch at a time, RLHFuse uses smaller micro-batches to allow overlapping execution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Baseline RLHF: Runs all forward passes before computing backward passes.</a:t>
            </a:r>
            <a:endParaRPr>
              <a:solidFill>
                <a:schemeClr val="dk1"/>
              </a:solidFill>
            </a:endParaRPr>
          </a:p>
          <a:p>
            <a:pPr marL="0" lvl="0" indent="0" algn="l" rtl="0">
              <a:lnSpc>
                <a:spcPct val="115000"/>
              </a:lnSpc>
              <a:spcBef>
                <a:spcPts val="1200"/>
              </a:spcBef>
              <a:spcAft>
                <a:spcPts val="0"/>
              </a:spcAft>
              <a:buNone/>
            </a:pPr>
            <a:r>
              <a:rPr lang="en">
                <a:solidFill>
                  <a:schemeClr val="dk1"/>
                </a:solidFill>
              </a:rPr>
              <a:t>RLHFuse: Interleaves forward and backward passes, so backward computation can start before all forward passes are completed.</a:t>
            </a:r>
            <a:br>
              <a:rPr lang="en">
                <a:solidFill>
                  <a:schemeClr val="dk1"/>
                </a:solidFill>
              </a:rPr>
            </a:br>
            <a:br>
              <a:rPr lang="en">
                <a:solidFill>
                  <a:schemeClr val="dk1"/>
                </a:solidFill>
              </a:rPr>
            </a:br>
            <a:r>
              <a:rPr lang="en">
                <a:solidFill>
                  <a:schemeClr val="dk1"/>
                </a:solidFill>
              </a:rPr>
              <a:t>Instead of replicating model stages, RLHFuse dynamically schedules execution to minimize idle time.</a:t>
            </a:r>
            <a:endParaRPr>
              <a:solidFill>
                <a:schemeClr val="dk1"/>
              </a:solidFill>
            </a:endParaRPr>
          </a:p>
          <a:p>
            <a:pPr marL="0" lvl="0" indent="0" algn="l" rtl="0">
              <a:lnSpc>
                <a:spcPct val="115000"/>
              </a:lnSpc>
              <a:spcBef>
                <a:spcPts val="1200"/>
              </a:spcBef>
              <a:spcAft>
                <a:spcPts val="0"/>
              </a:spcAft>
              <a:buNone/>
            </a:pPr>
            <a:r>
              <a:rPr lang="en">
                <a:solidFill>
                  <a:schemeClr val="dk1"/>
                </a:solidFill>
              </a:rPr>
              <a:t>RLHFuse adapts to different training architectures, making it more flexible than Chimera.</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3c0fb8b107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3c0fb8b10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algorithm optimizes the fused pipeline schedule by iteratively improving a candidate solution</a:t>
            </a:r>
            <a:endParaRPr/>
          </a:p>
          <a:p>
            <a:pPr marL="0" lvl="0" indent="0" algn="l" rtl="0">
              <a:spcBef>
                <a:spcPts val="0"/>
              </a:spcBef>
              <a:spcAft>
                <a:spcPts val="0"/>
              </a:spcAft>
              <a:buNone/>
            </a:pPr>
            <a:endParaRPr/>
          </a:p>
          <a:p>
            <a:pPr marL="457200" lvl="0" indent="-292100" algn="l" rtl="0">
              <a:lnSpc>
                <a:spcPct val="115000"/>
              </a:lnSpc>
              <a:spcBef>
                <a:spcPts val="0"/>
              </a:spcBef>
              <a:spcAft>
                <a:spcPts val="0"/>
              </a:spcAft>
              <a:buClr>
                <a:srgbClr val="595959"/>
              </a:buClr>
              <a:buSzPts val="1000"/>
              <a:buFont typeface="Lato"/>
              <a:buChar char="-"/>
            </a:pPr>
            <a:r>
              <a:rPr lang="en" sz="1000">
                <a:solidFill>
                  <a:srgbClr val="595959"/>
                </a:solidFill>
                <a:latin typeface="Lato"/>
                <a:ea typeface="Lato"/>
                <a:cs typeface="Lato"/>
                <a:sym typeface="Lato"/>
              </a:rPr>
              <a:t>Simulated Annealing Algorithm</a:t>
            </a:r>
            <a:endParaRPr sz="1000">
              <a:solidFill>
                <a:srgbClr val="595959"/>
              </a:solidFill>
              <a:latin typeface="Lato"/>
              <a:ea typeface="Lato"/>
              <a:cs typeface="Lato"/>
              <a:sym typeface="Lato"/>
            </a:endParaRPr>
          </a:p>
          <a:p>
            <a:pPr marL="914400" lvl="1" indent="-292100" algn="l" rtl="0">
              <a:lnSpc>
                <a:spcPct val="115000"/>
              </a:lnSpc>
              <a:spcBef>
                <a:spcPts val="0"/>
              </a:spcBef>
              <a:spcAft>
                <a:spcPts val="0"/>
              </a:spcAft>
              <a:buClr>
                <a:srgbClr val="595959"/>
              </a:buClr>
              <a:buSzPts val="1000"/>
              <a:buFont typeface="Lato"/>
              <a:buChar char="-"/>
            </a:pPr>
            <a:r>
              <a:rPr lang="en" sz="1000">
                <a:solidFill>
                  <a:srgbClr val="595959"/>
                </a:solidFill>
                <a:latin typeface="Lato"/>
                <a:ea typeface="Lato"/>
                <a:cs typeface="Lato"/>
                <a:sym typeface="Lato"/>
              </a:rPr>
              <a:t>Approximate global optimum</a:t>
            </a:r>
            <a:endParaRPr sz="1000">
              <a:solidFill>
                <a:srgbClr val="595959"/>
              </a:solidFill>
              <a:latin typeface="Lato"/>
              <a:ea typeface="Lato"/>
              <a:cs typeface="Lato"/>
              <a:sym typeface="Lato"/>
            </a:endParaRPr>
          </a:p>
          <a:p>
            <a:pPr marL="457200" lvl="0" indent="-292100" algn="l" rtl="0">
              <a:lnSpc>
                <a:spcPct val="115000"/>
              </a:lnSpc>
              <a:spcBef>
                <a:spcPts val="0"/>
              </a:spcBef>
              <a:spcAft>
                <a:spcPts val="0"/>
              </a:spcAft>
              <a:buClr>
                <a:srgbClr val="595959"/>
              </a:buClr>
              <a:buSzPts val="1000"/>
              <a:buFont typeface="Lato"/>
              <a:buChar char="-"/>
            </a:pPr>
            <a:r>
              <a:rPr lang="en" sz="1000">
                <a:solidFill>
                  <a:srgbClr val="595959"/>
                </a:solidFill>
                <a:latin typeface="Lato"/>
                <a:ea typeface="Lato"/>
                <a:cs typeface="Lato"/>
                <a:sym typeface="Lato"/>
              </a:rPr>
              <a:t>2. Initial schedule</a:t>
            </a:r>
            <a:endParaRPr sz="1000">
              <a:solidFill>
                <a:srgbClr val="595959"/>
              </a:solidFill>
              <a:latin typeface="Lato"/>
              <a:ea typeface="Lato"/>
              <a:cs typeface="Lato"/>
              <a:sym typeface="Lato"/>
            </a:endParaRPr>
          </a:p>
          <a:p>
            <a:pPr marL="457200" lvl="0" indent="-292100" algn="l" rtl="0">
              <a:lnSpc>
                <a:spcPct val="115000"/>
              </a:lnSpc>
              <a:spcBef>
                <a:spcPts val="0"/>
              </a:spcBef>
              <a:spcAft>
                <a:spcPts val="0"/>
              </a:spcAft>
              <a:buClr>
                <a:srgbClr val="595959"/>
              </a:buClr>
              <a:buSzPts val="1000"/>
              <a:buFont typeface="Lato"/>
              <a:buChar char="-"/>
            </a:pPr>
            <a:r>
              <a:rPr lang="en" sz="1000">
                <a:solidFill>
                  <a:srgbClr val="595959"/>
                </a:solidFill>
                <a:latin typeface="Lato"/>
                <a:ea typeface="Lato"/>
                <a:cs typeface="Lato"/>
                <a:sym typeface="Lato"/>
              </a:rPr>
              <a:t>3. Heuristic measure</a:t>
            </a:r>
            <a:endParaRPr sz="1000">
              <a:solidFill>
                <a:srgbClr val="595959"/>
              </a:solidFill>
              <a:latin typeface="Lato"/>
              <a:ea typeface="Lato"/>
              <a:cs typeface="Lato"/>
              <a:sym typeface="Lato"/>
            </a:endParaRPr>
          </a:p>
          <a:p>
            <a:pPr marL="457200" lvl="0" indent="-292100" algn="l" rtl="0">
              <a:lnSpc>
                <a:spcPct val="115000"/>
              </a:lnSpc>
              <a:spcBef>
                <a:spcPts val="0"/>
              </a:spcBef>
              <a:spcAft>
                <a:spcPts val="0"/>
              </a:spcAft>
              <a:buClr>
                <a:srgbClr val="595959"/>
              </a:buClr>
              <a:buSzPts val="1000"/>
              <a:buFont typeface="Lato"/>
              <a:buChar char="-"/>
            </a:pPr>
            <a:r>
              <a:rPr lang="en" sz="1000">
                <a:solidFill>
                  <a:srgbClr val="595959"/>
                </a:solidFill>
                <a:latin typeface="Lato"/>
                <a:ea typeface="Lato"/>
                <a:cs typeface="Lato"/>
                <a:sym typeface="Lato"/>
              </a:rPr>
              <a:t>8. Generate neighboring schedule</a:t>
            </a:r>
            <a:endParaRPr sz="1000">
              <a:solidFill>
                <a:srgbClr val="595959"/>
              </a:solidFill>
              <a:latin typeface="Lato"/>
              <a:ea typeface="Lato"/>
              <a:cs typeface="Lato"/>
              <a:sym typeface="Lato"/>
            </a:endParaRPr>
          </a:p>
          <a:p>
            <a:pPr marL="457200" lvl="0" indent="-292100" algn="l" rtl="0">
              <a:lnSpc>
                <a:spcPct val="115000"/>
              </a:lnSpc>
              <a:spcBef>
                <a:spcPts val="0"/>
              </a:spcBef>
              <a:spcAft>
                <a:spcPts val="0"/>
              </a:spcAft>
              <a:buClr>
                <a:srgbClr val="595959"/>
              </a:buClr>
              <a:buSzPts val="1000"/>
              <a:buFont typeface="Lato"/>
              <a:buChar char="-"/>
            </a:pPr>
            <a:r>
              <a:rPr lang="en" sz="1000">
                <a:solidFill>
                  <a:srgbClr val="595959"/>
                </a:solidFill>
                <a:latin typeface="Lato"/>
                <a:ea typeface="Lato"/>
                <a:cs typeface="Lato"/>
                <a:sym typeface="Lato"/>
              </a:rPr>
              <a:t>9. Neighboring heuristic measure</a:t>
            </a:r>
            <a:endParaRPr sz="1000">
              <a:solidFill>
                <a:srgbClr val="595959"/>
              </a:solidFill>
              <a:latin typeface="Lato"/>
              <a:ea typeface="Lato"/>
              <a:cs typeface="Lato"/>
              <a:sym typeface="Lato"/>
            </a:endParaRPr>
          </a:p>
          <a:p>
            <a:pPr marL="457200" lvl="0" indent="-292100" algn="l" rtl="0">
              <a:lnSpc>
                <a:spcPct val="115000"/>
              </a:lnSpc>
              <a:spcBef>
                <a:spcPts val="0"/>
              </a:spcBef>
              <a:spcAft>
                <a:spcPts val="0"/>
              </a:spcAft>
              <a:buClr>
                <a:srgbClr val="595959"/>
              </a:buClr>
              <a:buSzPts val="1000"/>
              <a:buFont typeface="Lato"/>
              <a:buChar char="-"/>
            </a:pPr>
            <a:r>
              <a:rPr lang="en" sz="1000">
                <a:solidFill>
                  <a:srgbClr val="595959"/>
                </a:solidFill>
                <a:latin typeface="Lato"/>
                <a:ea typeface="Lato"/>
                <a:cs typeface="Lato"/>
                <a:sym typeface="Lato"/>
              </a:rPr>
              <a:t>10. Neighbor is “better”, accept</a:t>
            </a:r>
            <a:endParaRPr sz="1000">
              <a:solidFill>
                <a:srgbClr val="595959"/>
              </a:solidFill>
              <a:latin typeface="Lato"/>
              <a:ea typeface="Lato"/>
              <a:cs typeface="Lato"/>
              <a:sym typeface="Lato"/>
            </a:endParaRPr>
          </a:p>
          <a:p>
            <a:pPr marL="457200" lvl="0" indent="-292100" algn="l" rtl="0">
              <a:lnSpc>
                <a:spcPct val="115000"/>
              </a:lnSpc>
              <a:spcBef>
                <a:spcPts val="0"/>
              </a:spcBef>
              <a:spcAft>
                <a:spcPts val="0"/>
              </a:spcAft>
              <a:buClr>
                <a:srgbClr val="595959"/>
              </a:buClr>
              <a:buSzPts val="1000"/>
              <a:buFont typeface="Lato"/>
              <a:buChar char="-"/>
            </a:pPr>
            <a:r>
              <a:rPr lang="en" sz="1000">
                <a:solidFill>
                  <a:srgbClr val="595959"/>
                </a:solidFill>
                <a:latin typeface="Lato"/>
                <a:ea typeface="Lato"/>
                <a:cs typeface="Lato"/>
                <a:sym typeface="Lato"/>
              </a:rPr>
              <a:t>13. Neighbor is not “better”, accept with probability </a:t>
            </a:r>
            <a:r>
              <a:rPr lang="en" sz="1000" i="1">
                <a:solidFill>
                  <a:srgbClr val="595959"/>
                </a:solidFill>
                <a:latin typeface="Lato"/>
                <a:ea typeface="Lato"/>
                <a:cs typeface="Lato"/>
                <a:sym typeface="Lato"/>
              </a:rPr>
              <a:t>P</a:t>
            </a:r>
            <a:endParaRPr sz="1000" i="1">
              <a:solidFill>
                <a:srgbClr val="595959"/>
              </a:solidFill>
              <a:latin typeface="Lato"/>
              <a:ea typeface="Lato"/>
              <a:cs typeface="Lato"/>
              <a:sym typeface="Lato"/>
            </a:endParaRPr>
          </a:p>
          <a:p>
            <a:pPr marL="457200" lvl="0" indent="-292100" algn="l" rtl="0">
              <a:lnSpc>
                <a:spcPct val="115000"/>
              </a:lnSpc>
              <a:spcBef>
                <a:spcPts val="0"/>
              </a:spcBef>
              <a:spcAft>
                <a:spcPts val="0"/>
              </a:spcAft>
              <a:buClr>
                <a:srgbClr val="595959"/>
              </a:buClr>
              <a:buSzPts val="1000"/>
              <a:buFont typeface="Lato"/>
              <a:buChar char="-"/>
            </a:pPr>
            <a:r>
              <a:rPr lang="en" sz="1000">
                <a:solidFill>
                  <a:srgbClr val="595959"/>
                </a:solidFill>
                <a:latin typeface="Lato"/>
                <a:ea typeface="Lato"/>
                <a:cs typeface="Lato"/>
                <a:sym typeface="Lato"/>
              </a:rPr>
              <a:t>16. Reduce T (cooling schedule)</a:t>
            </a:r>
            <a:endParaRPr sz="1000">
              <a:solidFill>
                <a:srgbClr val="595959"/>
              </a:solidFill>
              <a:latin typeface="Lato"/>
              <a:ea typeface="Lato"/>
              <a:cs typeface="Lato"/>
              <a:sym typeface="Lato"/>
            </a:endParaRPr>
          </a:p>
          <a:p>
            <a:pPr marL="0" lvl="0" indent="0" algn="l" rtl="0">
              <a:lnSpc>
                <a:spcPct val="115000"/>
              </a:lnSpc>
              <a:spcBef>
                <a:spcPts val="1200"/>
              </a:spcBef>
              <a:spcAft>
                <a:spcPts val="0"/>
              </a:spcAft>
              <a:buNone/>
            </a:pPr>
            <a:r>
              <a:rPr lang="en" sz="1000">
                <a:solidFill>
                  <a:srgbClr val="595959"/>
                </a:solidFill>
                <a:latin typeface="Lato"/>
                <a:ea typeface="Lato"/>
                <a:cs typeface="Lato"/>
                <a:sym typeface="Lato"/>
              </a:rPr>
              <a:t>Once an optimized schedule S* is found, algorithm is run again, with S* as the initial, set P to 0 (no latency increasing moves), and replace the ComputeEnergy function with one that computes peak activation memory usage</a:t>
            </a:r>
            <a:endParaRPr sz="1000">
              <a:solidFill>
                <a:srgbClr val="595959"/>
              </a:solidFill>
              <a:latin typeface="Lato"/>
              <a:ea typeface="Lato"/>
              <a:cs typeface="Lato"/>
              <a:sym typeface="Lato"/>
            </a:endParaRPr>
          </a:p>
          <a:p>
            <a:pPr marL="0" lvl="0" indent="0" algn="l" rtl="0">
              <a:lnSpc>
                <a:spcPct val="115000"/>
              </a:lnSpc>
              <a:spcBef>
                <a:spcPts val="1200"/>
              </a:spcBef>
              <a:spcAft>
                <a:spcPts val="1200"/>
              </a:spcAft>
              <a:buNone/>
            </a:pPr>
            <a:r>
              <a:rPr lang="en" sz="1000">
                <a:solidFill>
                  <a:srgbClr val="595959"/>
                </a:solidFill>
                <a:latin typeface="Lato"/>
                <a:ea typeface="Lato"/>
                <a:cs typeface="Lato"/>
                <a:sym typeface="Lato"/>
              </a:rPr>
              <a:t>Results in “optimal” latency schedule with promising memory usage</a:t>
            </a:r>
            <a:endParaRPr sz="1000">
              <a:solidFill>
                <a:srgbClr val="595959"/>
              </a:solidFill>
              <a:latin typeface="Lato"/>
              <a:ea typeface="Lato"/>
              <a:cs typeface="Lato"/>
              <a:sym typeface="La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3c0fb8b107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3c0fb8b10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3c0fb8b107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3c0fb8b107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2.5×–3.7× higher throughput vs. DSChat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1.4×–2.4× higher throughput vs. ReaLHF</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1.2×–1.4× higher throughput vs. RLHFuse-Base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3c0fb8b10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3c0fb8b10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Darker Color: Generation Stage</a:t>
            </a:r>
            <a:br>
              <a:rPr lang="en"/>
            </a:br>
            <a:r>
              <a:rPr lang="en"/>
              <a:t>Lighter Color: Inference Stage</a:t>
            </a:r>
            <a:endParaRPr/>
          </a:p>
          <a:p>
            <a:pPr marL="0" lvl="0" indent="0" algn="l" rtl="0">
              <a:spcBef>
                <a:spcPts val="0"/>
              </a:spcBef>
              <a:spcAft>
                <a:spcPts val="0"/>
              </a:spcAft>
              <a:buNone/>
            </a:pPr>
            <a:endParaRPr/>
          </a:p>
          <a:p>
            <a:pPr marL="0" lvl="0" indent="0" algn="l" rtl="0">
              <a:spcBef>
                <a:spcPts val="0"/>
              </a:spcBef>
              <a:spcAft>
                <a:spcPts val="0"/>
              </a:spcAft>
              <a:buNone/>
            </a:pPr>
            <a:r>
              <a:rPr lang="en"/>
              <a:t>It can be seen that as the maximum generation length increases, the processing time of longtailed samples is long enough for RLHFuse to fully overlap the inference stage execution, achieving 1.2x–1.6x speedup</a:t>
            </a:r>
            <a:endParaRPr/>
          </a:p>
          <a:p>
            <a:pPr marL="0" lvl="0" indent="0" algn="l" rtl="0">
              <a:spcBef>
                <a:spcPts val="0"/>
              </a:spcBef>
              <a:spcAft>
                <a:spcPts val="0"/>
              </a:spcAft>
              <a:buNone/>
            </a:pPr>
            <a:r>
              <a:rPr lang="en"/>
              <a:t>Through intra-stage fusion, RLHFuse greatly mitigates pipeline bubbles and reduces the execution time of the training stage by 1.2x–1.3x</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3c0fb8b107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3c0fb8b107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Balances speedup while avoiding overload - migration threshold</a:t>
            </a:r>
            <a:endParaRPr/>
          </a:p>
          <a:p>
            <a:pPr marL="0" lvl="0" indent="0" algn="l" rtl="0">
              <a:spcBef>
                <a:spcPts val="0"/>
              </a:spcBef>
              <a:spcAft>
                <a:spcPts val="0"/>
              </a:spcAft>
              <a:buClr>
                <a:schemeClr val="dk1"/>
              </a:buClr>
              <a:buSzPts val="1100"/>
              <a:buFont typeface="Arial"/>
              <a:buNone/>
            </a:pPr>
            <a:r>
              <a:rPr lang="en">
                <a:solidFill>
                  <a:schemeClr val="dk1"/>
                </a:solidFill>
              </a:rPr>
              <a:t>Latency Speedup: RLHFuse matches the theoretical lower bound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Memory Efficiency: RLHFuse uses memory close to the serial execution lower bound</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3c0fb8b107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3c0fb8b107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Addresses data skewness &amp; pipeline bubbles, which previous approaches overlook</a:t>
            </a:r>
            <a:endParaRPr/>
          </a:p>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3bc647559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3bc647559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3bc647559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33bc647559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bc647559c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3bc647559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329e006353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329e00635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329e006353_2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329e006353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329e006353_2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3329e006353_2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329e006353_2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3329e006353_2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29e006353_2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29e006353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809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Systems for RLHF (Reinforcement Learning from Human Feedback)</a:t>
            </a:r>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a:t>Dan Nguyen, Nishk Patel, Arthur Wang, Yash Telang, Sunskar Dhanker</a:t>
            </a:r>
            <a:endParaRPr/>
          </a:p>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​​Training language models to follow instructions with human feedback</a:t>
            </a:r>
            <a:endParaRPr/>
          </a:p>
        </p:txBody>
      </p:sp>
      <p:sp>
        <p:nvSpPr>
          <p:cNvPr id="93" name="Google Shape;93;p14"/>
          <p:cNvSpPr txBox="1">
            <a:spLocks noGrp="1"/>
          </p:cNvSpPr>
          <p:nvPr>
            <p:ph type="subTitle" idx="4294967295"/>
          </p:nvPr>
        </p:nvSpPr>
        <p:spPr>
          <a:xfrm>
            <a:off x="729627" y="3172900"/>
            <a:ext cx="7688100" cy="5412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 sz="4400">
                <a:solidFill>
                  <a:schemeClr val="dk2"/>
                </a:solidFill>
                <a:latin typeface="Raleway"/>
                <a:ea typeface="Raleway"/>
                <a:cs typeface="Raleway"/>
                <a:sym typeface="Raleway"/>
              </a:rPr>
              <a:t> </a:t>
            </a:r>
            <a:r>
              <a:rPr lang="en" sz="5200">
                <a:solidFill>
                  <a:schemeClr val="dk2"/>
                </a:solidFill>
                <a:latin typeface="Raleway"/>
                <a:ea typeface="Raleway"/>
                <a:cs typeface="Raleway"/>
                <a:sym typeface="Raleway"/>
              </a:rPr>
              <a:t>Ouyang et. al. - OpenAI (March 2022) </a:t>
            </a:r>
            <a:endParaRPr sz="5200">
              <a:solidFill>
                <a:schemeClr val="dk2"/>
              </a:solidFill>
              <a:latin typeface="Raleway"/>
              <a:ea typeface="Raleway"/>
              <a:cs typeface="Raleway"/>
              <a:sym typeface="Raleway"/>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Motivation</a:t>
            </a:r>
            <a:endParaRPr/>
          </a:p>
        </p:txBody>
      </p:sp>
      <p:sp>
        <p:nvSpPr>
          <p:cNvPr id="99" name="Google Shape;99;p15"/>
          <p:cNvSpPr txBox="1">
            <a:spLocks noGrp="1"/>
          </p:cNvSpPr>
          <p:nvPr>
            <p:ph type="body" idx="1"/>
          </p:nvPr>
        </p:nvSpPr>
        <p:spPr>
          <a:xfrm>
            <a:off x="729450" y="1853850"/>
            <a:ext cx="7688700" cy="28758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LLMs have continued to increase in size, which has improved their overall capabilities</a:t>
            </a:r>
            <a:endParaRPr/>
          </a:p>
          <a:p>
            <a:pPr marL="457200" lvl="0" indent="-311150" algn="l" rtl="0">
              <a:spcBef>
                <a:spcPts val="0"/>
              </a:spcBef>
              <a:spcAft>
                <a:spcPts val="0"/>
              </a:spcAft>
              <a:buSzPts val="1300"/>
              <a:buChar char="●"/>
            </a:pPr>
            <a:r>
              <a:rPr lang="en"/>
              <a:t>However, alignment is still an issue for these models, as sometimes, they can:</a:t>
            </a:r>
            <a:endParaRPr/>
          </a:p>
          <a:p>
            <a:pPr marL="914400" lvl="1" indent="-298450" algn="l" rtl="0">
              <a:spcBef>
                <a:spcPts val="0"/>
              </a:spcBef>
              <a:spcAft>
                <a:spcPts val="0"/>
              </a:spcAft>
              <a:buSzPts val="1100"/>
              <a:buChar char="○"/>
            </a:pPr>
            <a:r>
              <a:rPr lang="en"/>
              <a:t>Make up facts</a:t>
            </a:r>
            <a:endParaRPr/>
          </a:p>
          <a:p>
            <a:pPr marL="914400" lvl="1" indent="-298450" algn="l" rtl="0">
              <a:spcBef>
                <a:spcPts val="0"/>
              </a:spcBef>
              <a:spcAft>
                <a:spcPts val="0"/>
              </a:spcAft>
              <a:buSzPts val="1100"/>
              <a:buChar char="○"/>
            </a:pPr>
            <a:r>
              <a:rPr lang="en"/>
              <a:t>Generate biased text</a:t>
            </a:r>
            <a:endParaRPr/>
          </a:p>
          <a:p>
            <a:pPr marL="914400" lvl="1" indent="-298450" algn="l" rtl="0">
              <a:spcBef>
                <a:spcPts val="0"/>
              </a:spcBef>
              <a:spcAft>
                <a:spcPts val="0"/>
              </a:spcAft>
              <a:buSzPts val="1100"/>
              <a:buChar char="○"/>
            </a:pPr>
            <a:r>
              <a:rPr lang="en"/>
              <a:t>Ignore user instructions</a:t>
            </a:r>
            <a:endParaRPr/>
          </a:p>
          <a:p>
            <a:pPr marL="457200" lvl="0" indent="-311150" algn="l" rtl="0">
              <a:spcBef>
                <a:spcPts val="0"/>
              </a:spcBef>
              <a:spcAft>
                <a:spcPts val="0"/>
              </a:spcAft>
              <a:buSzPts val="1300"/>
              <a:buChar char="●"/>
            </a:pPr>
            <a:r>
              <a:rPr lang="en"/>
              <a:t>You may have seen this when using publicly available LLMs, such as ChatGPT</a:t>
            </a:r>
            <a:endParaRPr/>
          </a:p>
          <a:p>
            <a:pPr marL="457200" lvl="0" indent="-311150" algn="l" rtl="0">
              <a:spcBef>
                <a:spcPts val="0"/>
              </a:spcBef>
              <a:spcAft>
                <a:spcPts val="0"/>
              </a:spcAft>
              <a:buSzPts val="1300"/>
              <a:buChar char="●"/>
            </a:pPr>
            <a:r>
              <a:rPr lang="en"/>
              <a:t>The reason for this misalignment is because many LLMs are trained using next-token prediction - predict the most probable word given prior context</a:t>
            </a:r>
            <a:endParaRPr/>
          </a:p>
          <a:p>
            <a:pPr marL="457200" lvl="0" indent="-311150" algn="l" rtl="0">
              <a:spcBef>
                <a:spcPts val="0"/>
              </a:spcBef>
              <a:spcAft>
                <a:spcPts val="0"/>
              </a:spcAft>
              <a:buSzPts val="1300"/>
              <a:buChar char="●"/>
            </a:pPr>
            <a:r>
              <a:rPr lang="en"/>
              <a:t>However, our objective is for these models to be:</a:t>
            </a:r>
            <a:endParaRPr/>
          </a:p>
          <a:p>
            <a:pPr marL="914400" lvl="1" indent="-298450" algn="l" rtl="0">
              <a:spcBef>
                <a:spcPts val="0"/>
              </a:spcBef>
              <a:spcAft>
                <a:spcPts val="0"/>
              </a:spcAft>
              <a:buSzPts val="1100"/>
              <a:buChar char="○"/>
            </a:pPr>
            <a:r>
              <a:rPr lang="en" b="1"/>
              <a:t>Helpful</a:t>
            </a:r>
            <a:r>
              <a:rPr lang="en"/>
              <a:t>: Help the user solve their task</a:t>
            </a:r>
            <a:endParaRPr/>
          </a:p>
          <a:p>
            <a:pPr marL="914400" lvl="1" indent="-298450" algn="l" rtl="0">
              <a:spcBef>
                <a:spcPts val="0"/>
              </a:spcBef>
              <a:spcAft>
                <a:spcPts val="0"/>
              </a:spcAft>
              <a:buSzPts val="1100"/>
              <a:buChar char="○"/>
            </a:pPr>
            <a:r>
              <a:rPr lang="en" b="1"/>
              <a:t>Honest</a:t>
            </a:r>
            <a:r>
              <a:rPr lang="en"/>
              <a:t>: Shouldn't fabricate information or mislead user</a:t>
            </a:r>
            <a:endParaRPr/>
          </a:p>
          <a:p>
            <a:pPr marL="914400" lvl="1" indent="-298450" algn="l" rtl="0">
              <a:spcBef>
                <a:spcPts val="0"/>
              </a:spcBef>
              <a:spcAft>
                <a:spcPts val="0"/>
              </a:spcAft>
              <a:buSzPts val="1100"/>
              <a:buChar char="○"/>
            </a:pPr>
            <a:r>
              <a:rPr lang="en" b="1"/>
              <a:t>Harmless</a:t>
            </a:r>
            <a:r>
              <a:rPr lang="en"/>
              <a:t>: Should not cause any harm to people or the environment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Related Work</a:t>
            </a:r>
            <a:endParaRPr/>
          </a:p>
        </p:txBody>
      </p:sp>
      <p:sp>
        <p:nvSpPr>
          <p:cNvPr id="105" name="Google Shape;105;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Focus on fine-tuning approaches to solve the issue of LLM misalignment: Creating "InstructGPT"</a:t>
            </a:r>
            <a:endParaRPr/>
          </a:p>
          <a:p>
            <a:pPr marL="457200" lvl="0" indent="-311150" algn="l" rtl="0">
              <a:spcBef>
                <a:spcPts val="0"/>
              </a:spcBef>
              <a:spcAft>
                <a:spcPts val="0"/>
              </a:spcAft>
              <a:buSzPts val="1300"/>
              <a:buChar char="●"/>
            </a:pPr>
            <a:r>
              <a:rPr lang="en"/>
              <a:t>Builds upon existing research in reinforcement learning from human feedback (RLHF)</a:t>
            </a:r>
            <a:endParaRPr/>
          </a:p>
          <a:p>
            <a:pPr marL="914400" lvl="1" indent="-298450" algn="l" rtl="0">
              <a:spcBef>
                <a:spcPts val="0"/>
              </a:spcBef>
              <a:spcAft>
                <a:spcPts val="0"/>
              </a:spcAft>
              <a:buSzPts val="1100"/>
              <a:buChar char="○"/>
            </a:pPr>
            <a:r>
              <a:rPr lang="en"/>
              <a:t>Combining human evaluations with reinforcement learning (more details ahead)</a:t>
            </a:r>
            <a:endParaRPr/>
          </a:p>
          <a:p>
            <a:pPr marL="457200" lvl="0" indent="-311150" algn="l" rtl="0">
              <a:spcBef>
                <a:spcPts val="0"/>
              </a:spcBef>
              <a:spcAft>
                <a:spcPts val="0"/>
              </a:spcAft>
              <a:buSzPts val="1300"/>
              <a:buChar char="●"/>
            </a:pPr>
            <a:r>
              <a:rPr lang="en"/>
              <a:t>Training LLMs to follow instructions</a:t>
            </a:r>
            <a:endParaRPr/>
          </a:p>
          <a:p>
            <a:pPr marL="914400" lvl="1" indent="-298450" algn="l" rtl="0">
              <a:spcBef>
                <a:spcPts val="0"/>
              </a:spcBef>
              <a:spcAft>
                <a:spcPts val="0"/>
              </a:spcAft>
              <a:buSzPts val="1100"/>
              <a:buChar char="○"/>
            </a:pPr>
            <a:r>
              <a:rPr lang="en"/>
              <a:t>Ensuring generalization by training on a large range of datasets (ex - differently formatted instructions)</a:t>
            </a:r>
            <a:endParaRPr/>
          </a:p>
          <a:p>
            <a:pPr marL="457200" lvl="0" indent="-311150" algn="l" rtl="0">
              <a:spcBef>
                <a:spcPts val="0"/>
              </a:spcBef>
              <a:spcAft>
                <a:spcPts val="0"/>
              </a:spcAft>
              <a:buSzPts val="1300"/>
              <a:buChar char="●"/>
            </a:pPr>
            <a:r>
              <a:rPr lang="en"/>
              <a:t>Evaluating and minimizing potential harms</a:t>
            </a:r>
            <a:endParaRPr/>
          </a:p>
          <a:p>
            <a:pPr marL="914400" lvl="1" indent="-298450" algn="l" rtl="0">
              <a:spcBef>
                <a:spcPts val="0"/>
              </a:spcBef>
              <a:spcAft>
                <a:spcPts val="0"/>
              </a:spcAft>
              <a:buSzPts val="1100"/>
              <a:buChar char="○"/>
            </a:pPr>
            <a:r>
              <a:rPr lang="en"/>
              <a:t>Reducing misinformation, biased outputs, toxic outputs, etc.</a:t>
            </a:r>
            <a:endParaRPr/>
          </a:p>
          <a:p>
            <a:pPr marL="914400" lvl="1" indent="-298450" algn="l" rtl="0">
              <a:spcBef>
                <a:spcPts val="0"/>
              </a:spcBef>
              <a:spcAft>
                <a:spcPts val="0"/>
              </a:spcAft>
              <a:buSzPts val="1100"/>
              <a:buChar char="○"/>
            </a:pPr>
            <a:r>
              <a:rPr lang="en"/>
              <a:t>FIltering pre training data to remove harmful text/phrases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High-level Methodology </a:t>
            </a:r>
            <a:endParaRPr/>
          </a:p>
        </p:txBody>
      </p:sp>
      <p:pic>
        <p:nvPicPr>
          <p:cNvPr id="111" name="Google Shape;111;p17"/>
          <p:cNvPicPr preferRelativeResize="0"/>
          <p:nvPr/>
        </p:nvPicPr>
        <p:blipFill>
          <a:blip r:embed="rId3">
            <a:alphaModFix/>
          </a:blip>
          <a:stretch>
            <a:fillRect/>
          </a:stretch>
        </p:blipFill>
        <p:spPr>
          <a:xfrm>
            <a:off x="1802725" y="1853850"/>
            <a:ext cx="5542150" cy="3285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Dataset</a:t>
            </a:r>
            <a:endParaRPr/>
          </a:p>
        </p:txBody>
      </p:sp>
      <p:sp>
        <p:nvSpPr>
          <p:cNvPr id="117" name="Google Shape;117;p18"/>
          <p:cNvSpPr txBox="1">
            <a:spLocks noGrp="1"/>
          </p:cNvSpPr>
          <p:nvPr>
            <p:ph type="body" idx="1"/>
          </p:nvPr>
        </p:nvSpPr>
        <p:spPr>
          <a:xfrm>
            <a:off x="771000" y="1853850"/>
            <a:ext cx="7688700" cy="29184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Initial instruction-like prompts created by a diverse group of pre-screened labelers that were</a:t>
            </a:r>
            <a:endParaRPr/>
          </a:p>
          <a:p>
            <a:pPr marL="914400" lvl="1" indent="-298450" algn="l" rtl="0">
              <a:spcBef>
                <a:spcPts val="0"/>
              </a:spcBef>
              <a:spcAft>
                <a:spcPts val="0"/>
              </a:spcAft>
              <a:buSzPts val="1100"/>
              <a:buChar char="○"/>
            </a:pPr>
            <a:r>
              <a:rPr lang="en" b="1"/>
              <a:t>Plain</a:t>
            </a:r>
            <a:r>
              <a:rPr lang="en"/>
              <a:t>: Diverse set of arbitrary tasks </a:t>
            </a:r>
            <a:endParaRPr/>
          </a:p>
          <a:p>
            <a:pPr marL="914400" lvl="1" indent="-298450" algn="l" rtl="0">
              <a:spcBef>
                <a:spcPts val="0"/>
              </a:spcBef>
              <a:spcAft>
                <a:spcPts val="0"/>
              </a:spcAft>
              <a:buSzPts val="1100"/>
              <a:buChar char="○"/>
            </a:pPr>
            <a:r>
              <a:rPr lang="en" b="1"/>
              <a:t>Few-shot</a:t>
            </a:r>
            <a:r>
              <a:rPr lang="en"/>
              <a:t>: Multiple query/response pairs for one instruction</a:t>
            </a:r>
            <a:endParaRPr/>
          </a:p>
          <a:p>
            <a:pPr marL="914400" lvl="1" indent="-298450" algn="l" rtl="0">
              <a:spcBef>
                <a:spcPts val="0"/>
              </a:spcBef>
              <a:spcAft>
                <a:spcPts val="0"/>
              </a:spcAft>
              <a:buSzPts val="1100"/>
              <a:buChar char="○"/>
            </a:pPr>
            <a:r>
              <a:rPr lang="en" b="1"/>
              <a:t>User-based</a:t>
            </a:r>
            <a:r>
              <a:rPr lang="en"/>
              <a:t>: Prompts related to use-cases in waitlist applications to the OpenAI API</a:t>
            </a:r>
            <a:endParaRPr/>
          </a:p>
          <a:p>
            <a:pPr marL="457200" lvl="0" indent="-311150" algn="l" rtl="0">
              <a:spcBef>
                <a:spcPts val="0"/>
              </a:spcBef>
              <a:spcAft>
                <a:spcPts val="0"/>
              </a:spcAft>
              <a:buSzPts val="1300"/>
              <a:buChar char="●"/>
            </a:pPr>
            <a:r>
              <a:rPr lang="en"/>
              <a:t>Additional text prompts submitted by users to earlier versions of InstructGPT through the "Playground" interface (through the OpenAI API)</a:t>
            </a:r>
            <a:endParaRPr/>
          </a:p>
          <a:p>
            <a:pPr marL="914400" lvl="1" indent="-298450" algn="l" rtl="0">
              <a:spcBef>
                <a:spcPts val="0"/>
              </a:spcBef>
              <a:spcAft>
                <a:spcPts val="0"/>
              </a:spcAft>
              <a:buSzPts val="1100"/>
              <a:buChar char="○"/>
            </a:pPr>
            <a:r>
              <a:rPr lang="en"/>
              <a:t>Users were informed that their data could be used to train further models</a:t>
            </a:r>
            <a:endParaRPr/>
          </a:p>
          <a:p>
            <a:pPr marL="914400" lvl="1" indent="-298450" algn="l" rtl="0">
              <a:spcBef>
                <a:spcPts val="0"/>
              </a:spcBef>
              <a:spcAft>
                <a:spcPts val="0"/>
              </a:spcAft>
              <a:buSzPts val="1100"/>
              <a:buChar char="○"/>
            </a:pPr>
            <a:r>
              <a:rPr lang="en"/>
              <a:t>Heuristically deduplicate prompts by checking for a long common prefix</a:t>
            </a:r>
            <a:endParaRPr/>
          </a:p>
          <a:p>
            <a:pPr marL="914400" lvl="1" indent="-298450" algn="l" rtl="0">
              <a:spcBef>
                <a:spcPts val="0"/>
              </a:spcBef>
              <a:spcAft>
                <a:spcPts val="0"/>
              </a:spcAft>
              <a:buSzPts val="1100"/>
              <a:buChar char="○"/>
            </a:pPr>
            <a:r>
              <a:rPr lang="en"/>
              <a:t>Limit number of prompts to 200 per user ID and filter prompts for personally identifiable information (PII)</a:t>
            </a:r>
            <a:endParaRPr/>
          </a:p>
          <a:p>
            <a:pPr marL="914400" lvl="1" indent="-298450" algn="l" rtl="0">
              <a:spcBef>
                <a:spcPts val="0"/>
              </a:spcBef>
              <a:spcAft>
                <a:spcPts val="0"/>
              </a:spcAft>
              <a:buSzPts val="1100"/>
              <a:buChar char="○"/>
            </a:pPr>
            <a:r>
              <a:rPr lang="en"/>
              <a:t>Train, validation, and test splits created based on user ID, so no user data from training set is in validation/test set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Dataset</a:t>
            </a:r>
            <a:endParaRPr/>
          </a:p>
        </p:txBody>
      </p:sp>
      <p:sp>
        <p:nvSpPr>
          <p:cNvPr id="123" name="Google Shape;123;p19"/>
          <p:cNvSpPr txBox="1">
            <a:spLocks noGrp="1"/>
          </p:cNvSpPr>
          <p:nvPr>
            <p:ph type="body" idx="1"/>
          </p:nvPr>
        </p:nvSpPr>
        <p:spPr>
          <a:xfrm>
            <a:off x="729450" y="1853850"/>
            <a:ext cx="8169900" cy="3140100"/>
          </a:xfrm>
          <a:prstGeom prst="rect">
            <a:avLst/>
          </a:prstGeom>
        </p:spPr>
        <p:txBody>
          <a:bodyPr spcFirstLastPara="1" wrap="square" lIns="91425" tIns="91425" rIns="91425" bIns="91425" anchor="t" anchorCtr="0">
            <a:normAutofit lnSpcReduction="10000"/>
          </a:bodyPr>
          <a:lstStyle/>
          <a:p>
            <a:pPr marL="457200" lvl="0" indent="-311150" algn="l" rtl="0">
              <a:spcBef>
                <a:spcPts val="0"/>
              </a:spcBef>
              <a:spcAft>
                <a:spcPts val="0"/>
              </a:spcAft>
              <a:buSzPts val="1300"/>
              <a:buChar char="●"/>
            </a:pPr>
            <a:r>
              <a:rPr lang="en"/>
              <a:t>3 datasets created from this data:</a:t>
            </a:r>
            <a:endParaRPr/>
          </a:p>
          <a:p>
            <a:pPr marL="914400" lvl="1" indent="-298450" algn="l" rtl="0">
              <a:spcBef>
                <a:spcPts val="0"/>
              </a:spcBef>
              <a:spcAft>
                <a:spcPts val="0"/>
              </a:spcAft>
              <a:buSzPts val="1100"/>
              <a:buChar char="○"/>
            </a:pPr>
            <a:r>
              <a:rPr lang="en" b="1"/>
              <a:t>SFT (Supervised Fine-Tuning) Dataset</a:t>
            </a:r>
            <a:r>
              <a:rPr lang="en"/>
              <a:t>: </a:t>
            </a:r>
            <a:endParaRPr/>
          </a:p>
          <a:p>
            <a:pPr marL="1371600" lvl="2" indent="-298450" algn="l" rtl="0">
              <a:spcBef>
                <a:spcPts val="0"/>
              </a:spcBef>
              <a:spcAft>
                <a:spcPts val="0"/>
              </a:spcAft>
              <a:buSzPts val="1100"/>
              <a:buChar char="■"/>
            </a:pPr>
            <a:r>
              <a:rPr lang="en"/>
              <a:t>13k training prompts from both OpenAI API and labeler-written data</a:t>
            </a:r>
            <a:endParaRPr/>
          </a:p>
          <a:p>
            <a:pPr marL="1371600" lvl="2" indent="-298450" algn="l" rtl="0">
              <a:spcBef>
                <a:spcPts val="0"/>
              </a:spcBef>
              <a:spcAft>
                <a:spcPts val="0"/>
              </a:spcAft>
              <a:buSzPts val="1100"/>
              <a:buChar char="■"/>
            </a:pPr>
            <a:r>
              <a:rPr lang="en"/>
              <a:t>Used to train the supervised models</a:t>
            </a:r>
            <a:endParaRPr/>
          </a:p>
          <a:p>
            <a:pPr marL="914400" lvl="1" indent="-298450" algn="l" rtl="0">
              <a:spcBef>
                <a:spcPts val="0"/>
              </a:spcBef>
              <a:spcAft>
                <a:spcPts val="0"/>
              </a:spcAft>
              <a:buSzPts val="1100"/>
              <a:buChar char="○"/>
            </a:pPr>
            <a:r>
              <a:rPr lang="en" b="1"/>
              <a:t>RM (Reward Model) Dataset</a:t>
            </a:r>
            <a:r>
              <a:rPr lang="en"/>
              <a:t>: </a:t>
            </a:r>
            <a:endParaRPr/>
          </a:p>
          <a:p>
            <a:pPr marL="1371600" lvl="2" indent="-298450" algn="l" rtl="0">
              <a:spcBef>
                <a:spcPts val="0"/>
              </a:spcBef>
              <a:spcAft>
                <a:spcPts val="0"/>
              </a:spcAft>
              <a:buSzPts val="1100"/>
              <a:buChar char="■"/>
            </a:pPr>
            <a:r>
              <a:rPr lang="en"/>
              <a:t>33k training prompts from both OpenAI API and labeler-written data</a:t>
            </a:r>
            <a:endParaRPr/>
          </a:p>
          <a:p>
            <a:pPr marL="1371600" lvl="2" indent="-298450" algn="l" rtl="0">
              <a:spcBef>
                <a:spcPts val="0"/>
              </a:spcBef>
              <a:spcAft>
                <a:spcPts val="0"/>
              </a:spcAft>
              <a:buSzPts val="1100"/>
              <a:buChar char="■"/>
            </a:pPr>
            <a:r>
              <a:rPr lang="en"/>
              <a:t>Used to train reward models based on labeler ranking of model outputs</a:t>
            </a:r>
            <a:endParaRPr/>
          </a:p>
          <a:p>
            <a:pPr marL="914400" lvl="1" indent="-298450" algn="l" rtl="0">
              <a:spcBef>
                <a:spcPts val="0"/>
              </a:spcBef>
              <a:spcAft>
                <a:spcPts val="0"/>
              </a:spcAft>
              <a:buSzPts val="1100"/>
              <a:buChar char="○"/>
            </a:pPr>
            <a:r>
              <a:rPr lang="en" b="1"/>
              <a:t>PPO (Proximal Policy Optimization) Dataset</a:t>
            </a:r>
            <a:r>
              <a:rPr lang="en"/>
              <a:t>: </a:t>
            </a:r>
            <a:endParaRPr/>
          </a:p>
          <a:p>
            <a:pPr marL="1371600" lvl="2" indent="-298450" algn="l" rtl="0">
              <a:spcBef>
                <a:spcPts val="0"/>
              </a:spcBef>
              <a:spcAft>
                <a:spcPts val="0"/>
              </a:spcAft>
              <a:buSzPts val="1100"/>
              <a:buChar char="■"/>
            </a:pPr>
            <a:r>
              <a:rPr lang="en"/>
              <a:t>31k training prompts only from OpenAI API</a:t>
            </a:r>
            <a:endParaRPr/>
          </a:p>
          <a:p>
            <a:pPr marL="1371600" lvl="2" indent="-298450" algn="l" rtl="0">
              <a:spcBef>
                <a:spcPts val="0"/>
              </a:spcBef>
              <a:spcAft>
                <a:spcPts val="0"/>
              </a:spcAft>
              <a:buSzPts val="1100"/>
              <a:buChar char="■"/>
            </a:pPr>
            <a:r>
              <a:rPr lang="en"/>
              <a:t>Used for RLHF fine-tuning</a:t>
            </a:r>
            <a:endParaRPr/>
          </a:p>
          <a:p>
            <a:pPr marL="457200" lvl="0" indent="-311150" algn="l" rtl="0">
              <a:spcBef>
                <a:spcPts val="0"/>
              </a:spcBef>
              <a:spcAft>
                <a:spcPts val="0"/>
              </a:spcAft>
              <a:buSzPts val="1300"/>
              <a:buChar char="●"/>
            </a:pPr>
            <a:r>
              <a:rPr lang="en"/>
              <a:t>Prompts are diverse, and include tasks such as:</a:t>
            </a:r>
            <a:endParaRPr/>
          </a:p>
          <a:p>
            <a:pPr marL="914400" lvl="1" indent="-298450" algn="l" rtl="0">
              <a:spcBef>
                <a:spcPts val="0"/>
              </a:spcBef>
              <a:spcAft>
                <a:spcPts val="0"/>
              </a:spcAft>
              <a:buSzPts val="1100"/>
              <a:buChar char="○"/>
            </a:pPr>
            <a:r>
              <a:rPr lang="en"/>
              <a:t>Generation</a:t>
            </a:r>
            <a:endParaRPr/>
          </a:p>
          <a:p>
            <a:pPr marL="914400" lvl="1" indent="-298450" algn="l" rtl="0">
              <a:spcBef>
                <a:spcPts val="0"/>
              </a:spcBef>
              <a:spcAft>
                <a:spcPts val="0"/>
              </a:spcAft>
              <a:buSzPts val="1100"/>
              <a:buChar char="○"/>
            </a:pPr>
            <a:r>
              <a:rPr lang="en"/>
              <a:t>Question answering</a:t>
            </a:r>
            <a:endParaRPr/>
          </a:p>
          <a:p>
            <a:pPr marL="914400" lvl="1" indent="-298450" algn="l" rtl="0">
              <a:spcBef>
                <a:spcPts val="0"/>
              </a:spcBef>
              <a:spcAft>
                <a:spcPts val="0"/>
              </a:spcAft>
              <a:buSzPts val="1100"/>
              <a:buChar char="○"/>
            </a:pPr>
            <a:r>
              <a:rPr lang="en"/>
              <a:t>Dialogue</a:t>
            </a:r>
            <a:endParaRPr/>
          </a:p>
          <a:p>
            <a:pPr marL="914400" lvl="1" indent="-298450" algn="l" rtl="0">
              <a:spcBef>
                <a:spcPts val="0"/>
              </a:spcBef>
              <a:spcAft>
                <a:spcPts val="0"/>
              </a:spcAft>
              <a:buSzPts val="1100"/>
              <a:buChar char="○"/>
            </a:pPr>
            <a:r>
              <a:rPr lang="en"/>
              <a:t>Summarization</a:t>
            </a:r>
            <a:endParaRPr/>
          </a:p>
          <a:p>
            <a:pPr marL="914400" lvl="1" indent="-298450" algn="l" rtl="0">
              <a:spcBef>
                <a:spcPts val="0"/>
              </a:spcBef>
              <a:spcAft>
                <a:spcPts val="0"/>
              </a:spcAft>
              <a:buSzPts val="1100"/>
              <a:buChar char="○"/>
            </a:pPr>
            <a:r>
              <a:rPr lang="en"/>
              <a:t>Other natural language tasks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Dataset</a:t>
            </a:r>
            <a:endParaRPr/>
          </a:p>
        </p:txBody>
      </p:sp>
      <p:pic>
        <p:nvPicPr>
          <p:cNvPr id="129" name="Google Shape;129;p20"/>
          <p:cNvPicPr preferRelativeResize="0"/>
          <p:nvPr/>
        </p:nvPicPr>
        <p:blipFill>
          <a:blip r:embed="rId3">
            <a:alphaModFix/>
          </a:blip>
          <a:stretch>
            <a:fillRect/>
          </a:stretch>
        </p:blipFill>
        <p:spPr>
          <a:xfrm>
            <a:off x="1230263" y="1853850"/>
            <a:ext cx="6683468" cy="2984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Model/Training Details</a:t>
            </a:r>
            <a:endParaRPr/>
          </a:p>
        </p:txBody>
      </p:sp>
      <p:sp>
        <p:nvSpPr>
          <p:cNvPr id="135" name="Google Shape;135;p21"/>
          <p:cNvSpPr txBox="1">
            <a:spLocks noGrp="1"/>
          </p:cNvSpPr>
          <p:nvPr>
            <p:ph type="body" idx="1"/>
          </p:nvPr>
        </p:nvSpPr>
        <p:spPr>
          <a:xfrm>
            <a:off x="729450" y="2078875"/>
            <a:ext cx="7688700" cy="27723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Start with GPT-3 pretrained language models</a:t>
            </a:r>
            <a:endParaRPr/>
          </a:p>
          <a:p>
            <a:pPr marL="914400" lvl="1" indent="-298450" algn="l" rtl="0">
              <a:spcBef>
                <a:spcPts val="0"/>
              </a:spcBef>
              <a:spcAft>
                <a:spcPts val="0"/>
              </a:spcAft>
              <a:buSzPts val="1100"/>
              <a:buChar char="○"/>
            </a:pPr>
            <a:r>
              <a:rPr lang="en"/>
              <a:t>Trained on a broad distribution of Internet data</a:t>
            </a:r>
            <a:endParaRPr/>
          </a:p>
          <a:p>
            <a:pPr marL="914400" lvl="1" indent="-298450" algn="l" rtl="0">
              <a:spcBef>
                <a:spcPts val="0"/>
              </a:spcBef>
              <a:spcAft>
                <a:spcPts val="0"/>
              </a:spcAft>
              <a:buSzPts val="1100"/>
              <a:buChar char="○"/>
            </a:pPr>
            <a:r>
              <a:rPr lang="en"/>
              <a:t>Adaptable to a wide range of tasks</a:t>
            </a:r>
            <a:endParaRPr/>
          </a:p>
          <a:p>
            <a:pPr marL="457200" lvl="0" indent="-311150" algn="l" rtl="0">
              <a:spcBef>
                <a:spcPts val="0"/>
              </a:spcBef>
              <a:spcAft>
                <a:spcPts val="0"/>
              </a:spcAft>
              <a:buSzPts val="1300"/>
              <a:buChar char="●"/>
            </a:pPr>
            <a:r>
              <a:rPr lang="en" b="1"/>
              <a:t>Step 1: Supervised fine-tuning (SFT)</a:t>
            </a:r>
            <a:endParaRPr b="1"/>
          </a:p>
          <a:p>
            <a:pPr marL="914400" lvl="1" indent="-298450" algn="l" rtl="0">
              <a:spcBef>
                <a:spcPts val="0"/>
              </a:spcBef>
              <a:spcAft>
                <a:spcPts val="0"/>
              </a:spcAft>
              <a:buSzPts val="1100"/>
              <a:buChar char="○"/>
            </a:pPr>
            <a:r>
              <a:rPr lang="en"/>
              <a:t>Fine-tune GPT-3 using supervised learning</a:t>
            </a:r>
            <a:endParaRPr/>
          </a:p>
          <a:p>
            <a:pPr marL="914400" lvl="1" indent="-298450" algn="l" rtl="0">
              <a:spcBef>
                <a:spcPts val="0"/>
              </a:spcBef>
              <a:spcAft>
                <a:spcPts val="0"/>
              </a:spcAft>
              <a:buSzPts val="1100"/>
              <a:buChar char="○"/>
            </a:pPr>
            <a:r>
              <a:rPr lang="en"/>
              <a:t>16 epochs, cosine learning rate decay, residual dropout of 0.2</a:t>
            </a:r>
            <a:endParaRPr/>
          </a:p>
          <a:p>
            <a:pPr marL="914400" lvl="1" indent="-298450" algn="l" rtl="0">
              <a:spcBef>
                <a:spcPts val="0"/>
              </a:spcBef>
              <a:spcAft>
                <a:spcPts val="0"/>
              </a:spcAft>
              <a:buSzPts val="1100"/>
              <a:buChar char="○"/>
            </a:pPr>
            <a:r>
              <a:rPr lang="en"/>
              <a:t>Final model is chosen based on Reward Modeling Score on validation set</a:t>
            </a:r>
            <a:endParaRPr/>
          </a:p>
          <a:p>
            <a:pPr marL="457200" lvl="0" indent="-311150" algn="l" rtl="0">
              <a:spcBef>
                <a:spcPts val="0"/>
              </a:spcBef>
              <a:spcAft>
                <a:spcPts val="0"/>
              </a:spcAft>
              <a:buSzPts val="1300"/>
              <a:buChar char="●"/>
            </a:pPr>
            <a:r>
              <a:rPr lang="en" b="1"/>
              <a:t>Step 2: Reward Modeling (RM)</a:t>
            </a:r>
            <a:endParaRPr b="1"/>
          </a:p>
          <a:p>
            <a:pPr marL="914400" lvl="1" indent="-298450" algn="l" rtl="0">
              <a:spcBef>
                <a:spcPts val="0"/>
              </a:spcBef>
              <a:spcAft>
                <a:spcPts val="0"/>
              </a:spcAft>
              <a:buSzPts val="1100"/>
              <a:buChar char="○"/>
            </a:pPr>
            <a:r>
              <a:rPr lang="en"/>
              <a:t>SFT model is trained to take in a prompt and response, and output a scalar reward</a:t>
            </a:r>
            <a:endParaRPr/>
          </a:p>
          <a:p>
            <a:pPr marL="914400" lvl="1" indent="-298450" algn="l" rtl="0">
              <a:spcBef>
                <a:spcPts val="0"/>
              </a:spcBef>
              <a:spcAft>
                <a:spcPts val="0"/>
              </a:spcAft>
              <a:buSzPts val="1100"/>
              <a:buChar char="○"/>
            </a:pPr>
            <a:r>
              <a:rPr lang="en"/>
              <a:t>Cross-entropy loss function is used for the reward model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Model/Training Details</a:t>
            </a:r>
            <a:endParaRPr/>
          </a:p>
        </p:txBody>
      </p:sp>
      <p:sp>
        <p:nvSpPr>
          <p:cNvPr id="141" name="Google Shape;141;p22"/>
          <p:cNvSpPr txBox="1">
            <a:spLocks noGrp="1"/>
          </p:cNvSpPr>
          <p:nvPr>
            <p:ph type="body" idx="1"/>
          </p:nvPr>
        </p:nvSpPr>
        <p:spPr>
          <a:xfrm>
            <a:off x="729450" y="2078875"/>
            <a:ext cx="7688700" cy="27723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b="1"/>
              <a:t>Step 3: Reinforcement Learning (RL)</a:t>
            </a:r>
            <a:endParaRPr b="1"/>
          </a:p>
          <a:p>
            <a:pPr marL="914400" lvl="1" indent="-298450" algn="l" rtl="0">
              <a:spcBef>
                <a:spcPts val="0"/>
              </a:spcBef>
              <a:spcAft>
                <a:spcPts val="0"/>
              </a:spcAft>
              <a:buSzPts val="1100"/>
              <a:buChar char="○"/>
            </a:pPr>
            <a:r>
              <a:rPr lang="en"/>
              <a:t>RLHF is used to fine-tune the model further to the desired alignment</a:t>
            </a:r>
            <a:endParaRPr/>
          </a:p>
          <a:p>
            <a:pPr marL="914400" lvl="1" indent="-298450" algn="l" rtl="0">
              <a:spcBef>
                <a:spcPts val="0"/>
              </a:spcBef>
              <a:spcAft>
                <a:spcPts val="0"/>
              </a:spcAft>
              <a:buSzPts val="1100"/>
              <a:buChar char="○"/>
            </a:pPr>
            <a:r>
              <a:rPr lang="en"/>
              <a:t>Uses Proximal Policy Optimization (PPO) to optimize the model's policy (how it generates responses to prompts) by adjusting its parameters (Schulman et al., 2017)</a:t>
            </a:r>
            <a:endParaRPr/>
          </a:p>
          <a:p>
            <a:pPr marL="914400" lvl="1" indent="-298450" algn="l" rtl="0">
              <a:spcBef>
                <a:spcPts val="0"/>
              </a:spcBef>
              <a:spcAft>
                <a:spcPts val="0"/>
              </a:spcAft>
              <a:buSzPts val="1100"/>
              <a:buChar char="○"/>
            </a:pPr>
            <a:r>
              <a:rPr lang="en"/>
              <a:t>Reward model's scores are used alongside PPO to lead the model to produce outputs that have a higher chance of being ranked higher by human labelers</a:t>
            </a:r>
            <a:endParaRPr/>
          </a:p>
          <a:p>
            <a:pPr marL="914400" lvl="1" indent="-298450" algn="l" rtl="0">
              <a:spcBef>
                <a:spcPts val="0"/>
              </a:spcBef>
              <a:spcAft>
                <a:spcPts val="0"/>
              </a:spcAft>
              <a:buSzPts val="1100"/>
              <a:buChar char="○"/>
            </a:pPr>
            <a:r>
              <a:rPr lang="en"/>
              <a:t>Experimentation with mixing pre-training gradients alongside PPO gradients to create "PPO-ptx" models</a:t>
            </a:r>
            <a:endParaRPr/>
          </a:p>
          <a:p>
            <a:pPr marL="457200" lvl="0" indent="-311150" algn="l" rtl="0">
              <a:spcBef>
                <a:spcPts val="0"/>
              </a:spcBef>
              <a:spcAft>
                <a:spcPts val="0"/>
              </a:spcAft>
              <a:buSzPts val="1300"/>
              <a:buChar char="●"/>
            </a:pPr>
            <a:r>
              <a:rPr lang="en" b="1"/>
              <a:t>Baseline Comparisons:</a:t>
            </a:r>
            <a:endParaRPr b="1"/>
          </a:p>
          <a:p>
            <a:pPr marL="914400" lvl="1" indent="-298450" algn="l" rtl="0">
              <a:spcBef>
                <a:spcPts val="0"/>
              </a:spcBef>
              <a:spcAft>
                <a:spcPts val="0"/>
              </a:spcAft>
              <a:buSzPts val="1100"/>
              <a:buChar char="○"/>
            </a:pPr>
            <a:r>
              <a:rPr lang="en"/>
              <a:t>Comparing PPO models to Supervised fine-tuned models and GPT-3</a:t>
            </a:r>
            <a:endParaRPr/>
          </a:p>
          <a:p>
            <a:pPr marL="914400" lvl="1" indent="-298450" algn="l" rtl="0">
              <a:spcBef>
                <a:spcPts val="0"/>
              </a:spcBef>
              <a:spcAft>
                <a:spcPts val="0"/>
              </a:spcAft>
              <a:buSzPts val="1100"/>
              <a:buChar char="○"/>
            </a:pPr>
            <a:r>
              <a:rPr lang="en"/>
              <a:t>Also compared to a "prompted GPT-3" that is given a few-shot prefix before the user-specified instruction</a:t>
            </a:r>
            <a:endParaRPr/>
          </a:p>
          <a:p>
            <a:pPr marL="914400" lvl="1" indent="-298450" algn="l" rtl="0">
              <a:spcBef>
                <a:spcPts val="0"/>
              </a:spcBef>
              <a:spcAft>
                <a:spcPts val="0"/>
              </a:spcAft>
              <a:buSzPts val="1100"/>
              <a:buChar char="○"/>
            </a:pPr>
            <a:r>
              <a:rPr lang="en"/>
              <a:t>Lastly, also compared to fine-tuned GPT-3 on FLAN and T0 datasets (contain a variety of NLP tasks)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Model/Training Details</a:t>
            </a:r>
            <a:endParaRPr/>
          </a:p>
        </p:txBody>
      </p:sp>
      <p:pic>
        <p:nvPicPr>
          <p:cNvPr id="147" name="Google Shape;147;p23"/>
          <p:cNvPicPr preferRelativeResize="0"/>
          <p:nvPr/>
        </p:nvPicPr>
        <p:blipFill>
          <a:blip r:embed="rId3">
            <a:alphaModFix/>
          </a:blip>
          <a:stretch>
            <a:fillRect/>
          </a:stretch>
        </p:blipFill>
        <p:spPr>
          <a:xfrm>
            <a:off x="813750" y="2156275"/>
            <a:ext cx="7520100" cy="1802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Model/Training Details</a:t>
            </a:r>
            <a:endParaRPr/>
          </a:p>
        </p:txBody>
      </p:sp>
      <p:pic>
        <p:nvPicPr>
          <p:cNvPr id="153" name="Google Shape;153;p24"/>
          <p:cNvPicPr preferRelativeResize="0"/>
          <p:nvPr/>
        </p:nvPicPr>
        <p:blipFill>
          <a:blip r:embed="rId3">
            <a:alphaModFix/>
          </a:blip>
          <a:stretch>
            <a:fillRect/>
          </a:stretch>
        </p:blipFill>
        <p:spPr>
          <a:xfrm>
            <a:off x="604838" y="1853850"/>
            <a:ext cx="7934325" cy="2952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Evaluation</a:t>
            </a:r>
            <a:endParaRPr/>
          </a:p>
        </p:txBody>
      </p:sp>
      <p:sp>
        <p:nvSpPr>
          <p:cNvPr id="159" name="Google Shape;159;p2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24326" algn="l" rtl="0">
              <a:lnSpc>
                <a:spcPct val="115000"/>
              </a:lnSpc>
              <a:spcBef>
                <a:spcPts val="0"/>
              </a:spcBef>
              <a:spcAft>
                <a:spcPts val="0"/>
              </a:spcAft>
              <a:buSzPts val="1508"/>
              <a:buChar char="●"/>
            </a:pPr>
            <a:r>
              <a:rPr lang="en" sz="1507" b="1"/>
              <a:t>Alignment</a:t>
            </a:r>
            <a:r>
              <a:rPr lang="en" sz="1507"/>
              <a:t>: process of training language models to act in accordance with user intentions</a:t>
            </a:r>
            <a:endParaRPr sz="1507"/>
          </a:p>
          <a:p>
            <a:pPr marL="914400" lvl="1" indent="-314483" algn="l" rtl="0">
              <a:lnSpc>
                <a:spcPct val="115000"/>
              </a:lnSpc>
              <a:spcBef>
                <a:spcPts val="0"/>
              </a:spcBef>
              <a:spcAft>
                <a:spcPts val="0"/>
              </a:spcAft>
              <a:buSzPts val="1353"/>
              <a:buChar char="○"/>
            </a:pPr>
            <a:r>
              <a:rPr lang="en" sz="1352"/>
              <a:t>Models are aligned if they are </a:t>
            </a:r>
            <a:r>
              <a:rPr lang="en" sz="1352" b="1"/>
              <a:t>helpful</a:t>
            </a:r>
            <a:r>
              <a:rPr lang="en" sz="1352"/>
              <a:t>, </a:t>
            </a:r>
            <a:r>
              <a:rPr lang="en" sz="1352" b="1"/>
              <a:t>honest</a:t>
            </a:r>
            <a:r>
              <a:rPr lang="en" sz="1352"/>
              <a:t>, and </a:t>
            </a:r>
            <a:r>
              <a:rPr lang="en" sz="1352" b="1"/>
              <a:t>harmless</a:t>
            </a:r>
            <a:endParaRPr sz="1352" b="1"/>
          </a:p>
          <a:p>
            <a:pPr marL="457200" lvl="0" indent="-324326" algn="l" rtl="0">
              <a:lnSpc>
                <a:spcPct val="115000"/>
              </a:lnSpc>
              <a:spcBef>
                <a:spcPts val="0"/>
              </a:spcBef>
              <a:spcAft>
                <a:spcPts val="0"/>
              </a:spcAft>
              <a:buSzPts val="1508"/>
              <a:buChar char="●"/>
            </a:pPr>
            <a:r>
              <a:rPr lang="en" sz="1507" b="1"/>
              <a:t>Helpfulness: </a:t>
            </a:r>
            <a:r>
              <a:rPr lang="en" sz="1507"/>
              <a:t>model should follow instructions, but also be able to infer intention </a:t>
            </a:r>
            <a:endParaRPr sz="1507"/>
          </a:p>
          <a:p>
            <a:pPr marL="914400" lvl="1" indent="-324326" algn="l" rtl="0">
              <a:lnSpc>
                <a:spcPct val="115000"/>
              </a:lnSpc>
              <a:spcBef>
                <a:spcPts val="0"/>
              </a:spcBef>
              <a:spcAft>
                <a:spcPts val="0"/>
              </a:spcAft>
              <a:buSzPts val="1508"/>
              <a:buChar char="○"/>
            </a:pPr>
            <a:r>
              <a:rPr lang="en" sz="1352"/>
              <a:t>Labeler preference ratings are heavily relied on</a:t>
            </a:r>
            <a:endParaRPr sz="1352"/>
          </a:p>
          <a:p>
            <a:pPr marL="457200" lvl="0" indent="-324326" algn="l" rtl="0">
              <a:lnSpc>
                <a:spcPct val="115000"/>
              </a:lnSpc>
              <a:spcBef>
                <a:spcPts val="0"/>
              </a:spcBef>
              <a:spcAft>
                <a:spcPts val="0"/>
              </a:spcAft>
              <a:buSzPts val="1508"/>
              <a:buChar char="●"/>
            </a:pPr>
            <a:r>
              <a:rPr lang="en" sz="1507" b="1"/>
              <a:t>Truthfulness: </a:t>
            </a:r>
            <a:r>
              <a:rPr lang="en" sz="1507"/>
              <a:t>evaluate tendencies to hallucinate</a:t>
            </a:r>
            <a:endParaRPr sz="1352" b="1"/>
          </a:p>
          <a:p>
            <a:pPr marL="457200" lvl="0" indent="-324326" algn="l" rtl="0">
              <a:lnSpc>
                <a:spcPct val="115000"/>
              </a:lnSpc>
              <a:spcBef>
                <a:spcPts val="0"/>
              </a:spcBef>
              <a:spcAft>
                <a:spcPts val="0"/>
              </a:spcAft>
              <a:buSzPts val="1508"/>
              <a:buChar char="●"/>
            </a:pPr>
            <a:r>
              <a:rPr lang="en" sz="1507" b="1"/>
              <a:t>Harmfulness: </a:t>
            </a:r>
            <a:r>
              <a:rPr lang="en" sz="1507"/>
              <a:t>evaluate whether an output is inappropriate</a:t>
            </a:r>
            <a:endParaRPr sz="1507"/>
          </a:p>
          <a:p>
            <a:pPr marL="914400" lvl="1" indent="-324326" algn="l" rtl="0">
              <a:lnSpc>
                <a:spcPct val="115000"/>
              </a:lnSpc>
              <a:spcBef>
                <a:spcPts val="0"/>
              </a:spcBef>
              <a:spcAft>
                <a:spcPts val="0"/>
              </a:spcAft>
              <a:buSzPts val="1508"/>
              <a:buChar char="○"/>
            </a:pPr>
            <a:r>
              <a:rPr lang="en" sz="1507"/>
              <a:t>Specifically, in context of customer assistant, denigrates a protected class, or contains sexual or violent content</a:t>
            </a:r>
            <a:endParaRPr sz="1507" b="1"/>
          </a:p>
          <a:p>
            <a:pPr marL="0" lvl="0" indent="0" algn="l" rtl="0">
              <a:lnSpc>
                <a:spcPct val="115000"/>
              </a:lnSpc>
              <a:spcBef>
                <a:spcPts val="1200"/>
              </a:spcBef>
              <a:spcAft>
                <a:spcPts val="0"/>
              </a:spcAft>
              <a:buSzPts val="852"/>
              <a:buNone/>
            </a:pPr>
            <a:endParaRPr sz="1507"/>
          </a:p>
          <a:p>
            <a:pPr marL="0" lvl="0" indent="0" algn="l" rtl="0">
              <a:lnSpc>
                <a:spcPct val="115000"/>
              </a:lnSpc>
              <a:spcBef>
                <a:spcPts val="1200"/>
              </a:spcBef>
              <a:spcAft>
                <a:spcPts val="0"/>
              </a:spcAft>
              <a:buSzPts val="852"/>
              <a:buNone/>
            </a:pPr>
            <a:endParaRPr sz="1507"/>
          </a:p>
          <a:p>
            <a:pPr marL="0" lvl="0" indent="0" algn="l" rtl="0">
              <a:lnSpc>
                <a:spcPct val="115000"/>
              </a:lnSpc>
              <a:spcBef>
                <a:spcPts val="1200"/>
              </a:spcBef>
              <a:spcAft>
                <a:spcPts val="1200"/>
              </a:spcAft>
              <a:buSzPts val="852"/>
              <a:buNone/>
            </a:pPr>
            <a:endParaRPr sz="1507"/>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Evaluation</a:t>
            </a:r>
            <a:endParaRPr/>
          </a:p>
        </p:txBody>
      </p:sp>
      <p:sp>
        <p:nvSpPr>
          <p:cNvPr id="165" name="Google Shape;165;p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sz="1500" b="1"/>
              <a:t>API Distribution</a:t>
            </a:r>
            <a:endParaRPr sz="1500" b="1"/>
          </a:p>
          <a:p>
            <a:pPr marL="914400" lvl="1" indent="-311150" algn="l" rtl="0">
              <a:spcBef>
                <a:spcPts val="0"/>
              </a:spcBef>
              <a:spcAft>
                <a:spcPts val="0"/>
              </a:spcAft>
              <a:buSzPts val="1300"/>
              <a:buChar char="○"/>
            </a:pPr>
            <a:r>
              <a:rPr lang="en" sz="1300"/>
              <a:t>User queries</a:t>
            </a:r>
            <a:endParaRPr sz="1300"/>
          </a:p>
          <a:p>
            <a:pPr marL="914400" lvl="1" indent="-311150" algn="l" rtl="0">
              <a:spcBef>
                <a:spcPts val="0"/>
              </a:spcBef>
              <a:spcAft>
                <a:spcPts val="0"/>
              </a:spcAft>
              <a:buSzPts val="1300"/>
              <a:buChar char="○"/>
            </a:pPr>
            <a:r>
              <a:rPr lang="en" sz="1300"/>
              <a:t>Test on both instruct-type and GPT-3 prompts</a:t>
            </a:r>
            <a:endParaRPr sz="1300"/>
          </a:p>
          <a:p>
            <a:pPr marL="914400" lvl="1" indent="-311150" algn="l" rtl="0">
              <a:spcBef>
                <a:spcPts val="0"/>
              </a:spcBef>
              <a:spcAft>
                <a:spcPts val="0"/>
              </a:spcAft>
              <a:buSzPts val="1300"/>
              <a:buChar char="○"/>
            </a:pPr>
            <a:r>
              <a:rPr lang="en" sz="1300"/>
              <a:t>Calculate how often its outputs are preferred to a baseline (175B SFT)</a:t>
            </a:r>
            <a:endParaRPr sz="1300"/>
          </a:p>
          <a:p>
            <a:pPr marL="914400" lvl="1" indent="-311150" algn="l" rtl="0">
              <a:spcBef>
                <a:spcPts val="0"/>
              </a:spcBef>
              <a:spcAft>
                <a:spcPts val="0"/>
              </a:spcAft>
              <a:buSzPts val="1300"/>
              <a:buChar char="○"/>
            </a:pPr>
            <a:r>
              <a:rPr lang="en" sz="1300"/>
              <a:t>Ask labelers to judge the overall quality of each response</a:t>
            </a:r>
            <a:endParaRPr sz="1300"/>
          </a:p>
          <a:p>
            <a:pPr marL="457200" lvl="0" indent="-323850" algn="l" rtl="0">
              <a:spcBef>
                <a:spcPts val="0"/>
              </a:spcBef>
              <a:spcAft>
                <a:spcPts val="0"/>
              </a:spcAft>
              <a:buSzPts val="1500"/>
              <a:buChar char="●"/>
            </a:pPr>
            <a:r>
              <a:rPr lang="en" sz="1500" b="1"/>
              <a:t>Public NLP Datasets</a:t>
            </a:r>
            <a:endParaRPr sz="1500" b="1"/>
          </a:p>
          <a:p>
            <a:pPr marL="914400" lvl="1" indent="-311150" algn="l" rtl="0">
              <a:spcBef>
                <a:spcPts val="0"/>
              </a:spcBef>
              <a:spcAft>
                <a:spcPts val="0"/>
              </a:spcAft>
              <a:buSzPts val="1300"/>
              <a:buChar char="○"/>
            </a:pPr>
            <a:r>
              <a:rPr lang="en" sz="1300"/>
              <a:t>Benchmark datasets in NLP research</a:t>
            </a:r>
            <a:endParaRPr sz="1300"/>
          </a:p>
          <a:p>
            <a:pPr marL="914400" lvl="1" indent="-311150" algn="l" rtl="0">
              <a:spcBef>
                <a:spcPts val="0"/>
              </a:spcBef>
              <a:spcAft>
                <a:spcPts val="0"/>
              </a:spcAft>
              <a:buSzPts val="1300"/>
              <a:buChar char="○"/>
            </a:pPr>
            <a:r>
              <a:rPr lang="en" sz="1300"/>
              <a:t>Capture an aspect of language model safety, particularly truthfulness, toxicity, and bias</a:t>
            </a:r>
            <a:endParaRPr sz="1300"/>
          </a:p>
          <a:p>
            <a:pPr marL="914400" lvl="1" indent="-311150" algn="l" rtl="0">
              <a:spcBef>
                <a:spcPts val="0"/>
              </a:spcBef>
              <a:spcAft>
                <a:spcPts val="0"/>
              </a:spcAft>
              <a:buSzPts val="1300"/>
              <a:buChar char="○"/>
            </a:pPr>
            <a:r>
              <a:rPr lang="en" sz="1300"/>
              <a:t>Capture zero-shot performance on traditional NLP tasks like question answering, reading comprehension, and summarization</a:t>
            </a:r>
            <a:endParaRPr sz="13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 - API Distribution</a:t>
            </a:r>
            <a:endParaRPr/>
          </a:p>
          <a:p>
            <a:pPr marL="0" lvl="0" indent="0" algn="l" rtl="0">
              <a:spcBef>
                <a:spcPts val="0"/>
              </a:spcBef>
              <a:spcAft>
                <a:spcPts val="0"/>
              </a:spcAft>
              <a:buNone/>
            </a:pPr>
            <a:endParaRPr/>
          </a:p>
        </p:txBody>
      </p:sp>
      <p:pic>
        <p:nvPicPr>
          <p:cNvPr id="171" name="Google Shape;171;p27"/>
          <p:cNvPicPr preferRelativeResize="0"/>
          <p:nvPr/>
        </p:nvPicPr>
        <p:blipFill>
          <a:blip r:embed="rId3">
            <a:alphaModFix/>
          </a:blip>
          <a:stretch>
            <a:fillRect/>
          </a:stretch>
        </p:blipFill>
        <p:spPr>
          <a:xfrm>
            <a:off x="455713" y="1988000"/>
            <a:ext cx="3636775" cy="2984850"/>
          </a:xfrm>
          <a:prstGeom prst="rect">
            <a:avLst/>
          </a:prstGeom>
          <a:noFill/>
          <a:ln>
            <a:noFill/>
          </a:ln>
        </p:spPr>
      </p:pic>
      <p:pic>
        <p:nvPicPr>
          <p:cNvPr id="172" name="Google Shape;172;p27"/>
          <p:cNvPicPr preferRelativeResize="0"/>
          <p:nvPr/>
        </p:nvPicPr>
        <p:blipFill>
          <a:blip r:embed="rId4">
            <a:alphaModFix/>
          </a:blip>
          <a:stretch>
            <a:fillRect/>
          </a:stretch>
        </p:blipFill>
        <p:spPr>
          <a:xfrm>
            <a:off x="4244888" y="2006250"/>
            <a:ext cx="4746711" cy="265108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 - API Distribution</a:t>
            </a:r>
            <a:endParaRPr/>
          </a:p>
        </p:txBody>
      </p:sp>
      <p:pic>
        <p:nvPicPr>
          <p:cNvPr id="178" name="Google Shape;178;p28"/>
          <p:cNvPicPr preferRelativeResize="0"/>
          <p:nvPr/>
        </p:nvPicPr>
        <p:blipFill>
          <a:blip r:embed="rId3">
            <a:alphaModFix/>
          </a:blip>
          <a:stretch>
            <a:fillRect/>
          </a:stretch>
        </p:blipFill>
        <p:spPr>
          <a:xfrm>
            <a:off x="457788" y="1853850"/>
            <a:ext cx="8232028" cy="29848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 - API Distribution</a:t>
            </a:r>
            <a:endParaRPr/>
          </a:p>
        </p:txBody>
      </p:sp>
      <p:pic>
        <p:nvPicPr>
          <p:cNvPr id="184" name="Google Shape;184;p29"/>
          <p:cNvPicPr preferRelativeResize="0"/>
          <p:nvPr/>
        </p:nvPicPr>
        <p:blipFill>
          <a:blip r:embed="rId3">
            <a:alphaModFix/>
          </a:blip>
          <a:stretch>
            <a:fillRect/>
          </a:stretch>
        </p:blipFill>
        <p:spPr>
          <a:xfrm>
            <a:off x="4692300" y="1853850"/>
            <a:ext cx="3725845" cy="2984850"/>
          </a:xfrm>
          <a:prstGeom prst="rect">
            <a:avLst/>
          </a:prstGeom>
          <a:noFill/>
          <a:ln w="9525" cap="flat" cmpd="sng">
            <a:solidFill>
              <a:srgbClr val="000000"/>
            </a:solidFill>
            <a:prstDash val="solid"/>
            <a:round/>
            <a:headEnd type="none" w="sm" len="sm"/>
            <a:tailEnd type="none" w="sm" len="sm"/>
          </a:ln>
        </p:spPr>
      </p:pic>
      <p:sp>
        <p:nvSpPr>
          <p:cNvPr id="185" name="Google Shape;185;p29"/>
          <p:cNvSpPr txBox="1">
            <a:spLocks noGrp="1"/>
          </p:cNvSpPr>
          <p:nvPr>
            <p:ph type="body" idx="1"/>
          </p:nvPr>
        </p:nvSpPr>
        <p:spPr>
          <a:xfrm>
            <a:off x="727650" y="2005575"/>
            <a:ext cx="3844500" cy="22611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SzPts val="1700"/>
              <a:buChar char="●"/>
            </a:pPr>
            <a:r>
              <a:rPr lang="en" sz="1500"/>
              <a:t>FLAN and T0 baselines obtained by fine-tuning a 175B GPT-3 model on the FLAN and T0 datasets</a:t>
            </a:r>
            <a:endParaRPr sz="1500"/>
          </a:p>
          <a:p>
            <a:pPr marL="457200" lvl="0" indent="-336550" algn="l" rtl="0">
              <a:spcBef>
                <a:spcPts val="0"/>
              </a:spcBef>
              <a:spcAft>
                <a:spcPts val="0"/>
              </a:spcAft>
              <a:buSzPts val="1700"/>
              <a:buChar char="●"/>
            </a:pPr>
            <a:r>
              <a:rPr lang="en" sz="1500"/>
              <a:t>InstructGPT outperforms FLAN and T0</a:t>
            </a:r>
            <a:endParaRPr sz="1500"/>
          </a:p>
          <a:p>
            <a:pPr marL="914400" lvl="1" indent="-336550" algn="l" rtl="0">
              <a:spcBef>
                <a:spcPts val="0"/>
              </a:spcBef>
              <a:spcAft>
                <a:spcPts val="0"/>
              </a:spcAft>
              <a:buSzPts val="1700"/>
              <a:buChar char="○"/>
            </a:pPr>
            <a:r>
              <a:rPr lang="en" sz="1300"/>
              <a:t>Not sufficiently diverse to improve performance</a:t>
            </a:r>
            <a:endParaRPr sz="15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 - Public NLP Datasets</a:t>
            </a:r>
            <a:endParaRPr/>
          </a:p>
        </p:txBody>
      </p:sp>
      <p:pic>
        <p:nvPicPr>
          <p:cNvPr id="191" name="Google Shape;191;p30"/>
          <p:cNvPicPr preferRelativeResize="0"/>
          <p:nvPr/>
        </p:nvPicPr>
        <p:blipFill>
          <a:blip r:embed="rId3">
            <a:alphaModFix/>
          </a:blip>
          <a:stretch>
            <a:fillRect/>
          </a:stretch>
        </p:blipFill>
        <p:spPr>
          <a:xfrm>
            <a:off x="1401125" y="1853850"/>
            <a:ext cx="6345344" cy="2984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 - Public NLP Datasets</a:t>
            </a:r>
            <a:endParaRPr/>
          </a:p>
        </p:txBody>
      </p:sp>
      <p:pic>
        <p:nvPicPr>
          <p:cNvPr id="197" name="Google Shape;197;p31"/>
          <p:cNvPicPr preferRelativeResize="0"/>
          <p:nvPr/>
        </p:nvPicPr>
        <p:blipFill rotWithShape="1">
          <a:blip r:embed="rId3">
            <a:alphaModFix/>
          </a:blip>
          <a:srcRect t="7629" r="2969"/>
          <a:stretch/>
        </p:blipFill>
        <p:spPr>
          <a:xfrm>
            <a:off x="251450" y="2006238"/>
            <a:ext cx="5299725" cy="2679925"/>
          </a:xfrm>
          <a:prstGeom prst="rect">
            <a:avLst/>
          </a:prstGeom>
          <a:noFill/>
          <a:ln>
            <a:noFill/>
          </a:ln>
        </p:spPr>
      </p:pic>
      <p:pic>
        <p:nvPicPr>
          <p:cNvPr id="198" name="Google Shape;198;p31"/>
          <p:cNvPicPr preferRelativeResize="0"/>
          <p:nvPr/>
        </p:nvPicPr>
        <p:blipFill>
          <a:blip r:embed="rId4">
            <a:alphaModFix/>
          </a:blip>
          <a:stretch>
            <a:fillRect/>
          </a:stretch>
        </p:blipFill>
        <p:spPr>
          <a:xfrm>
            <a:off x="5551175" y="2055225"/>
            <a:ext cx="3450650" cy="25819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Results - Qualitative Results</a:t>
            </a:r>
            <a:endParaRPr/>
          </a:p>
        </p:txBody>
      </p:sp>
      <p:sp>
        <p:nvSpPr>
          <p:cNvPr id="204" name="Google Shape;204;p32"/>
          <p:cNvSpPr txBox="1">
            <a:spLocks noGrp="1"/>
          </p:cNvSpPr>
          <p:nvPr>
            <p:ph type="body" idx="1"/>
          </p:nvPr>
        </p:nvSpPr>
        <p:spPr>
          <a:xfrm>
            <a:off x="727650" y="2005575"/>
            <a:ext cx="7537500" cy="2261100"/>
          </a:xfrm>
          <a:prstGeom prst="rect">
            <a:avLst/>
          </a:prstGeom>
        </p:spPr>
        <p:txBody>
          <a:bodyPr spcFirstLastPara="1" wrap="square" lIns="91425" tIns="91425" rIns="91425" bIns="91425" anchor="t" anchorCtr="0">
            <a:noAutofit/>
          </a:bodyPr>
          <a:lstStyle/>
          <a:p>
            <a:pPr marL="457200" lvl="0" indent="-336550" algn="l" rtl="0">
              <a:spcBef>
                <a:spcPts val="0"/>
              </a:spcBef>
              <a:spcAft>
                <a:spcPts val="0"/>
              </a:spcAft>
              <a:buSzPts val="1700"/>
              <a:buChar char="●"/>
            </a:pPr>
            <a:r>
              <a:rPr lang="en" sz="1500"/>
              <a:t>InstructGPT models show promising generalization to instructions outside of the RLHF fine tuning distribution</a:t>
            </a:r>
            <a:endParaRPr sz="1500"/>
          </a:p>
          <a:p>
            <a:pPr marL="914400" lvl="1" indent="-311150" algn="l" rtl="0">
              <a:spcBef>
                <a:spcPts val="0"/>
              </a:spcBef>
              <a:spcAft>
                <a:spcPts val="0"/>
              </a:spcAft>
              <a:buSzPts val="1300"/>
              <a:buChar char="○"/>
            </a:pPr>
            <a:r>
              <a:rPr lang="en" sz="1300"/>
              <a:t>Can follow instructions in non-English languages</a:t>
            </a:r>
            <a:endParaRPr sz="1300"/>
          </a:p>
          <a:p>
            <a:pPr marL="914400" lvl="1" indent="-311150" algn="l" rtl="0">
              <a:spcBef>
                <a:spcPts val="0"/>
              </a:spcBef>
              <a:spcAft>
                <a:spcPts val="0"/>
              </a:spcAft>
              <a:buSzPts val="1300"/>
              <a:buChar char="○"/>
            </a:pPr>
            <a:r>
              <a:rPr lang="en" sz="1300"/>
              <a:t>Can summarize and answer questions about code</a:t>
            </a:r>
            <a:endParaRPr sz="1300"/>
          </a:p>
          <a:p>
            <a:pPr marL="457200" lvl="0" indent="-323850" algn="l" rtl="0">
              <a:spcBef>
                <a:spcPts val="0"/>
              </a:spcBef>
              <a:spcAft>
                <a:spcPts val="0"/>
              </a:spcAft>
              <a:buSzPts val="1500"/>
              <a:buChar char="●"/>
            </a:pPr>
            <a:r>
              <a:rPr lang="en" sz="1500"/>
              <a:t>InstructGPT still makes simple mistakes</a:t>
            </a:r>
            <a:endParaRPr sz="1500"/>
          </a:p>
          <a:p>
            <a:pPr marL="914400" lvl="1" indent="-311150" algn="l" rtl="0">
              <a:spcBef>
                <a:spcPts val="0"/>
              </a:spcBef>
              <a:spcAft>
                <a:spcPts val="0"/>
              </a:spcAft>
              <a:buSzPts val="1300"/>
              <a:buChar char="○"/>
            </a:pPr>
            <a:r>
              <a:rPr lang="en" sz="1300"/>
              <a:t>Model sometimes incorrectly assumes a false premise from the prompt is true</a:t>
            </a:r>
            <a:endParaRPr sz="1300"/>
          </a:p>
          <a:p>
            <a:pPr marL="914400" lvl="1" indent="-311150" algn="l" rtl="0">
              <a:spcBef>
                <a:spcPts val="0"/>
              </a:spcBef>
              <a:spcAft>
                <a:spcPts val="0"/>
              </a:spcAft>
              <a:buSzPts val="1300"/>
              <a:buChar char="○"/>
            </a:pPr>
            <a:r>
              <a:rPr lang="en" sz="1300"/>
              <a:t>Model sometimes gives multiple possible answers to simple questions</a:t>
            </a:r>
            <a:endParaRPr sz="1300"/>
          </a:p>
          <a:p>
            <a:pPr marL="914400" lvl="1" indent="-311150" algn="l" rtl="0">
              <a:spcBef>
                <a:spcPts val="0"/>
              </a:spcBef>
              <a:spcAft>
                <a:spcPts val="0"/>
              </a:spcAft>
              <a:buSzPts val="1300"/>
              <a:buChar char="○"/>
            </a:pPr>
            <a:r>
              <a:rPr lang="en" sz="1300"/>
              <a:t>More constraints pose a challenge</a:t>
            </a:r>
            <a:endParaRPr sz="13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Discussion</a:t>
            </a:r>
            <a:endParaRPr/>
          </a:p>
        </p:txBody>
      </p:sp>
      <p:sp>
        <p:nvSpPr>
          <p:cNvPr id="210" name="Google Shape;210;p33"/>
          <p:cNvSpPr txBox="1">
            <a:spLocks noGrp="1"/>
          </p:cNvSpPr>
          <p:nvPr>
            <p:ph type="body" idx="1"/>
          </p:nvPr>
        </p:nvSpPr>
        <p:spPr>
          <a:xfrm>
            <a:off x="727650" y="1927275"/>
            <a:ext cx="7688700" cy="22611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 sz="1500" b="1"/>
              <a:t>Implications</a:t>
            </a:r>
            <a:endParaRPr sz="1500" b="1"/>
          </a:p>
          <a:p>
            <a:pPr marL="914400" lvl="1" indent="-311150" algn="l" rtl="0">
              <a:spcBef>
                <a:spcPts val="0"/>
              </a:spcBef>
              <a:spcAft>
                <a:spcPts val="0"/>
              </a:spcAft>
              <a:buSzPts val="1300"/>
              <a:buChar char="○"/>
            </a:pPr>
            <a:r>
              <a:rPr lang="en" sz="1300"/>
              <a:t>Cost of increasing model alignment is modest relative to pretraining</a:t>
            </a:r>
            <a:endParaRPr sz="1300"/>
          </a:p>
          <a:p>
            <a:pPr marL="914400" lvl="1" indent="-311150" algn="l" rtl="0">
              <a:spcBef>
                <a:spcPts val="0"/>
              </a:spcBef>
              <a:spcAft>
                <a:spcPts val="0"/>
              </a:spcAft>
              <a:buSzPts val="1300"/>
              <a:buChar char="○"/>
            </a:pPr>
            <a:r>
              <a:rPr lang="en" sz="1300"/>
              <a:t>Potential for models to generalize the process of “following instructions”</a:t>
            </a:r>
            <a:endParaRPr sz="1300"/>
          </a:p>
          <a:p>
            <a:pPr marL="914400" lvl="1" indent="-311150" algn="l" rtl="0">
              <a:spcBef>
                <a:spcPts val="0"/>
              </a:spcBef>
              <a:spcAft>
                <a:spcPts val="0"/>
              </a:spcAft>
              <a:buSzPts val="1300"/>
              <a:buChar char="○"/>
            </a:pPr>
            <a:r>
              <a:rPr lang="en" sz="1300"/>
              <a:t>Can minimize performance regressions on public NLP datasets by adding pretraining updates</a:t>
            </a:r>
            <a:endParaRPr sz="1300"/>
          </a:p>
          <a:p>
            <a:pPr marL="457200" lvl="0" indent="-323850" algn="l" rtl="0">
              <a:spcBef>
                <a:spcPts val="0"/>
              </a:spcBef>
              <a:spcAft>
                <a:spcPts val="0"/>
              </a:spcAft>
              <a:buSzPts val="1500"/>
              <a:buChar char="●"/>
            </a:pPr>
            <a:r>
              <a:rPr lang="en" sz="1500" b="1"/>
              <a:t>Alignment Drawbacks</a:t>
            </a:r>
            <a:endParaRPr sz="1500" b="1"/>
          </a:p>
          <a:p>
            <a:pPr marL="914400" lvl="1" indent="-311150" algn="l" rtl="0">
              <a:spcBef>
                <a:spcPts val="0"/>
              </a:spcBef>
              <a:spcAft>
                <a:spcPts val="0"/>
              </a:spcAft>
              <a:buSzPts val="1300"/>
              <a:buChar char="○"/>
            </a:pPr>
            <a:r>
              <a:rPr lang="en" sz="1300"/>
              <a:t>Models are being aligned to the preferences of the specific group of researchers</a:t>
            </a:r>
            <a:endParaRPr sz="1300"/>
          </a:p>
          <a:p>
            <a:pPr marL="914400" lvl="1" indent="-311150" algn="l" rtl="0">
              <a:spcBef>
                <a:spcPts val="0"/>
              </a:spcBef>
              <a:spcAft>
                <a:spcPts val="0"/>
              </a:spcAft>
              <a:buSzPts val="1300"/>
              <a:buChar char="○"/>
            </a:pPr>
            <a:r>
              <a:rPr lang="en" sz="1300"/>
              <a:t>Acknowledges that there is no correct preference</a:t>
            </a:r>
            <a:endParaRPr sz="1300"/>
          </a:p>
          <a:p>
            <a:pPr marL="457200" lvl="0" indent="-323850" algn="l" rtl="0">
              <a:spcBef>
                <a:spcPts val="0"/>
              </a:spcBef>
              <a:spcAft>
                <a:spcPts val="0"/>
              </a:spcAft>
              <a:buSzPts val="1500"/>
              <a:buChar char="●"/>
            </a:pPr>
            <a:r>
              <a:rPr lang="en" sz="1500" b="1"/>
              <a:t>Limitations</a:t>
            </a:r>
            <a:endParaRPr sz="1500" b="1"/>
          </a:p>
          <a:p>
            <a:pPr marL="914400" lvl="1" indent="-311150" algn="l" rtl="0">
              <a:spcBef>
                <a:spcPts val="0"/>
              </a:spcBef>
              <a:spcAft>
                <a:spcPts val="0"/>
              </a:spcAft>
              <a:buSzPts val="1300"/>
              <a:buChar char="○"/>
            </a:pPr>
            <a:r>
              <a:rPr lang="en" sz="1300"/>
              <a:t>Labeling tasks may have been impacted by group of contractors</a:t>
            </a:r>
            <a:endParaRPr sz="1300"/>
          </a:p>
          <a:p>
            <a:pPr marL="914400" lvl="1" indent="-311150" algn="l" rtl="0">
              <a:spcBef>
                <a:spcPts val="0"/>
              </a:spcBef>
              <a:spcAft>
                <a:spcPts val="0"/>
              </a:spcAft>
              <a:buSzPts val="1300"/>
              <a:buChar char="○"/>
            </a:pPr>
            <a:r>
              <a:rPr lang="en" sz="1300"/>
              <a:t>Models can still make mistakes or hallucinate</a:t>
            </a:r>
            <a:endParaRPr sz="13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RLHFuse: Efficient RLHF Training for Large Language Models with Inter- and Intra-Stage Fusion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Main Issues in Current RLHF</a:t>
            </a:r>
            <a:endParaRPr/>
          </a:p>
        </p:txBody>
      </p:sp>
      <p:sp>
        <p:nvSpPr>
          <p:cNvPr id="221" name="Google Shape;221;p35"/>
          <p:cNvSpPr txBox="1">
            <a:spLocks noGrp="1"/>
          </p:cNvSpPr>
          <p:nvPr>
            <p:ph type="body" idx="1"/>
          </p:nvPr>
        </p:nvSpPr>
        <p:spPr>
          <a:xfrm>
            <a:off x="729450" y="2078875"/>
            <a:ext cx="3842700" cy="1145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Data Skewness in Generation Stage</a:t>
            </a:r>
            <a:endParaRPr/>
          </a:p>
          <a:p>
            <a:pPr marL="457200" lvl="0" indent="-311150" algn="l" rtl="0">
              <a:spcBef>
                <a:spcPts val="1200"/>
              </a:spcBef>
              <a:spcAft>
                <a:spcPts val="0"/>
              </a:spcAft>
              <a:buSzPts val="1300"/>
              <a:buChar char="-"/>
            </a:pPr>
            <a:r>
              <a:rPr lang="en"/>
              <a:t>GPUs are idle while longer texts are processed</a:t>
            </a:r>
            <a:endParaRPr/>
          </a:p>
        </p:txBody>
      </p:sp>
      <p:sp>
        <p:nvSpPr>
          <p:cNvPr id="222" name="Google Shape;222;p35"/>
          <p:cNvSpPr txBox="1">
            <a:spLocks noGrp="1"/>
          </p:cNvSpPr>
          <p:nvPr>
            <p:ph type="body" idx="1"/>
          </p:nvPr>
        </p:nvSpPr>
        <p:spPr>
          <a:xfrm>
            <a:off x="4572000" y="2078875"/>
            <a:ext cx="3842700" cy="1145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Pipeline bubbles in Training Stage</a:t>
            </a:r>
            <a:endParaRPr/>
          </a:p>
          <a:p>
            <a:pPr marL="457200" lvl="0" indent="-311150" algn="l" rtl="0">
              <a:spcBef>
                <a:spcPts val="1200"/>
              </a:spcBef>
              <a:spcAft>
                <a:spcPts val="0"/>
              </a:spcAft>
              <a:buSzPts val="1300"/>
              <a:buChar char="-"/>
            </a:pPr>
            <a:r>
              <a:rPr lang="en"/>
              <a:t>GPUs are idle due to inefficiencies cause by higher pipeline parallelism</a:t>
            </a:r>
            <a:endParaRPr/>
          </a:p>
        </p:txBody>
      </p:sp>
      <p:sp>
        <p:nvSpPr>
          <p:cNvPr id="223" name="Google Shape;223;p35"/>
          <p:cNvSpPr txBox="1">
            <a:spLocks noGrp="1"/>
          </p:cNvSpPr>
          <p:nvPr>
            <p:ph type="body" idx="1"/>
          </p:nvPr>
        </p:nvSpPr>
        <p:spPr>
          <a:xfrm>
            <a:off x="671100" y="3712300"/>
            <a:ext cx="7688700" cy="1145700"/>
          </a:xfrm>
          <a:prstGeom prst="rect">
            <a:avLst/>
          </a:prstGeom>
        </p:spPr>
        <p:txBody>
          <a:bodyPr spcFirstLastPara="1" wrap="square" lIns="91425" tIns="91425" rIns="91425" bIns="91425" anchor="t" anchorCtr="0">
            <a:normAutofit/>
          </a:bodyPr>
          <a:lstStyle/>
          <a:p>
            <a:pPr marL="457200" lvl="0" indent="0" algn="l" rtl="0">
              <a:spcBef>
                <a:spcPts val="0"/>
              </a:spcBef>
              <a:spcAft>
                <a:spcPts val="1200"/>
              </a:spcAft>
              <a:buNone/>
            </a:pPr>
            <a:r>
              <a:rPr lang="en"/>
              <a:t>These Issues arise because existing systems treat each task as the smallest execution unit, thus over-looking opportunities for subtask level optimization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RLHF Workflow</a:t>
            </a:r>
            <a:endParaRPr/>
          </a:p>
        </p:txBody>
      </p:sp>
      <p:sp>
        <p:nvSpPr>
          <p:cNvPr id="229" name="Google Shape;229;p36"/>
          <p:cNvSpPr txBox="1">
            <a:spLocks noGrp="1"/>
          </p:cNvSpPr>
          <p:nvPr>
            <p:ph type="body" idx="1"/>
          </p:nvPr>
        </p:nvSpPr>
        <p:spPr>
          <a:xfrm>
            <a:off x="729450" y="2078875"/>
            <a:ext cx="2327400" cy="2685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Generation Stage</a:t>
            </a:r>
            <a:endParaRPr/>
          </a:p>
          <a:p>
            <a:pPr marL="457200" lvl="0" indent="-311150" algn="l" rtl="0">
              <a:spcBef>
                <a:spcPts val="1200"/>
              </a:spcBef>
              <a:spcAft>
                <a:spcPts val="0"/>
              </a:spcAft>
              <a:buSzPts val="1300"/>
              <a:buChar char="-"/>
            </a:pPr>
            <a:r>
              <a:rPr lang="en"/>
              <a:t>Actor Model generates response for input prompts</a:t>
            </a:r>
            <a:endParaRPr/>
          </a:p>
          <a:p>
            <a:pPr marL="457200" lvl="0" indent="-311150" algn="l" rtl="0">
              <a:spcBef>
                <a:spcPts val="0"/>
              </a:spcBef>
              <a:spcAft>
                <a:spcPts val="0"/>
              </a:spcAft>
              <a:buSzPts val="1300"/>
              <a:buChar char="-"/>
            </a:pPr>
            <a:r>
              <a:rPr lang="en"/>
              <a:t>Processes the prompt (prefill phase)</a:t>
            </a:r>
            <a:endParaRPr/>
          </a:p>
          <a:p>
            <a:pPr marL="457200" lvl="0" indent="-311150" algn="l" rtl="0">
              <a:spcBef>
                <a:spcPts val="0"/>
              </a:spcBef>
              <a:spcAft>
                <a:spcPts val="0"/>
              </a:spcAft>
              <a:buSzPts val="1300"/>
              <a:buChar char="-"/>
            </a:pPr>
            <a:r>
              <a:rPr lang="en"/>
              <a:t>Generates token sequentially (decode phase)</a:t>
            </a:r>
            <a:endParaRPr/>
          </a:p>
        </p:txBody>
      </p:sp>
      <p:sp>
        <p:nvSpPr>
          <p:cNvPr id="230" name="Google Shape;230;p36"/>
          <p:cNvSpPr txBox="1">
            <a:spLocks noGrp="1"/>
          </p:cNvSpPr>
          <p:nvPr>
            <p:ph type="body" idx="1"/>
          </p:nvPr>
        </p:nvSpPr>
        <p:spPr>
          <a:xfrm>
            <a:off x="3408300" y="2078875"/>
            <a:ext cx="2327400" cy="2685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Inference Stage</a:t>
            </a:r>
            <a:endParaRPr/>
          </a:p>
          <a:p>
            <a:pPr marL="457200" lvl="0" indent="-311150" algn="l" rtl="0">
              <a:spcBef>
                <a:spcPts val="1200"/>
              </a:spcBef>
              <a:spcAft>
                <a:spcPts val="0"/>
              </a:spcAft>
              <a:buSzPts val="1300"/>
              <a:buChar char="-"/>
            </a:pPr>
            <a:r>
              <a:rPr lang="en"/>
              <a:t>Reference, Reward, and Critic Model perform forward pass</a:t>
            </a:r>
            <a:endParaRPr/>
          </a:p>
          <a:p>
            <a:pPr marL="457200" lvl="0" indent="-311150" algn="l" rtl="0">
              <a:spcBef>
                <a:spcPts val="0"/>
              </a:spcBef>
              <a:spcAft>
                <a:spcPts val="0"/>
              </a:spcAft>
              <a:buSzPts val="1300"/>
              <a:buChar char="-"/>
            </a:pPr>
            <a:r>
              <a:rPr lang="en"/>
              <a:t>Calculates values for training stage</a:t>
            </a:r>
            <a:endParaRPr/>
          </a:p>
        </p:txBody>
      </p:sp>
      <p:sp>
        <p:nvSpPr>
          <p:cNvPr id="231" name="Google Shape;231;p36"/>
          <p:cNvSpPr txBox="1">
            <a:spLocks noGrp="1"/>
          </p:cNvSpPr>
          <p:nvPr>
            <p:ph type="body" idx="1"/>
          </p:nvPr>
        </p:nvSpPr>
        <p:spPr>
          <a:xfrm>
            <a:off x="6087150" y="2078875"/>
            <a:ext cx="2327400" cy="2685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Training Stage</a:t>
            </a:r>
            <a:endParaRPr/>
          </a:p>
          <a:p>
            <a:pPr marL="457200" lvl="0" indent="-311150" algn="l" rtl="0">
              <a:spcBef>
                <a:spcPts val="1200"/>
              </a:spcBef>
              <a:spcAft>
                <a:spcPts val="0"/>
              </a:spcAft>
              <a:buSzPts val="1300"/>
              <a:buChar char="-"/>
            </a:pPr>
            <a:r>
              <a:rPr lang="en"/>
              <a:t>Samples divided into mini-batches</a:t>
            </a:r>
            <a:endParaRPr/>
          </a:p>
          <a:p>
            <a:pPr marL="457200" lvl="0" indent="-311150" algn="l" rtl="0">
              <a:spcBef>
                <a:spcPts val="0"/>
              </a:spcBef>
              <a:spcAft>
                <a:spcPts val="0"/>
              </a:spcAft>
              <a:buSzPts val="1300"/>
              <a:buChar char="-"/>
            </a:pPr>
            <a:r>
              <a:rPr lang="en"/>
              <a:t>Actor and Critic update after training</a:t>
            </a:r>
            <a:endParaRPr/>
          </a:p>
          <a:p>
            <a:pPr marL="457200" lvl="0" indent="-311150" algn="l" rtl="0">
              <a:spcBef>
                <a:spcPts val="0"/>
              </a:spcBef>
              <a:spcAft>
                <a:spcPts val="0"/>
              </a:spcAft>
              <a:buSzPts val="1300"/>
              <a:buChar char="-"/>
            </a:pPr>
            <a:r>
              <a:rPr lang="en"/>
              <a:t>Follows Proximal Policy Optimization algorithm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LLM Parallelism</a:t>
            </a:r>
            <a:endParaRPr/>
          </a:p>
        </p:txBody>
      </p:sp>
      <p:sp>
        <p:nvSpPr>
          <p:cNvPr id="237" name="Google Shape;237;p3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Parallelism: Replicate Model weights and distribute data among replicas</a:t>
            </a:r>
            <a:endParaRPr/>
          </a:p>
          <a:p>
            <a:pPr marL="0" lvl="0" indent="0" algn="l" rtl="0">
              <a:spcBef>
                <a:spcPts val="1200"/>
              </a:spcBef>
              <a:spcAft>
                <a:spcPts val="0"/>
              </a:spcAft>
              <a:buNone/>
            </a:pPr>
            <a:endParaRPr/>
          </a:p>
          <a:p>
            <a:pPr marL="0" lvl="0" indent="0" algn="l" rtl="0">
              <a:spcBef>
                <a:spcPts val="1200"/>
              </a:spcBef>
              <a:spcAft>
                <a:spcPts val="0"/>
              </a:spcAft>
              <a:buNone/>
            </a:pPr>
            <a:r>
              <a:rPr lang="en"/>
              <a:t>Tensor Parallelism: Partitioning computationally intensive operators across multiple GPUs</a:t>
            </a:r>
            <a:endParaRPr/>
          </a:p>
          <a:p>
            <a:pPr marL="0" lvl="0" indent="0" algn="l" rtl="0">
              <a:spcBef>
                <a:spcPts val="1200"/>
              </a:spcBef>
              <a:spcAft>
                <a:spcPts val="0"/>
              </a:spcAft>
              <a:buNone/>
            </a:pPr>
            <a:endParaRPr/>
          </a:p>
          <a:p>
            <a:pPr marL="0" lvl="0" indent="0" algn="l" rtl="0">
              <a:spcBef>
                <a:spcPts val="1200"/>
              </a:spcBef>
              <a:spcAft>
                <a:spcPts val="1200"/>
              </a:spcAft>
              <a:buNone/>
            </a:pPr>
            <a:r>
              <a:rPr lang="en"/>
              <a:t>Pipeline Parallelism: Organizing LLM layers into stages running on separate device or nodes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Proposed Solution</a:t>
            </a:r>
            <a:endParaRPr/>
          </a:p>
        </p:txBody>
      </p:sp>
      <p:sp>
        <p:nvSpPr>
          <p:cNvPr id="243" name="Google Shape;243;p38"/>
          <p:cNvSpPr txBox="1">
            <a:spLocks noGrp="1"/>
          </p:cNvSpPr>
          <p:nvPr>
            <p:ph type="body" idx="1"/>
          </p:nvPr>
        </p:nvSpPr>
        <p:spPr>
          <a:xfrm>
            <a:off x="729450" y="2078875"/>
            <a:ext cx="3842700" cy="2612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Data-Aware inter-stage fusion</a:t>
            </a:r>
            <a:endParaRPr/>
          </a:p>
          <a:p>
            <a:pPr marL="457200" lvl="0" indent="-311150" algn="l" rtl="0">
              <a:spcBef>
                <a:spcPts val="1200"/>
              </a:spcBef>
              <a:spcAft>
                <a:spcPts val="0"/>
              </a:spcAft>
              <a:buSzPts val="1300"/>
              <a:buChar char="-"/>
            </a:pPr>
            <a:r>
              <a:rPr lang="en"/>
              <a:t>Splits generation and inference task into sample level subtasks allowing for efficient overlap between stages</a:t>
            </a:r>
            <a:endParaRPr/>
          </a:p>
        </p:txBody>
      </p:sp>
      <p:sp>
        <p:nvSpPr>
          <p:cNvPr id="244" name="Google Shape;244;p38"/>
          <p:cNvSpPr txBox="1">
            <a:spLocks noGrp="1"/>
          </p:cNvSpPr>
          <p:nvPr>
            <p:ph type="body" idx="1"/>
          </p:nvPr>
        </p:nvSpPr>
        <p:spPr>
          <a:xfrm>
            <a:off x="4572000" y="2078875"/>
            <a:ext cx="3842700" cy="2612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Model-Aware intra-stage fusion</a:t>
            </a:r>
            <a:endParaRPr/>
          </a:p>
          <a:p>
            <a:pPr marL="457200" lvl="0" indent="-311150" algn="l" rtl="0">
              <a:spcBef>
                <a:spcPts val="1200"/>
              </a:spcBef>
              <a:spcAft>
                <a:spcPts val="0"/>
              </a:spcAft>
              <a:buSzPts val="1300"/>
              <a:buChar char="-"/>
            </a:pPr>
            <a:r>
              <a:rPr lang="en"/>
              <a:t>Breaks training tasks into micro-batch subtasks and enable concurrent execution through a fused pipeline schedule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Data-Aware Inter-Stage Fusion</a:t>
            </a:r>
            <a:endParaRPr/>
          </a:p>
        </p:txBody>
      </p:sp>
      <p:sp>
        <p:nvSpPr>
          <p:cNvPr id="250" name="Google Shape;250;p3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Improves GPU utilization by overlapping the execution of generation and inference stages </a:t>
            </a:r>
            <a:endParaRPr/>
          </a:p>
          <a:p>
            <a:pPr marL="457200" lvl="0" indent="-311150" algn="l" rtl="0">
              <a:spcBef>
                <a:spcPts val="1200"/>
              </a:spcBef>
              <a:spcAft>
                <a:spcPts val="0"/>
              </a:spcAft>
              <a:buSzPts val="1300"/>
              <a:buChar char="-"/>
            </a:pPr>
            <a:r>
              <a:rPr lang="en" b="1"/>
              <a:t>Migration triggering</a:t>
            </a:r>
            <a:r>
              <a:rPr lang="en"/>
              <a:t>: Detect when generation stage enters the long-tail decoding phase, where most samples have finished but a few are still processing</a:t>
            </a:r>
            <a:endParaRPr/>
          </a:p>
          <a:p>
            <a:pPr marL="457200" lvl="0" indent="-311150" algn="l" rtl="0">
              <a:spcBef>
                <a:spcPts val="0"/>
              </a:spcBef>
              <a:spcAft>
                <a:spcPts val="0"/>
              </a:spcAft>
              <a:buSzPts val="1300"/>
              <a:buChar char="-"/>
            </a:pPr>
            <a:r>
              <a:rPr lang="en" b="1"/>
              <a:t>Sample migration</a:t>
            </a:r>
            <a:r>
              <a:rPr lang="en"/>
              <a:t>: Consolidating remaining long-tailed samples to a few designated instances, free up resources for inference tasks</a:t>
            </a:r>
            <a:endParaRPr/>
          </a:p>
          <a:p>
            <a:pPr marL="457200" lvl="0" indent="-311150" algn="l" rtl="0">
              <a:spcBef>
                <a:spcPts val="0"/>
              </a:spcBef>
              <a:spcAft>
                <a:spcPts val="0"/>
              </a:spcAft>
              <a:buSzPts val="1300"/>
              <a:buChar char="-"/>
            </a:pPr>
            <a:r>
              <a:rPr lang="en" b="1"/>
              <a:t>Resource repurposing</a:t>
            </a:r>
            <a:r>
              <a:rPr lang="en"/>
              <a:t>: Launching inference tasks on the released resources while long-tailed samples are still being processed</a:t>
            </a:r>
            <a:endParaRPr/>
          </a:p>
          <a:p>
            <a:pPr marL="0" lvl="0" indent="0" algn="l" rtl="0">
              <a:spcBef>
                <a:spcPts val="1200"/>
              </a:spcBef>
              <a:spcAft>
                <a:spcPts val="120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Optimizing Migration Strategy</a:t>
            </a:r>
            <a:endParaRPr/>
          </a:p>
        </p:txBody>
      </p:sp>
      <p:sp>
        <p:nvSpPr>
          <p:cNvPr id="256" name="Google Shape;256;p40"/>
          <p:cNvSpPr txBox="1">
            <a:spLocks noGrp="1"/>
          </p:cNvSpPr>
          <p:nvPr>
            <p:ph type="body" idx="1"/>
          </p:nvPr>
        </p:nvSpPr>
        <p:spPr>
          <a:xfrm>
            <a:off x="729450" y="2078875"/>
            <a:ext cx="7688700" cy="26706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Timing is determined by a threshold that triggers migration when the number of sample falls below this value</a:t>
            </a:r>
            <a:endParaRPr/>
          </a:p>
          <a:p>
            <a:pPr marL="0" lvl="0" indent="0" algn="l" rtl="0">
              <a:spcBef>
                <a:spcPts val="1200"/>
              </a:spcBef>
              <a:spcAft>
                <a:spcPts val="0"/>
              </a:spcAft>
              <a:buNone/>
            </a:pPr>
            <a:endParaRPr/>
          </a:p>
          <a:p>
            <a:pPr marL="457200" lvl="0" indent="-311150" algn="l" rtl="0">
              <a:spcBef>
                <a:spcPts val="1200"/>
              </a:spcBef>
              <a:spcAft>
                <a:spcPts val="0"/>
              </a:spcAft>
              <a:buSzPts val="1300"/>
              <a:buChar char="-"/>
            </a:pPr>
            <a:r>
              <a:rPr lang="en"/>
              <a:t>Choose best m generation instances to handle remaining samples based on both computational characteristics and memory constraints</a:t>
            </a:r>
            <a:endParaRPr/>
          </a:p>
          <a:p>
            <a:pPr marL="0" lvl="0" indent="0" algn="l" rtl="0">
              <a:spcBef>
                <a:spcPts val="1200"/>
              </a:spcBef>
              <a:spcAft>
                <a:spcPts val="0"/>
              </a:spcAft>
              <a:buNone/>
            </a:pPr>
            <a:endParaRPr/>
          </a:p>
          <a:p>
            <a:pPr marL="457200" lvl="0" indent="-311150" algn="l" rtl="0">
              <a:spcBef>
                <a:spcPts val="1200"/>
              </a:spcBef>
              <a:spcAft>
                <a:spcPts val="0"/>
              </a:spcAft>
              <a:buSzPts val="1300"/>
              <a:buChar char="-"/>
            </a:pPr>
            <a:r>
              <a:rPr lang="en"/>
              <a:t>Transfer the generated key-value cache over the network over transmitting generated tokens and rerunning the prefill phase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Intra-Stage Fusion</a:t>
            </a:r>
            <a:endParaRPr/>
          </a:p>
        </p:txBody>
      </p:sp>
      <p:sp>
        <p:nvSpPr>
          <p:cNvPr id="262" name="Google Shape;262;p41"/>
          <p:cNvSpPr txBox="1">
            <a:spLocks noGrp="1"/>
          </p:cNvSpPr>
          <p:nvPr>
            <p:ph type="body" idx="1"/>
          </p:nvPr>
        </p:nvSpPr>
        <p:spPr>
          <a:xfrm>
            <a:off x="729450" y="2078875"/>
            <a:ext cx="3842700" cy="26124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Chimera: Replication-based scheduling (1F1B)</a:t>
            </a:r>
            <a:endParaRPr/>
          </a:p>
          <a:p>
            <a:pPr marL="457200" lvl="0" indent="-311150" algn="l" rtl="0">
              <a:spcBef>
                <a:spcPts val="0"/>
              </a:spcBef>
              <a:spcAft>
                <a:spcPts val="0"/>
              </a:spcAft>
              <a:buSzPts val="1300"/>
              <a:buChar char="-"/>
            </a:pPr>
            <a:r>
              <a:rPr lang="en"/>
              <a:t>Symmetric Execution Flow</a:t>
            </a:r>
            <a:endParaRPr/>
          </a:p>
        </p:txBody>
      </p:sp>
      <p:pic>
        <p:nvPicPr>
          <p:cNvPr id="263" name="Google Shape;263;p41"/>
          <p:cNvPicPr preferRelativeResize="0"/>
          <p:nvPr/>
        </p:nvPicPr>
        <p:blipFill>
          <a:blip r:embed="rId3">
            <a:alphaModFix/>
          </a:blip>
          <a:stretch>
            <a:fillRect/>
          </a:stretch>
        </p:blipFill>
        <p:spPr>
          <a:xfrm>
            <a:off x="1458538" y="3140927"/>
            <a:ext cx="6226925" cy="2002575"/>
          </a:xfrm>
          <a:prstGeom prst="rect">
            <a:avLst/>
          </a:prstGeom>
          <a:noFill/>
          <a:ln>
            <a:noFill/>
          </a:ln>
        </p:spPr>
      </p:pic>
      <p:sp>
        <p:nvSpPr>
          <p:cNvPr id="264" name="Google Shape;264;p41"/>
          <p:cNvSpPr txBox="1">
            <a:spLocks noGrp="1"/>
          </p:cNvSpPr>
          <p:nvPr>
            <p:ph type="body" idx="1"/>
          </p:nvPr>
        </p:nvSpPr>
        <p:spPr>
          <a:xfrm>
            <a:off x="4572150" y="2078875"/>
            <a:ext cx="3842700" cy="26124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RLHFuse: Interleaves forward and backward passes from </a:t>
            </a:r>
            <a:r>
              <a:rPr lang="en" b="1"/>
              <a:t>different</a:t>
            </a:r>
            <a:r>
              <a:rPr lang="en"/>
              <a:t> models</a:t>
            </a:r>
            <a:endParaRPr/>
          </a:p>
          <a:p>
            <a:pPr marL="457200" lvl="0" indent="-311150" algn="l" rtl="0">
              <a:spcBef>
                <a:spcPts val="0"/>
              </a:spcBef>
              <a:spcAft>
                <a:spcPts val="0"/>
              </a:spcAft>
              <a:buSzPts val="1300"/>
              <a:buChar char="-"/>
            </a:pPr>
            <a:r>
              <a:rPr lang="en"/>
              <a:t>Different models with different optimal execution strategies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2"/>
          <p:cNvSpPr txBox="1">
            <a:spLocks noGrp="1"/>
          </p:cNvSpPr>
          <p:nvPr>
            <p:ph type="body" idx="1"/>
          </p:nvPr>
        </p:nvSpPr>
        <p:spPr>
          <a:xfrm>
            <a:off x="729450" y="2078875"/>
            <a:ext cx="44556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endParaRPr/>
          </a:p>
        </p:txBody>
      </p:sp>
      <p:grpSp>
        <p:nvGrpSpPr>
          <p:cNvPr id="270" name="Google Shape;270;p42"/>
          <p:cNvGrpSpPr/>
          <p:nvPr/>
        </p:nvGrpSpPr>
        <p:grpSpPr>
          <a:xfrm>
            <a:off x="-175" y="98237"/>
            <a:ext cx="9144354" cy="4947023"/>
            <a:chOff x="0" y="78900"/>
            <a:chExt cx="8680799" cy="4810875"/>
          </a:xfrm>
        </p:grpSpPr>
        <p:pic>
          <p:nvPicPr>
            <p:cNvPr id="271" name="Google Shape;271;p42"/>
            <p:cNvPicPr preferRelativeResize="0"/>
            <p:nvPr/>
          </p:nvPicPr>
          <p:blipFill rotWithShape="1">
            <a:blip r:embed="rId3">
              <a:alphaModFix/>
            </a:blip>
            <a:srcRect/>
            <a:stretch/>
          </p:blipFill>
          <p:spPr>
            <a:xfrm>
              <a:off x="0" y="78900"/>
              <a:ext cx="8680799" cy="4810750"/>
            </a:xfrm>
            <a:prstGeom prst="rect">
              <a:avLst/>
            </a:prstGeom>
            <a:noFill/>
            <a:ln>
              <a:noFill/>
            </a:ln>
          </p:spPr>
        </p:pic>
        <p:sp>
          <p:nvSpPr>
            <p:cNvPr id="272" name="Google Shape;272;p42"/>
            <p:cNvSpPr/>
            <p:nvPr/>
          </p:nvSpPr>
          <p:spPr>
            <a:xfrm>
              <a:off x="0" y="4092375"/>
              <a:ext cx="4357200" cy="7974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273" name="Google Shape;273;p42"/>
          <p:cNvSpPr txBox="1"/>
          <p:nvPr/>
        </p:nvSpPr>
        <p:spPr>
          <a:xfrm>
            <a:off x="185100" y="4317350"/>
            <a:ext cx="4029000" cy="603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500">
                <a:solidFill>
                  <a:schemeClr val="accent1"/>
                </a:solidFill>
                <a:latin typeface="Lato"/>
                <a:ea typeface="Lato"/>
                <a:cs typeface="Lato"/>
                <a:sym typeface="Lato"/>
              </a:rPr>
              <a:t>Simulated Annealing Algorithm</a:t>
            </a:r>
            <a:endParaRPr sz="1500">
              <a:solidFill>
                <a:schemeClr val="accen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4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Implementation</a:t>
            </a:r>
            <a:endParaRPr/>
          </a:p>
        </p:txBody>
      </p:sp>
      <p:sp>
        <p:nvSpPr>
          <p:cNvPr id="279" name="Google Shape;279;p43"/>
          <p:cNvSpPr txBox="1">
            <a:spLocks noGrp="1"/>
          </p:cNvSpPr>
          <p:nvPr>
            <p:ph type="body" idx="1"/>
          </p:nvPr>
        </p:nvSpPr>
        <p:spPr>
          <a:xfrm>
            <a:off x="729450" y="2078875"/>
            <a:ext cx="3842400" cy="2261100"/>
          </a:xfrm>
          <a:prstGeom prst="rect">
            <a:avLst/>
          </a:prstGeom>
        </p:spPr>
        <p:txBody>
          <a:bodyPr spcFirstLastPara="1" wrap="square" lIns="91425" tIns="91425" rIns="91425" bIns="91425" anchor="t" anchorCtr="0">
            <a:normAutofit/>
          </a:bodyPr>
          <a:lstStyle/>
          <a:p>
            <a:pPr marL="457200" lvl="0" indent="-311150" algn="l" rtl="0">
              <a:lnSpc>
                <a:spcPct val="105000"/>
              </a:lnSpc>
              <a:spcBef>
                <a:spcPts val="0"/>
              </a:spcBef>
              <a:spcAft>
                <a:spcPts val="0"/>
              </a:spcAft>
              <a:buSzPts val="1300"/>
              <a:buChar char="-"/>
            </a:pPr>
            <a:r>
              <a:rPr lang="en"/>
              <a:t>NVIDIA’s Megatron-LM</a:t>
            </a:r>
            <a:endParaRPr/>
          </a:p>
          <a:p>
            <a:pPr marL="457200" lvl="0" indent="-311150" algn="l" rtl="0">
              <a:lnSpc>
                <a:spcPct val="105000"/>
              </a:lnSpc>
              <a:spcBef>
                <a:spcPts val="0"/>
              </a:spcBef>
              <a:spcAft>
                <a:spcPts val="0"/>
              </a:spcAft>
              <a:buSzPts val="1300"/>
              <a:buChar char="-"/>
            </a:pPr>
            <a:r>
              <a:rPr lang="en"/>
              <a:t>Uses similar ideas to ReaLHF for optimization</a:t>
            </a:r>
            <a:endParaRPr/>
          </a:p>
          <a:p>
            <a:pPr marL="457200" lvl="0" indent="-311150" algn="l" rtl="0">
              <a:lnSpc>
                <a:spcPct val="105000"/>
              </a:lnSpc>
              <a:spcBef>
                <a:spcPts val="0"/>
              </a:spcBef>
              <a:spcAft>
                <a:spcPts val="0"/>
              </a:spcAft>
              <a:buSzPts val="1300"/>
              <a:buChar char="-"/>
            </a:pPr>
            <a:r>
              <a:rPr lang="en"/>
              <a:t>Built a simulator to predict performance</a:t>
            </a:r>
            <a:endParaRPr/>
          </a:p>
          <a:p>
            <a:pPr marL="457200" lvl="0" indent="-311150" algn="l" rtl="0">
              <a:lnSpc>
                <a:spcPct val="105000"/>
              </a:lnSpc>
              <a:spcBef>
                <a:spcPts val="0"/>
              </a:spcBef>
              <a:spcAft>
                <a:spcPts val="0"/>
              </a:spcAft>
              <a:buSzPts val="1300"/>
              <a:buChar char="-"/>
            </a:pPr>
            <a:r>
              <a:rPr lang="en"/>
              <a:t>Brute-Force Searching for optimal configuration</a:t>
            </a:r>
            <a:endParaRPr/>
          </a:p>
          <a:p>
            <a:pPr marL="457200" lvl="0" indent="-311150" algn="l" rtl="0">
              <a:lnSpc>
                <a:spcPct val="105000"/>
              </a:lnSpc>
              <a:spcBef>
                <a:spcPts val="0"/>
              </a:spcBef>
              <a:spcAft>
                <a:spcPts val="0"/>
              </a:spcAft>
              <a:buSzPts val="1300"/>
              <a:buChar char="-"/>
            </a:pPr>
            <a:r>
              <a:rPr lang="en"/>
              <a:t>Simulator re-used for inter-stage fusion migration threshold</a:t>
            </a:r>
            <a:endParaRPr/>
          </a:p>
          <a:p>
            <a:pPr marL="457200" lvl="0" indent="-311150" algn="l" rtl="0">
              <a:lnSpc>
                <a:spcPct val="105000"/>
              </a:lnSpc>
              <a:spcBef>
                <a:spcPts val="0"/>
              </a:spcBef>
              <a:spcAft>
                <a:spcPts val="0"/>
              </a:spcAft>
              <a:buSzPts val="1300"/>
              <a:buChar char="-"/>
            </a:pPr>
            <a:r>
              <a:rPr lang="en"/>
              <a:t>Annealing algorithm with random seeds (MPI)</a:t>
            </a:r>
            <a:endParaRPr/>
          </a:p>
        </p:txBody>
      </p:sp>
      <p:sp>
        <p:nvSpPr>
          <p:cNvPr id="280" name="Google Shape;280;p43"/>
          <p:cNvSpPr txBox="1">
            <a:spLocks noGrp="1"/>
          </p:cNvSpPr>
          <p:nvPr>
            <p:ph type="body" idx="1"/>
          </p:nvPr>
        </p:nvSpPr>
        <p:spPr>
          <a:xfrm>
            <a:off x="4571850" y="2078875"/>
            <a:ext cx="38424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Generation Stage: Optimized CUDA engine</a:t>
            </a:r>
            <a:endParaRPr/>
          </a:p>
          <a:p>
            <a:pPr marL="457200" lvl="0" indent="-311150" algn="l" rtl="0">
              <a:spcBef>
                <a:spcPts val="0"/>
              </a:spcBef>
              <a:spcAft>
                <a:spcPts val="0"/>
              </a:spcAft>
              <a:buSzPts val="1300"/>
              <a:buChar char="-"/>
            </a:pPr>
            <a:r>
              <a:rPr lang="en"/>
              <a:t>Inference Stage: Converts recursive computations to single matrix multiplication</a:t>
            </a:r>
            <a:endParaRPr/>
          </a:p>
          <a:p>
            <a:pPr marL="457200" lvl="0" indent="-311150" algn="l" rtl="0">
              <a:spcBef>
                <a:spcPts val="0"/>
              </a:spcBef>
              <a:spcAft>
                <a:spcPts val="0"/>
              </a:spcAft>
              <a:buSzPts val="1300"/>
              <a:buChar char="-"/>
            </a:pPr>
            <a:r>
              <a:rPr lang="en"/>
              <a:t>Training Stage: Balances work distribution across DP groups</a:t>
            </a:r>
            <a:endParaRPr/>
          </a:p>
          <a:p>
            <a:pPr marL="457200" lvl="0" indent="-311150" algn="l" rtl="0">
              <a:spcBef>
                <a:spcPts val="0"/>
              </a:spcBef>
              <a:spcAft>
                <a:spcPts val="0"/>
              </a:spcAft>
              <a:buSzPts val="1300"/>
              <a:buChar char="-"/>
            </a:pPr>
            <a:r>
              <a:rPr lang="en"/>
              <a:t>Task Switching: All-to-all communication approach to reload weights across devices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Evaluation</a:t>
            </a:r>
            <a:endParaRPr/>
          </a:p>
        </p:txBody>
      </p:sp>
      <p:sp>
        <p:nvSpPr>
          <p:cNvPr id="286" name="Google Shape;286;p44"/>
          <p:cNvSpPr txBox="1">
            <a:spLocks noGrp="1"/>
          </p:cNvSpPr>
          <p:nvPr>
            <p:ph type="body" idx="1"/>
          </p:nvPr>
        </p:nvSpPr>
        <p:spPr>
          <a:xfrm>
            <a:off x="729450" y="2078875"/>
            <a:ext cx="3842700" cy="22611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SzPts val="1500"/>
              <a:buChar char="-"/>
            </a:pPr>
            <a:r>
              <a:rPr lang="en" sz="1500"/>
              <a:t>Baselines:</a:t>
            </a:r>
            <a:endParaRPr sz="1500"/>
          </a:p>
          <a:p>
            <a:pPr marL="914400" lvl="1" indent="-311150" algn="l" rtl="0">
              <a:spcBef>
                <a:spcPts val="0"/>
              </a:spcBef>
              <a:spcAft>
                <a:spcPts val="0"/>
              </a:spcAft>
              <a:buSzPts val="1300"/>
              <a:buChar char="-"/>
            </a:pPr>
            <a:r>
              <a:rPr lang="en" sz="1300"/>
              <a:t>ReaLHF</a:t>
            </a:r>
            <a:endParaRPr sz="1300"/>
          </a:p>
          <a:p>
            <a:pPr marL="914400" lvl="1" indent="-311150" algn="l" rtl="0">
              <a:spcBef>
                <a:spcPts val="0"/>
              </a:spcBef>
              <a:spcAft>
                <a:spcPts val="0"/>
              </a:spcAft>
              <a:buSzPts val="1300"/>
              <a:buChar char="-"/>
            </a:pPr>
            <a:r>
              <a:rPr lang="en" sz="1300"/>
              <a:t>RLHFuse-Base</a:t>
            </a:r>
            <a:endParaRPr sz="1300"/>
          </a:p>
          <a:p>
            <a:pPr marL="914400" lvl="1" indent="-311150" algn="l" rtl="0">
              <a:spcBef>
                <a:spcPts val="0"/>
              </a:spcBef>
              <a:spcAft>
                <a:spcPts val="0"/>
              </a:spcAft>
              <a:buSzPts val="1300"/>
              <a:buChar char="-"/>
            </a:pPr>
            <a:r>
              <a:rPr lang="en" sz="1300"/>
              <a:t>DeepSpeed-Chat</a:t>
            </a:r>
            <a:endParaRPr sz="1300"/>
          </a:p>
          <a:p>
            <a:pPr marL="457200" lvl="0" indent="-323850" algn="l" rtl="0">
              <a:spcBef>
                <a:spcPts val="0"/>
              </a:spcBef>
              <a:spcAft>
                <a:spcPts val="0"/>
              </a:spcAft>
              <a:buSzPts val="1500"/>
              <a:buChar char="-"/>
            </a:pPr>
            <a:r>
              <a:rPr lang="en" sz="1500"/>
              <a:t>Throughput Metric (samples/s)</a:t>
            </a:r>
            <a:endParaRPr sz="1500"/>
          </a:p>
          <a:p>
            <a:pPr marL="914400" lvl="1" indent="-311150" algn="l" rtl="0">
              <a:spcBef>
                <a:spcPts val="0"/>
              </a:spcBef>
              <a:spcAft>
                <a:spcPts val="0"/>
              </a:spcAft>
              <a:buSzPts val="1300"/>
              <a:buChar char="-"/>
            </a:pPr>
            <a:r>
              <a:rPr lang="en" sz="1300"/>
              <a:t>Different Actor/Critic pair model sizes</a:t>
            </a:r>
            <a:endParaRPr sz="1300"/>
          </a:p>
          <a:p>
            <a:pPr marL="914400" lvl="1" indent="-311150" algn="l" rtl="0">
              <a:spcBef>
                <a:spcPts val="0"/>
              </a:spcBef>
              <a:spcAft>
                <a:spcPts val="0"/>
              </a:spcAft>
              <a:buSzPts val="1300"/>
              <a:buChar char="-"/>
            </a:pPr>
            <a:r>
              <a:rPr lang="en" sz="1300"/>
              <a:t>Different output lengths</a:t>
            </a:r>
            <a:endParaRPr sz="1300"/>
          </a:p>
        </p:txBody>
      </p:sp>
      <p:pic>
        <p:nvPicPr>
          <p:cNvPr id="287" name="Google Shape;287;p44"/>
          <p:cNvPicPr preferRelativeResize="0"/>
          <p:nvPr/>
        </p:nvPicPr>
        <p:blipFill>
          <a:blip r:embed="rId3">
            <a:alphaModFix/>
          </a:blip>
          <a:stretch>
            <a:fillRect/>
          </a:stretch>
        </p:blipFill>
        <p:spPr>
          <a:xfrm>
            <a:off x="5012428" y="3987800"/>
            <a:ext cx="3373549" cy="195575"/>
          </a:xfrm>
          <a:prstGeom prst="rect">
            <a:avLst/>
          </a:prstGeom>
          <a:noFill/>
          <a:ln>
            <a:noFill/>
          </a:ln>
        </p:spPr>
      </p:pic>
      <p:pic>
        <p:nvPicPr>
          <p:cNvPr id="288" name="Google Shape;288;p44"/>
          <p:cNvPicPr preferRelativeResize="0"/>
          <p:nvPr/>
        </p:nvPicPr>
        <p:blipFill>
          <a:blip r:embed="rId4">
            <a:alphaModFix/>
          </a:blip>
          <a:stretch>
            <a:fillRect/>
          </a:stretch>
        </p:blipFill>
        <p:spPr>
          <a:xfrm>
            <a:off x="4487600" y="2431045"/>
            <a:ext cx="4423200" cy="1556750"/>
          </a:xfrm>
          <a:prstGeom prst="rect">
            <a:avLst/>
          </a:prstGeom>
          <a:noFill/>
          <a:ln>
            <a:noFill/>
          </a:ln>
        </p:spPr>
      </p:pic>
      <p:pic>
        <p:nvPicPr>
          <p:cNvPr id="289" name="Google Shape;289;p44"/>
          <p:cNvPicPr preferRelativeResize="0"/>
          <p:nvPr/>
        </p:nvPicPr>
        <p:blipFill>
          <a:blip r:embed="rId5">
            <a:alphaModFix/>
          </a:blip>
          <a:stretch>
            <a:fillRect/>
          </a:stretch>
        </p:blipFill>
        <p:spPr>
          <a:xfrm>
            <a:off x="5723050" y="874300"/>
            <a:ext cx="2156392" cy="15567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Evaluation</a:t>
            </a:r>
            <a:endParaRPr/>
          </a:p>
        </p:txBody>
      </p:sp>
      <p:pic>
        <p:nvPicPr>
          <p:cNvPr id="295" name="Google Shape;295;p45"/>
          <p:cNvPicPr preferRelativeResize="0"/>
          <p:nvPr/>
        </p:nvPicPr>
        <p:blipFill>
          <a:blip r:embed="rId3">
            <a:alphaModFix/>
          </a:blip>
          <a:stretch>
            <a:fillRect/>
          </a:stretch>
        </p:blipFill>
        <p:spPr>
          <a:xfrm>
            <a:off x="603425" y="2323650"/>
            <a:ext cx="7940751" cy="2577700"/>
          </a:xfrm>
          <a:prstGeom prst="rect">
            <a:avLst/>
          </a:prstGeom>
          <a:noFill/>
          <a:ln>
            <a:noFill/>
          </a:ln>
        </p:spPr>
      </p:pic>
      <p:sp>
        <p:nvSpPr>
          <p:cNvPr id="296" name="Google Shape;296;p45"/>
          <p:cNvSpPr/>
          <p:nvPr/>
        </p:nvSpPr>
        <p:spPr>
          <a:xfrm>
            <a:off x="563875" y="3943100"/>
            <a:ext cx="7980300" cy="1021200"/>
          </a:xfrm>
          <a:prstGeom prst="rect">
            <a:avLst/>
          </a:prstGeom>
          <a:noFill/>
          <a:ln w="28575"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Stage Fusion Improvements</a:t>
            </a:r>
            <a:endParaRPr/>
          </a:p>
        </p:txBody>
      </p:sp>
      <p:sp>
        <p:nvSpPr>
          <p:cNvPr id="302" name="Google Shape;302;p4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Inter-Stage</a:t>
            </a:r>
            <a:endParaRPr/>
          </a:p>
          <a:p>
            <a:pPr marL="914400" lvl="1" indent="-298450" algn="l" rtl="0">
              <a:spcBef>
                <a:spcPts val="0"/>
              </a:spcBef>
              <a:spcAft>
                <a:spcPts val="0"/>
              </a:spcAft>
              <a:buSzPts val="1100"/>
              <a:buChar char="-"/>
            </a:pPr>
            <a:r>
              <a:rPr lang="en"/>
              <a:t>Higher Rt -&gt; more fused</a:t>
            </a:r>
            <a:endParaRPr/>
          </a:p>
          <a:p>
            <a:pPr marL="914400" lvl="1" indent="-298450" algn="l" rtl="0">
              <a:spcBef>
                <a:spcPts val="0"/>
              </a:spcBef>
              <a:spcAft>
                <a:spcPts val="0"/>
              </a:spcAft>
              <a:buSzPts val="1100"/>
              <a:buChar char="-"/>
            </a:pPr>
            <a:r>
              <a:rPr lang="en"/>
              <a:t>Too high Rt -&gt; overloads long-tail tasks -&gt; Slowdown</a:t>
            </a:r>
            <a:endParaRPr/>
          </a:p>
          <a:p>
            <a:pPr marL="914400" lvl="1" indent="-298450" algn="l" rtl="0">
              <a:spcBef>
                <a:spcPts val="0"/>
              </a:spcBef>
              <a:spcAft>
                <a:spcPts val="0"/>
              </a:spcAft>
              <a:buSzPts val="1100"/>
              <a:buChar char="-"/>
            </a:pPr>
            <a:r>
              <a:rPr lang="en"/>
              <a:t>Optimal Inter-Stage Fusion Threshold: ~20%</a:t>
            </a:r>
            <a:endParaRPr/>
          </a:p>
          <a:p>
            <a:pPr marL="457200" lvl="0" indent="-311150" algn="l" rtl="0">
              <a:spcBef>
                <a:spcPts val="0"/>
              </a:spcBef>
              <a:spcAft>
                <a:spcPts val="0"/>
              </a:spcAft>
              <a:buSzPts val="1300"/>
              <a:buChar char="-"/>
            </a:pPr>
            <a:r>
              <a:rPr lang="en"/>
              <a:t>Intra-Stage</a:t>
            </a:r>
            <a:endParaRPr/>
          </a:p>
          <a:p>
            <a:pPr marL="914400" lvl="1" indent="-298450" algn="l" rtl="0">
              <a:spcBef>
                <a:spcPts val="0"/>
              </a:spcBef>
              <a:spcAft>
                <a:spcPts val="0"/>
              </a:spcAft>
              <a:buSzPts val="1100"/>
              <a:buChar char="-"/>
            </a:pPr>
            <a:r>
              <a:rPr lang="en"/>
              <a:t>RLHFuse Latency Speedup matches lower bound</a:t>
            </a:r>
            <a:endParaRPr/>
          </a:p>
          <a:p>
            <a:pPr marL="914400" lvl="1" indent="-298450" algn="l" rtl="0">
              <a:spcBef>
                <a:spcPts val="0"/>
              </a:spcBef>
              <a:spcAft>
                <a:spcPts val="0"/>
              </a:spcAft>
              <a:buSzPts val="1100"/>
              <a:buChar char="-"/>
            </a:pPr>
            <a:r>
              <a:rPr lang="en"/>
              <a:t>RLHFuse Memory Efficiency close to lower bound</a:t>
            </a:r>
            <a:endParaRPr/>
          </a:p>
          <a:p>
            <a:pPr marL="914400" lvl="1" indent="-298450" algn="l" rtl="0">
              <a:spcBef>
                <a:spcPts val="0"/>
              </a:spcBef>
              <a:spcAft>
                <a:spcPts val="0"/>
              </a:spcAft>
              <a:buSzPts val="1100"/>
              <a:buChar char="-"/>
            </a:pPr>
            <a:r>
              <a:rPr lang="en"/>
              <a:t>Outperforms Greedy</a:t>
            </a:r>
            <a:endParaRPr/>
          </a:p>
          <a:p>
            <a:pPr marL="457200" lvl="0" indent="-311150" algn="l" rtl="0">
              <a:spcBef>
                <a:spcPts val="0"/>
              </a:spcBef>
              <a:spcAft>
                <a:spcPts val="0"/>
              </a:spcAft>
              <a:buSzPts val="1300"/>
              <a:buChar char="-"/>
            </a:pPr>
            <a:r>
              <a:rPr lang="en"/>
              <a:t>Optimal Schedule is HARD to manually create</a:t>
            </a:r>
            <a:endParaRPr/>
          </a:p>
          <a:p>
            <a:pPr marL="914400" lvl="1" indent="-298450" algn="l" rtl="0">
              <a:spcBef>
                <a:spcPts val="0"/>
              </a:spcBef>
              <a:spcAft>
                <a:spcPts val="0"/>
              </a:spcAft>
              <a:buSzPts val="1100"/>
              <a:buChar char="-"/>
            </a:pPr>
            <a:r>
              <a:rPr lang="en"/>
              <a:t>RLHFuse automates this</a:t>
            </a:r>
            <a:endParaRPr/>
          </a:p>
        </p:txBody>
      </p:sp>
      <p:pic>
        <p:nvPicPr>
          <p:cNvPr id="303" name="Google Shape;303;p46"/>
          <p:cNvPicPr preferRelativeResize="0"/>
          <p:nvPr/>
        </p:nvPicPr>
        <p:blipFill>
          <a:blip r:embed="rId3">
            <a:alphaModFix/>
          </a:blip>
          <a:stretch>
            <a:fillRect/>
          </a:stretch>
        </p:blipFill>
        <p:spPr>
          <a:xfrm>
            <a:off x="4953625" y="1318650"/>
            <a:ext cx="4076700" cy="3200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Improvements on Prior Work</a:t>
            </a:r>
            <a:endParaRPr/>
          </a:p>
        </p:txBody>
      </p:sp>
      <p:sp>
        <p:nvSpPr>
          <p:cNvPr id="309" name="Google Shape;309;p4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7500" algn="l" rtl="0">
              <a:spcBef>
                <a:spcPts val="0"/>
              </a:spcBef>
              <a:spcAft>
                <a:spcPts val="0"/>
              </a:spcAft>
              <a:buSzPts val="1400"/>
              <a:buChar char="-"/>
            </a:pPr>
            <a:r>
              <a:rPr lang="en" sz="1400"/>
              <a:t>Builds upon RLHF training and LLM generation</a:t>
            </a:r>
            <a:endParaRPr sz="1400"/>
          </a:p>
          <a:p>
            <a:pPr marL="914400" lvl="1" indent="-304800" algn="l" rtl="0">
              <a:spcBef>
                <a:spcPts val="0"/>
              </a:spcBef>
              <a:spcAft>
                <a:spcPts val="0"/>
              </a:spcAft>
              <a:buSzPts val="1200"/>
              <a:buChar char="-"/>
            </a:pPr>
            <a:r>
              <a:rPr lang="en" sz="1200" b="1"/>
              <a:t>Subtask-level Optimization</a:t>
            </a:r>
            <a:endParaRPr sz="1200" b="1"/>
          </a:p>
          <a:p>
            <a:pPr marL="457200" lvl="0" indent="-317500" algn="l" rtl="0">
              <a:spcBef>
                <a:spcPts val="0"/>
              </a:spcBef>
              <a:spcAft>
                <a:spcPts val="0"/>
              </a:spcAft>
              <a:buSzPts val="1400"/>
              <a:buChar char="-"/>
            </a:pPr>
            <a:r>
              <a:rPr lang="en" sz="1400"/>
              <a:t>Previous methods do not address data skewness and pipeline bubbles</a:t>
            </a:r>
            <a:endParaRPr sz="1400"/>
          </a:p>
          <a:p>
            <a:pPr marL="457200" lvl="0" indent="-317500" algn="l" rtl="0">
              <a:spcBef>
                <a:spcPts val="0"/>
              </a:spcBef>
              <a:spcAft>
                <a:spcPts val="0"/>
              </a:spcAft>
              <a:buSzPts val="1400"/>
              <a:buChar char="-"/>
            </a:pPr>
            <a:r>
              <a:rPr lang="en" sz="1400"/>
              <a:t>Primary focus: model -&gt; optimization</a:t>
            </a:r>
            <a:endParaRPr sz="1400"/>
          </a:p>
          <a:p>
            <a:pPr marL="457200" lvl="0" indent="-317500" algn="l" rtl="0">
              <a:spcBef>
                <a:spcPts val="0"/>
              </a:spcBef>
              <a:spcAft>
                <a:spcPts val="0"/>
              </a:spcAft>
              <a:buSzPts val="1400"/>
              <a:buChar char="-"/>
            </a:pPr>
            <a:r>
              <a:rPr lang="en" sz="1400"/>
              <a:t>Leverages RLHF specific characteristics (Actor/Critic)</a:t>
            </a:r>
            <a:endParaRPr sz="1400"/>
          </a:p>
          <a:p>
            <a:pPr marL="457200" lvl="0" indent="-317500" algn="l" rtl="0">
              <a:spcBef>
                <a:spcPts val="0"/>
              </a:spcBef>
              <a:spcAft>
                <a:spcPts val="0"/>
              </a:spcAft>
              <a:buSzPts val="1400"/>
              <a:buChar char="-"/>
            </a:pPr>
            <a:r>
              <a:rPr lang="en" sz="1400"/>
              <a:t>While incorporating LLM generation techniques, not its primary focus</a:t>
            </a:r>
            <a:endParaRPr sz="1400"/>
          </a:p>
          <a:p>
            <a:pPr marL="457200" lvl="0" indent="-317500" algn="l" rtl="0">
              <a:spcBef>
                <a:spcPts val="0"/>
              </a:spcBef>
              <a:spcAft>
                <a:spcPts val="0"/>
              </a:spcAft>
              <a:buSzPts val="1400"/>
              <a:buChar char="-"/>
            </a:pPr>
            <a:r>
              <a:rPr lang="en" sz="1400"/>
              <a:t>RLHF is system-level optimization</a:t>
            </a:r>
            <a:endParaRPr sz="1400"/>
          </a:p>
          <a:p>
            <a:pPr marL="914400" lvl="1" indent="-304800" algn="l" rtl="0">
              <a:spcBef>
                <a:spcPts val="0"/>
              </a:spcBef>
              <a:spcAft>
                <a:spcPts val="0"/>
              </a:spcAft>
              <a:buSzPts val="1200"/>
              <a:buChar char="-"/>
            </a:pPr>
            <a:r>
              <a:rPr lang="en" sz="1200"/>
              <a:t>Integration into existing RLHF architecture</a:t>
            </a:r>
            <a:endParaRPr sz="1200"/>
          </a:p>
          <a:p>
            <a:pPr marL="914400" lvl="1" indent="-304800" algn="l" rtl="0">
              <a:spcBef>
                <a:spcPts val="0"/>
              </a:spcBef>
              <a:spcAft>
                <a:spcPts val="0"/>
              </a:spcAft>
              <a:buSzPts val="1200"/>
              <a:buChar char="-"/>
            </a:pPr>
            <a:r>
              <a:rPr lang="en" sz="1200"/>
              <a:t>Training, Latency, Memory</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Direct Preference Optimization:</a:t>
            </a:r>
            <a:endParaRPr/>
          </a:p>
          <a:p>
            <a:pPr marL="0" lvl="0" indent="0" algn="l" rtl="0">
              <a:spcBef>
                <a:spcPts val="0"/>
              </a:spcBef>
              <a:spcAft>
                <a:spcPts val="0"/>
              </a:spcAft>
              <a:buNone/>
            </a:pPr>
            <a:r>
              <a:rPr lang="en"/>
              <a:t>Your Language Model is Secretly a Reward Model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9"/>
          <p:cNvSpPr txBox="1">
            <a:spLocks noGrp="1"/>
          </p:cNvSpPr>
          <p:nvPr>
            <p:ph type="title"/>
          </p:nvPr>
        </p:nvSpPr>
        <p:spPr>
          <a:xfrm>
            <a:off x="727650" y="5698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RLHF changes to DPO?</a:t>
            </a:r>
            <a:endParaRPr/>
          </a:p>
          <a:p>
            <a:pPr marL="0" lvl="0" indent="0" algn="l" rtl="0">
              <a:spcBef>
                <a:spcPts val="0"/>
              </a:spcBef>
              <a:spcAft>
                <a:spcPts val="0"/>
              </a:spcAft>
              <a:buNone/>
            </a:pPr>
            <a:endParaRPr/>
          </a:p>
        </p:txBody>
      </p:sp>
      <p:sp>
        <p:nvSpPr>
          <p:cNvPr id="320" name="Google Shape;320;p49"/>
          <p:cNvSpPr txBox="1">
            <a:spLocks noGrp="1"/>
          </p:cNvSpPr>
          <p:nvPr>
            <p:ph type="body" idx="1"/>
          </p:nvPr>
        </p:nvSpPr>
        <p:spPr>
          <a:xfrm>
            <a:off x="727650" y="1490800"/>
            <a:ext cx="7688700" cy="3145800"/>
          </a:xfrm>
          <a:prstGeom prst="rect">
            <a:avLst/>
          </a:prstGeom>
        </p:spPr>
        <p:txBody>
          <a:bodyPr spcFirstLastPara="1" wrap="square" lIns="91425" tIns="91425" rIns="91425" bIns="91425" anchor="t" anchorCtr="0">
            <a:normAutofit fontScale="92500" lnSpcReduction="20000"/>
          </a:bodyPr>
          <a:lstStyle/>
          <a:p>
            <a:pPr marL="0" lvl="0" indent="0" algn="l" rtl="0">
              <a:spcBef>
                <a:spcPts val="1200"/>
              </a:spcBef>
              <a:spcAft>
                <a:spcPts val="0"/>
              </a:spcAft>
              <a:buNone/>
            </a:pPr>
            <a:r>
              <a:rPr lang="en"/>
              <a:t>Existing methods, like Reinforcement Learning from Human Feedback (RLHF), aim to align LMs with human preferences but involve complex and often unstable procedures.</a:t>
            </a:r>
            <a:endParaRPr/>
          </a:p>
          <a:p>
            <a:pPr marL="0" lvl="0" indent="0" algn="l" rtl="0">
              <a:spcBef>
                <a:spcPts val="1200"/>
              </a:spcBef>
              <a:spcAft>
                <a:spcPts val="0"/>
              </a:spcAft>
              <a:buNone/>
            </a:pPr>
            <a:r>
              <a:rPr lang="en"/>
              <a:t>RLHF involves two main steps:</a:t>
            </a:r>
            <a:endParaRPr/>
          </a:p>
          <a:p>
            <a:pPr marL="457200" lvl="0" indent="-293211" algn="l" rtl="0">
              <a:spcBef>
                <a:spcPts val="1200"/>
              </a:spcBef>
              <a:spcAft>
                <a:spcPts val="0"/>
              </a:spcAft>
              <a:buClr>
                <a:srgbClr val="000000"/>
              </a:buClr>
              <a:buSzPct val="84615"/>
              <a:buFont typeface="Arial"/>
              <a:buChar char="●"/>
            </a:pPr>
            <a:r>
              <a:rPr lang="en"/>
              <a:t>Fitting a reward model that reflects human preferences</a:t>
            </a:r>
            <a:endParaRPr/>
          </a:p>
          <a:p>
            <a:pPr marL="457200" lvl="0" indent="-293211" algn="l" rtl="0">
              <a:spcBef>
                <a:spcPts val="0"/>
              </a:spcBef>
              <a:spcAft>
                <a:spcPts val="0"/>
              </a:spcAft>
              <a:buClr>
                <a:srgbClr val="000000"/>
              </a:buClr>
              <a:buSzPct val="84615"/>
              <a:buFont typeface="Arial"/>
              <a:buChar char="●"/>
            </a:pPr>
            <a:r>
              <a:rPr lang="en"/>
              <a:t>Fine-tuning the LM using reinforcement learning to maximize this estimated reward</a:t>
            </a:r>
            <a:endParaRPr/>
          </a:p>
          <a:p>
            <a:pPr marL="0" lvl="0" indent="0" algn="l" rtl="0">
              <a:spcBef>
                <a:spcPts val="1200"/>
              </a:spcBef>
              <a:spcAft>
                <a:spcPts val="0"/>
              </a:spcAft>
              <a:buNone/>
            </a:pPr>
            <a:r>
              <a:rPr lang="en"/>
              <a:t>Pros:</a:t>
            </a:r>
            <a:endParaRPr/>
          </a:p>
          <a:p>
            <a:pPr marL="457200" lvl="0" indent="-293211" algn="l" rtl="0">
              <a:spcBef>
                <a:spcPts val="1200"/>
              </a:spcBef>
              <a:spcAft>
                <a:spcPts val="0"/>
              </a:spcAft>
              <a:buClr>
                <a:srgbClr val="000000"/>
              </a:buClr>
              <a:buSzPct val="84615"/>
              <a:buFont typeface="Arial"/>
              <a:buChar char="●"/>
            </a:pPr>
            <a:r>
              <a:rPr lang="en"/>
              <a:t>Fitting a reward model that aligns AI with Human Preference</a:t>
            </a:r>
            <a:endParaRPr/>
          </a:p>
          <a:p>
            <a:pPr marL="457200" lvl="0" indent="-293211" algn="l" rtl="0">
              <a:spcBef>
                <a:spcPts val="0"/>
              </a:spcBef>
              <a:spcAft>
                <a:spcPts val="0"/>
              </a:spcAft>
              <a:buClr>
                <a:srgbClr val="000000"/>
              </a:buClr>
              <a:buSzPct val="84615"/>
              <a:buFont typeface="Arial"/>
              <a:buChar char="●"/>
            </a:pPr>
            <a:r>
              <a:rPr lang="en"/>
              <a:t>Improves Response Quality</a:t>
            </a:r>
            <a:endParaRPr/>
          </a:p>
          <a:p>
            <a:pPr marL="0" lvl="0" indent="0" algn="l" rtl="0">
              <a:spcBef>
                <a:spcPts val="1200"/>
              </a:spcBef>
              <a:spcAft>
                <a:spcPts val="0"/>
              </a:spcAft>
              <a:buNone/>
            </a:pPr>
            <a:r>
              <a:rPr lang="en"/>
              <a:t>Cons:</a:t>
            </a:r>
            <a:endParaRPr/>
          </a:p>
          <a:p>
            <a:pPr marL="457200" lvl="0" indent="-293211" algn="l" rtl="0">
              <a:spcBef>
                <a:spcPts val="1200"/>
              </a:spcBef>
              <a:spcAft>
                <a:spcPts val="0"/>
              </a:spcAft>
              <a:buClr>
                <a:srgbClr val="000000"/>
              </a:buClr>
              <a:buSzPct val="84615"/>
              <a:buFont typeface="Arial"/>
              <a:buChar char="●"/>
            </a:pPr>
            <a:r>
              <a:rPr lang="en"/>
              <a:t>Stability Challenges</a:t>
            </a:r>
            <a:endParaRPr/>
          </a:p>
          <a:p>
            <a:pPr marL="457200" lvl="0" indent="-293211" algn="l" rtl="0">
              <a:spcBef>
                <a:spcPts val="0"/>
              </a:spcBef>
              <a:spcAft>
                <a:spcPts val="0"/>
              </a:spcAft>
              <a:buClr>
                <a:srgbClr val="000000"/>
              </a:buClr>
              <a:buSzPct val="84615"/>
              <a:buFont typeface="Arial"/>
              <a:buChar char="●"/>
            </a:pPr>
            <a:r>
              <a:rPr lang="en"/>
              <a:t>Computationally Expensive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Direct Preference Optimization (DPO)?</a:t>
            </a:r>
            <a:endParaRPr/>
          </a:p>
        </p:txBody>
      </p:sp>
      <p:sp>
        <p:nvSpPr>
          <p:cNvPr id="326" name="Google Shape;326;p5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DPO offers a novel parameterization of the reward model in RLHF.</a:t>
            </a:r>
            <a:endParaRPr/>
          </a:p>
          <a:p>
            <a:pPr marL="0" lvl="0" indent="0" algn="l" rtl="0">
              <a:spcBef>
                <a:spcPts val="1200"/>
              </a:spcBef>
              <a:spcAft>
                <a:spcPts val="0"/>
              </a:spcAft>
              <a:buNone/>
            </a:pPr>
            <a:r>
              <a:rPr lang="en"/>
              <a:t>It enables the extraction of the corresponding optimal policy in closed form.</a:t>
            </a:r>
            <a:endParaRPr/>
          </a:p>
          <a:p>
            <a:pPr marL="0" lvl="0" indent="0" algn="l" rtl="0">
              <a:spcBef>
                <a:spcPts val="1200"/>
              </a:spcBef>
              <a:spcAft>
                <a:spcPts val="0"/>
              </a:spcAft>
              <a:buNone/>
            </a:pPr>
            <a:r>
              <a:rPr lang="en"/>
              <a:t>This approach allows solving the standard RLHF problem using a simple classification loss, eliminating the need for complex reinforcement learning procedures.</a:t>
            </a:r>
            <a:endParaRPr/>
          </a:p>
          <a:p>
            <a:pPr marL="0" lvl="0" indent="0" algn="l" rtl="0">
              <a:spcBef>
                <a:spcPts val="1200"/>
              </a:spcBef>
              <a:spcAft>
                <a:spcPts val="120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1"/>
          <p:cNvSpPr txBox="1">
            <a:spLocks noGrp="1"/>
          </p:cNvSpPr>
          <p:nvPr>
            <p:ph type="body" idx="1"/>
          </p:nvPr>
        </p:nvSpPr>
        <p:spPr>
          <a:xfrm>
            <a:off x="616000" y="1543050"/>
            <a:ext cx="7688700" cy="3267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a:solidFill>
                  <a:srgbClr val="000000"/>
                </a:solidFill>
                <a:latin typeface="Arial"/>
                <a:ea typeface="Arial"/>
                <a:cs typeface="Arial"/>
                <a:sym typeface="Arial"/>
              </a:rPr>
              <a:t>Two copies of the model are created:</a:t>
            </a:r>
            <a:endParaRPr sz="1100">
              <a:solidFill>
                <a:srgbClr val="000000"/>
              </a:solidFill>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 sz="1100" b="1">
                <a:solidFill>
                  <a:srgbClr val="000000"/>
                </a:solidFill>
                <a:latin typeface="Arial"/>
                <a:ea typeface="Arial"/>
                <a:cs typeface="Arial"/>
                <a:sym typeface="Arial"/>
              </a:rPr>
              <a:t>Trained LM</a:t>
            </a:r>
            <a:r>
              <a:rPr lang="en" sz="1100">
                <a:solidFill>
                  <a:srgbClr val="000000"/>
                </a:solidFill>
                <a:latin typeface="Arial"/>
                <a:ea typeface="Arial"/>
                <a:cs typeface="Arial"/>
                <a:sym typeface="Arial"/>
              </a:rPr>
              <a:t> (updated during training).</a:t>
            </a:r>
            <a:endParaRPr sz="1100">
              <a:solidFill>
                <a:srgbClr val="000000"/>
              </a:solidFill>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sz="1100" b="1">
                <a:solidFill>
                  <a:srgbClr val="000000"/>
                </a:solidFill>
                <a:latin typeface="Arial"/>
                <a:ea typeface="Arial"/>
                <a:cs typeface="Arial"/>
                <a:sym typeface="Arial"/>
              </a:rPr>
              <a:t>Frozen LM</a:t>
            </a:r>
            <a:r>
              <a:rPr lang="en" sz="1100">
                <a:solidFill>
                  <a:srgbClr val="000000"/>
                </a:solidFill>
                <a:latin typeface="Arial"/>
                <a:ea typeface="Arial"/>
                <a:cs typeface="Arial"/>
                <a:sym typeface="Arial"/>
              </a:rPr>
              <a:t> (remains unchanged as a baseline).</a:t>
            </a:r>
            <a:endParaRPr sz="1100">
              <a:solidFill>
                <a:srgbClr val="000000"/>
              </a:solidFill>
              <a:latin typeface="Arial"/>
              <a:ea typeface="Arial"/>
              <a:cs typeface="Arial"/>
              <a:sym typeface="Arial"/>
            </a:endParaRPr>
          </a:p>
          <a:p>
            <a:pPr marL="0" lvl="0" indent="0" algn="l" rtl="0">
              <a:spcBef>
                <a:spcPts val="1200"/>
              </a:spcBef>
              <a:spcAft>
                <a:spcPts val="0"/>
              </a:spcAft>
              <a:buNone/>
            </a:pPr>
            <a:r>
              <a:rPr lang="en" sz="1100">
                <a:solidFill>
                  <a:srgbClr val="000000"/>
                </a:solidFill>
                <a:latin typeface="Arial"/>
                <a:ea typeface="Arial"/>
                <a:cs typeface="Arial"/>
                <a:sym typeface="Arial"/>
              </a:rPr>
              <a:t>Given a </a:t>
            </a:r>
            <a:r>
              <a:rPr lang="en" sz="1100" b="1">
                <a:solidFill>
                  <a:srgbClr val="000000"/>
                </a:solidFill>
                <a:latin typeface="Arial"/>
                <a:ea typeface="Arial"/>
                <a:cs typeface="Arial"/>
                <a:sym typeface="Arial"/>
              </a:rPr>
              <a:t>prompt</a:t>
            </a:r>
            <a:r>
              <a:rPr lang="en" sz="1100">
                <a:solidFill>
                  <a:srgbClr val="000000"/>
                </a:solidFill>
                <a:latin typeface="Arial"/>
                <a:ea typeface="Arial"/>
                <a:cs typeface="Arial"/>
                <a:sym typeface="Arial"/>
              </a:rPr>
              <a:t>, two responses are compared:</a:t>
            </a:r>
            <a:endParaRPr sz="1100">
              <a:solidFill>
                <a:srgbClr val="000000"/>
              </a:solidFill>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 sz="1100" b="1">
                <a:solidFill>
                  <a:srgbClr val="000000"/>
                </a:solidFill>
                <a:latin typeface="Arial"/>
                <a:ea typeface="Arial"/>
                <a:cs typeface="Arial"/>
                <a:sym typeface="Arial"/>
              </a:rPr>
              <a:t>Chosen response</a:t>
            </a:r>
            <a:r>
              <a:rPr lang="en" sz="1100">
                <a:solidFill>
                  <a:srgbClr val="000000"/>
                </a:solidFill>
                <a:latin typeface="Arial"/>
                <a:ea typeface="Arial"/>
                <a:cs typeface="Arial"/>
                <a:sym typeface="Arial"/>
              </a:rPr>
              <a:t> (preferred by humans).</a:t>
            </a:r>
            <a:endParaRPr sz="1100">
              <a:solidFill>
                <a:srgbClr val="000000"/>
              </a:solidFill>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 sz="1100" b="1">
                <a:solidFill>
                  <a:srgbClr val="000000"/>
                </a:solidFill>
                <a:latin typeface="Arial"/>
                <a:ea typeface="Arial"/>
                <a:cs typeface="Arial"/>
                <a:sym typeface="Arial"/>
              </a:rPr>
              <a:t>Rejected response</a:t>
            </a:r>
            <a:r>
              <a:rPr lang="en" sz="1100">
                <a:solidFill>
                  <a:srgbClr val="000000"/>
                </a:solidFill>
                <a:latin typeface="Arial"/>
                <a:ea typeface="Arial"/>
                <a:cs typeface="Arial"/>
                <a:sym typeface="Arial"/>
              </a:rPr>
              <a:t> (less preferred).</a:t>
            </a:r>
            <a:endParaRPr sz="1100">
              <a:solidFill>
                <a:srgbClr val="000000"/>
              </a:solidFill>
              <a:latin typeface="Arial"/>
              <a:ea typeface="Arial"/>
              <a:cs typeface="Arial"/>
              <a:sym typeface="Arial"/>
            </a:endParaRPr>
          </a:p>
          <a:p>
            <a:pPr marL="0" lvl="0" indent="0" algn="l" rtl="0">
              <a:spcBef>
                <a:spcPts val="1200"/>
              </a:spcBef>
              <a:spcAft>
                <a:spcPts val="0"/>
              </a:spcAft>
              <a:buNone/>
            </a:pPr>
            <a:r>
              <a:rPr lang="en" sz="1100">
                <a:solidFill>
                  <a:srgbClr val="000000"/>
                </a:solidFill>
                <a:latin typeface="Arial"/>
                <a:ea typeface="Arial"/>
                <a:cs typeface="Arial"/>
                <a:sym typeface="Arial"/>
              </a:rPr>
              <a:t>Each model (trained and frozen) computes a score.</a:t>
            </a: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b="1">
                <a:solidFill>
                  <a:srgbClr val="000000"/>
                </a:solidFill>
                <a:latin typeface="Arial"/>
                <a:ea typeface="Arial"/>
                <a:cs typeface="Arial"/>
                <a:sym typeface="Arial"/>
              </a:rPr>
              <a:t>Score Calculation:</a:t>
            </a:r>
            <a:endParaRPr sz="1100" b="1">
              <a:solidFill>
                <a:srgbClr val="000000"/>
              </a:solidFill>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Product of probabilities for each token in the response.</a:t>
            </a:r>
            <a:endParaRPr/>
          </a:p>
        </p:txBody>
      </p:sp>
      <p:pic>
        <p:nvPicPr>
          <p:cNvPr id="332" name="Google Shape;332;p51"/>
          <p:cNvPicPr preferRelativeResize="0"/>
          <p:nvPr/>
        </p:nvPicPr>
        <p:blipFill>
          <a:blip r:embed="rId3">
            <a:alphaModFix/>
          </a:blip>
          <a:stretch>
            <a:fillRect/>
          </a:stretch>
        </p:blipFill>
        <p:spPr>
          <a:xfrm>
            <a:off x="4534174" y="1758953"/>
            <a:ext cx="4395251" cy="20688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2"/>
          <p:cNvSpPr txBox="1">
            <a:spLocks noGrp="1"/>
          </p:cNvSpPr>
          <p:nvPr>
            <p:ph type="body" idx="1"/>
          </p:nvPr>
        </p:nvSpPr>
        <p:spPr>
          <a:xfrm>
            <a:off x="727650" y="1784075"/>
            <a:ext cx="7688700" cy="2850000"/>
          </a:xfrm>
          <a:prstGeom prst="rect">
            <a:avLst/>
          </a:prstGeom>
        </p:spPr>
        <p:txBody>
          <a:bodyPr spcFirstLastPara="1" wrap="square" lIns="91425" tIns="91425" rIns="91425" bIns="91425" anchor="t" anchorCtr="0">
            <a:normAutofit fontScale="92500" lnSpcReduction="20000"/>
          </a:bodyPr>
          <a:lstStyle/>
          <a:p>
            <a:pPr marL="0" lvl="0" indent="0" algn="l" rtl="0">
              <a:spcBef>
                <a:spcPts val="1200"/>
              </a:spcBef>
              <a:spcAft>
                <a:spcPts val="0"/>
              </a:spcAft>
              <a:buNone/>
            </a:pPr>
            <a:r>
              <a:rPr lang="en" sz="1100" b="1">
                <a:solidFill>
                  <a:srgbClr val="000000"/>
                </a:solidFill>
                <a:latin typeface="Arial"/>
                <a:ea typeface="Arial"/>
                <a:cs typeface="Arial"/>
                <a:sym typeface="Arial"/>
              </a:rPr>
              <a:t>Score ratio formula:</a:t>
            </a:r>
            <a:r>
              <a:rPr lang="en" sz="1100">
                <a:solidFill>
                  <a:srgbClr val="000000"/>
                </a:solidFill>
                <a:latin typeface="Arial"/>
                <a:ea typeface="Arial"/>
                <a:cs typeface="Arial"/>
                <a:sym typeface="Arial"/>
              </a:rPr>
              <a:t> </a:t>
            </a:r>
            <a:r>
              <a:rPr lang="en" sz="1700" i="1">
                <a:solidFill>
                  <a:srgbClr val="000000"/>
                </a:solidFill>
                <a:latin typeface="Arial"/>
                <a:ea typeface="Arial"/>
                <a:cs typeface="Arial"/>
                <a:sym typeface="Arial"/>
              </a:rPr>
              <a:t>R</a:t>
            </a:r>
            <a:r>
              <a:rPr lang="en" sz="1700" i="1" baseline="-25000">
                <a:solidFill>
                  <a:srgbClr val="000000"/>
                </a:solidFill>
                <a:latin typeface="Arial"/>
                <a:ea typeface="Arial"/>
                <a:cs typeface="Arial"/>
                <a:sym typeface="Arial"/>
              </a:rPr>
              <a:t>policy</a:t>
            </a:r>
            <a:r>
              <a:rPr lang="en" sz="1700" i="1">
                <a:solidFill>
                  <a:srgbClr val="000000"/>
                </a:solidFill>
                <a:latin typeface="Arial"/>
                <a:ea typeface="Arial"/>
                <a:cs typeface="Arial"/>
                <a:sym typeface="Arial"/>
              </a:rPr>
              <a:t>  /   R</a:t>
            </a:r>
            <a:r>
              <a:rPr lang="en" sz="1700" i="1" baseline="-25000">
                <a:solidFill>
                  <a:srgbClr val="000000"/>
                </a:solidFill>
                <a:latin typeface="Arial"/>
                <a:ea typeface="Arial"/>
                <a:cs typeface="Arial"/>
                <a:sym typeface="Arial"/>
              </a:rPr>
              <a:t>reference</a:t>
            </a:r>
            <a:r>
              <a:rPr lang="en" sz="1700" i="1">
                <a:solidFill>
                  <a:srgbClr val="000000"/>
                </a:solidFill>
                <a:latin typeface="Arial"/>
                <a:ea typeface="Arial"/>
                <a:cs typeface="Arial"/>
                <a:sym typeface="Arial"/>
              </a:rPr>
              <a:t> </a:t>
            </a:r>
            <a:endParaRPr sz="1900" i="1">
              <a:solidFill>
                <a:srgbClr val="000000"/>
              </a:solidFill>
              <a:latin typeface="Arial"/>
              <a:ea typeface="Arial"/>
              <a:cs typeface="Arial"/>
              <a:sym typeface="Arial"/>
            </a:endParaRPr>
          </a:p>
          <a:p>
            <a:pPr marL="457200" lvl="0" indent="-228600" algn="l" rtl="0">
              <a:spcBef>
                <a:spcPts val="1200"/>
              </a:spcBef>
              <a:spcAft>
                <a:spcPts val="0"/>
              </a:spcAft>
              <a:buNone/>
            </a:pPr>
            <a:r>
              <a:rPr lang="en" sz="1100" b="1">
                <a:solidFill>
                  <a:srgbClr val="000000"/>
                </a:solidFill>
                <a:latin typeface="Arial"/>
                <a:ea typeface="Arial"/>
                <a:cs typeface="Arial"/>
                <a:sym typeface="Arial"/>
              </a:rPr>
              <a:t>Interpretation:</a:t>
            </a:r>
            <a:endParaRPr sz="1100" b="1">
              <a:solidFill>
                <a:srgbClr val="000000"/>
              </a:solidFill>
              <a:latin typeface="Arial"/>
              <a:ea typeface="Arial"/>
              <a:cs typeface="Arial"/>
              <a:sym typeface="Arial"/>
            </a:endParaRPr>
          </a:p>
          <a:p>
            <a:pPr marL="457200" lvl="0" indent="-293211" algn="l" rtl="0">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If the trained model scores the chosen response higher than the frozen model, it's improving.</a:t>
            </a:r>
            <a:endParaRPr sz="1100">
              <a:solidFill>
                <a:srgbClr val="000000"/>
              </a:solidFill>
              <a:latin typeface="Arial"/>
              <a:ea typeface="Arial"/>
              <a:cs typeface="Arial"/>
              <a:sym typeface="Arial"/>
            </a:endParaRPr>
          </a:p>
          <a:p>
            <a:pPr marL="457200" lvl="0" indent="-293211" algn="l" rtl="0">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Otherwise, more fine-tuning is needed.</a:t>
            </a:r>
            <a:endParaRPr sz="1100">
              <a:solidFill>
                <a:srgbClr val="000000"/>
              </a:solidFill>
              <a:latin typeface="Arial"/>
              <a:ea typeface="Arial"/>
              <a:cs typeface="Arial"/>
              <a:sym typeface="Arial"/>
            </a:endParaRPr>
          </a:p>
          <a:p>
            <a:pPr marL="0" lvl="0" indent="0" algn="l" rtl="0">
              <a:spcBef>
                <a:spcPts val="1200"/>
              </a:spcBef>
              <a:spcAft>
                <a:spcPts val="0"/>
              </a:spcAft>
              <a:buNone/>
            </a:pPr>
            <a:r>
              <a:rPr lang="en" sz="1100" b="1">
                <a:solidFill>
                  <a:srgbClr val="000000"/>
                </a:solidFill>
                <a:latin typeface="Arial"/>
                <a:ea typeface="Arial"/>
                <a:cs typeface="Arial"/>
                <a:sym typeface="Arial"/>
              </a:rPr>
              <a:t>Key Components:</a:t>
            </a:r>
            <a:endParaRPr sz="1100" b="1">
              <a:solidFill>
                <a:srgbClr val="000000"/>
              </a:solidFill>
              <a:latin typeface="Arial"/>
              <a:ea typeface="Arial"/>
              <a:cs typeface="Arial"/>
              <a:sym typeface="Arial"/>
            </a:endParaRPr>
          </a:p>
          <a:p>
            <a:pPr marL="457200" lvl="0" indent="-293211" algn="l" rtl="0">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σ: Sigmoid function for stability.</a:t>
            </a:r>
            <a:endParaRPr sz="1100">
              <a:solidFill>
                <a:srgbClr val="000000"/>
              </a:solidFill>
              <a:latin typeface="Arial"/>
              <a:ea typeface="Arial"/>
              <a:cs typeface="Arial"/>
              <a:sym typeface="Arial"/>
            </a:endParaRPr>
          </a:p>
          <a:p>
            <a:pPr marL="457200" lvl="0" indent="-293211" algn="l" rtl="0">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β: Scaling hyperparameter (Zephyr used β=0.1\beta = 0.1β=0.1).</a:t>
            </a:r>
            <a:endParaRPr sz="1100">
              <a:solidFill>
                <a:srgbClr val="000000"/>
              </a:solidFill>
              <a:latin typeface="Arial"/>
              <a:ea typeface="Arial"/>
              <a:cs typeface="Arial"/>
              <a:sym typeface="Arial"/>
            </a:endParaRPr>
          </a:p>
          <a:p>
            <a:pPr marL="0" lvl="0" indent="0" algn="l" rtl="0">
              <a:spcBef>
                <a:spcPts val="1200"/>
              </a:spcBef>
              <a:spcAft>
                <a:spcPts val="0"/>
              </a:spcAft>
              <a:buNone/>
            </a:pPr>
            <a:r>
              <a:rPr lang="en" sz="1100">
                <a:solidFill>
                  <a:srgbClr val="000000"/>
                </a:solidFill>
                <a:latin typeface="Arial"/>
                <a:ea typeface="Arial"/>
                <a:cs typeface="Arial"/>
                <a:sym typeface="Arial"/>
              </a:rPr>
              <a:t>The loss function </a:t>
            </a:r>
            <a:r>
              <a:rPr lang="en" sz="1100" b="1">
                <a:solidFill>
                  <a:srgbClr val="000000"/>
                </a:solidFill>
                <a:latin typeface="Arial"/>
                <a:ea typeface="Arial"/>
                <a:cs typeface="Arial"/>
                <a:sym typeface="Arial"/>
              </a:rPr>
              <a:t>encourages higher scores for chosen responses</a:t>
            </a:r>
            <a:r>
              <a:rPr lang="en" sz="1100">
                <a:solidFill>
                  <a:srgbClr val="000000"/>
                </a:solidFill>
                <a:latin typeface="Arial"/>
                <a:ea typeface="Arial"/>
                <a:cs typeface="Arial"/>
                <a:sym typeface="Arial"/>
              </a:rPr>
              <a:t> while maintaining stability.</a:t>
            </a: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a:solidFill>
                  <a:srgbClr val="000000"/>
                </a:solidFill>
                <a:latin typeface="Arial"/>
                <a:ea typeface="Arial"/>
                <a:cs typeface="Arial"/>
                <a:sym typeface="Arial"/>
              </a:rPr>
              <a:t>The computed loss is used to adjust the model’s weights.</a:t>
            </a:r>
            <a:endParaRPr sz="1100">
              <a:solidFill>
                <a:srgbClr val="000000"/>
              </a:solidFill>
              <a:latin typeface="Arial"/>
              <a:ea typeface="Arial"/>
              <a:cs typeface="Arial"/>
              <a:sym typeface="Arial"/>
            </a:endParaRPr>
          </a:p>
          <a:p>
            <a:pPr marL="0" lvl="0" indent="0" algn="l" rtl="0">
              <a:spcBef>
                <a:spcPts val="0"/>
              </a:spcBef>
              <a:spcAft>
                <a:spcPts val="0"/>
              </a:spcAft>
              <a:buNone/>
            </a:pPr>
            <a:r>
              <a:rPr lang="en" sz="1100">
                <a:solidFill>
                  <a:srgbClr val="000000"/>
                </a:solidFill>
                <a:latin typeface="Arial"/>
                <a:ea typeface="Arial"/>
                <a:cs typeface="Arial"/>
                <a:sym typeface="Arial"/>
              </a:rPr>
              <a:t>The trained model gradually </a:t>
            </a:r>
            <a:r>
              <a:rPr lang="en" sz="1100" b="1">
                <a:solidFill>
                  <a:srgbClr val="000000"/>
                </a:solidFill>
                <a:latin typeface="Arial"/>
                <a:ea typeface="Arial"/>
                <a:cs typeface="Arial"/>
                <a:sym typeface="Arial"/>
              </a:rPr>
              <a:t>learns to favor the chosen responses</a:t>
            </a:r>
            <a:r>
              <a:rPr lang="en" sz="1100">
                <a:solidFill>
                  <a:srgbClr val="000000"/>
                </a:solidFill>
                <a:latin typeface="Arial"/>
                <a:ea typeface="Arial"/>
                <a:cs typeface="Arial"/>
                <a:sym typeface="Arial"/>
              </a:rPr>
              <a:t> over the rejected ones.</a:t>
            </a:r>
            <a:endParaRPr sz="1100">
              <a:solidFill>
                <a:srgbClr val="000000"/>
              </a:solidFill>
              <a:latin typeface="Arial"/>
              <a:ea typeface="Arial"/>
              <a:cs typeface="Arial"/>
              <a:sym typeface="Arial"/>
            </a:endParaRPr>
          </a:p>
          <a:p>
            <a:pPr marL="0" lvl="0" indent="0" algn="l" rtl="0">
              <a:spcBef>
                <a:spcPts val="0"/>
              </a:spcBef>
              <a:spcAft>
                <a:spcPts val="0"/>
              </a:spcAft>
              <a:buNone/>
            </a:pPr>
            <a:endParaRPr sz="1100">
              <a:solidFill>
                <a:srgbClr val="000000"/>
              </a:solidFill>
              <a:latin typeface="Arial"/>
              <a:ea typeface="Arial"/>
              <a:cs typeface="Arial"/>
              <a:sym typeface="Arial"/>
            </a:endParaRPr>
          </a:p>
          <a:p>
            <a:pPr marL="0" lvl="0" indent="0" algn="l" rtl="0">
              <a:spcBef>
                <a:spcPts val="0"/>
              </a:spcBef>
              <a:spcAft>
                <a:spcPts val="1200"/>
              </a:spcAft>
              <a:buNone/>
            </a:pPr>
            <a:endParaRPr sz="1100" b="1">
              <a:solidFill>
                <a:srgbClr val="000000"/>
              </a:solidFill>
              <a:latin typeface="Arial"/>
              <a:ea typeface="Arial"/>
              <a:cs typeface="Arial"/>
              <a:sym typeface="Arial"/>
            </a:endParaRPr>
          </a:p>
        </p:txBody>
      </p:sp>
      <p:pic>
        <p:nvPicPr>
          <p:cNvPr id="338" name="Google Shape;338;p52"/>
          <p:cNvPicPr preferRelativeResize="0"/>
          <p:nvPr/>
        </p:nvPicPr>
        <p:blipFill>
          <a:blip r:embed="rId3">
            <a:alphaModFix/>
          </a:blip>
          <a:stretch>
            <a:fillRect/>
          </a:stretch>
        </p:blipFill>
        <p:spPr>
          <a:xfrm>
            <a:off x="5509246" y="2922222"/>
            <a:ext cx="3284475" cy="817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DPO &gt; RLHF</a:t>
            </a:r>
            <a:endParaRPr/>
          </a:p>
        </p:txBody>
      </p:sp>
      <p:sp>
        <p:nvSpPr>
          <p:cNvPr id="344" name="Google Shape;344;p5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100" b="1">
                <a:solidFill>
                  <a:srgbClr val="000000"/>
                </a:solidFill>
                <a:latin typeface="Arial"/>
                <a:ea typeface="Arial"/>
                <a:cs typeface="Arial"/>
                <a:sym typeface="Arial"/>
              </a:rPr>
              <a:t>No Reinforcement Learning Needed</a:t>
            </a:r>
            <a:endParaRPr sz="1100" b="1">
              <a:solidFill>
                <a:srgbClr val="000000"/>
              </a:solidFill>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Simpler than RLHF, no explicit reward model.</a:t>
            </a:r>
            <a:endParaRPr sz="1100">
              <a:solidFill>
                <a:srgbClr val="000000"/>
              </a:solidFill>
              <a:latin typeface="Arial"/>
              <a:ea typeface="Arial"/>
              <a:cs typeface="Arial"/>
              <a:sym typeface="Arial"/>
            </a:endParaRPr>
          </a:p>
          <a:p>
            <a:pPr marL="0" lvl="0" indent="0" algn="l" rtl="0">
              <a:spcBef>
                <a:spcPts val="1200"/>
              </a:spcBef>
              <a:spcAft>
                <a:spcPts val="0"/>
              </a:spcAft>
              <a:buNone/>
            </a:pPr>
            <a:r>
              <a:rPr lang="en" sz="1100" b="1">
                <a:solidFill>
                  <a:srgbClr val="000000"/>
                </a:solidFill>
                <a:latin typeface="Arial"/>
                <a:ea typeface="Arial"/>
                <a:cs typeface="Arial"/>
                <a:sym typeface="Arial"/>
              </a:rPr>
              <a:t>Stable &amp; Efficient</a:t>
            </a:r>
            <a:endParaRPr sz="1100" b="1">
              <a:solidFill>
                <a:srgbClr val="000000"/>
              </a:solidFill>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Uses a direct loss function instead of complex reward optimization.</a:t>
            </a:r>
            <a:endParaRPr sz="1100">
              <a:solidFill>
                <a:srgbClr val="000000"/>
              </a:solidFill>
              <a:latin typeface="Arial"/>
              <a:ea typeface="Arial"/>
              <a:cs typeface="Arial"/>
              <a:sym typeface="Arial"/>
            </a:endParaRPr>
          </a:p>
          <a:p>
            <a:pPr marL="0" lvl="0" indent="0" algn="l" rtl="0">
              <a:spcBef>
                <a:spcPts val="1200"/>
              </a:spcBef>
              <a:spcAft>
                <a:spcPts val="0"/>
              </a:spcAft>
              <a:buNone/>
            </a:pPr>
            <a:r>
              <a:rPr lang="en" sz="1100" b="1">
                <a:solidFill>
                  <a:srgbClr val="000000"/>
                </a:solidFill>
                <a:latin typeface="Arial"/>
                <a:ea typeface="Arial"/>
                <a:cs typeface="Arial"/>
                <a:sym typeface="Arial"/>
              </a:rPr>
              <a:t>Easier Implementation</a:t>
            </a:r>
            <a:endParaRPr sz="1100" b="1">
              <a:solidFill>
                <a:srgbClr val="000000"/>
              </a:solidFill>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Works with standard supervised fine-tuning techniques.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Summary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Recap</a:t>
            </a:r>
            <a:endParaRPr/>
          </a:p>
        </p:txBody>
      </p:sp>
      <p:sp>
        <p:nvSpPr>
          <p:cNvPr id="355" name="Google Shape;355;p5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b="1">
                <a:solidFill>
                  <a:srgbClr val="000000"/>
                </a:solidFill>
                <a:latin typeface="Arial"/>
                <a:ea typeface="Arial"/>
                <a:cs typeface="Arial"/>
                <a:sym typeface="Arial"/>
              </a:rPr>
              <a:t>RLHF</a:t>
            </a:r>
            <a:r>
              <a:rPr lang="en">
                <a:solidFill>
                  <a:srgbClr val="000000"/>
                </a:solidFill>
                <a:latin typeface="Arial"/>
                <a:ea typeface="Arial"/>
                <a:cs typeface="Arial"/>
                <a:sym typeface="Arial"/>
              </a:rPr>
              <a:t>: Addresses untruthful or toxic responses in LLMs by fine-tuning them using human feedback, aligning outputs with user intents.</a:t>
            </a:r>
            <a:endParaRPr u="sng">
              <a:solidFill>
                <a:schemeClr val="hlink"/>
              </a:solidFill>
              <a:latin typeface="Arial"/>
              <a:ea typeface="Arial"/>
              <a:cs typeface="Arial"/>
              <a:sym typeface="Arial"/>
            </a:endParaRPr>
          </a:p>
          <a:p>
            <a:pPr marL="0" lvl="0" indent="0" algn="l" rtl="0">
              <a:spcBef>
                <a:spcPts val="1200"/>
              </a:spcBef>
              <a:spcAft>
                <a:spcPts val="0"/>
              </a:spcAft>
              <a:buNone/>
            </a:pPr>
            <a:r>
              <a:rPr lang="en" b="1">
                <a:solidFill>
                  <a:srgbClr val="000000"/>
                </a:solidFill>
                <a:latin typeface="Arial"/>
                <a:ea typeface="Arial"/>
                <a:cs typeface="Arial"/>
                <a:sym typeface="Arial"/>
              </a:rPr>
              <a:t>RLHFuse</a:t>
            </a:r>
            <a:r>
              <a:rPr lang="en">
                <a:solidFill>
                  <a:srgbClr val="000000"/>
                </a:solidFill>
                <a:latin typeface="Arial"/>
                <a:ea typeface="Arial"/>
                <a:cs typeface="Arial"/>
                <a:sym typeface="Arial"/>
              </a:rPr>
              <a:t>: Enhances RLHF training efficiency through system optimizations, increasing training throughput.</a:t>
            </a:r>
            <a:endParaRPr>
              <a:solidFill>
                <a:srgbClr val="000000"/>
              </a:solidFill>
              <a:latin typeface="Arial"/>
              <a:ea typeface="Arial"/>
              <a:cs typeface="Arial"/>
              <a:sym typeface="Arial"/>
            </a:endParaRPr>
          </a:p>
          <a:p>
            <a:pPr marL="0" lvl="0" indent="0" algn="l" rtl="0">
              <a:spcBef>
                <a:spcPts val="1200"/>
              </a:spcBef>
              <a:spcAft>
                <a:spcPts val="1200"/>
              </a:spcAft>
              <a:buNone/>
            </a:pPr>
            <a:r>
              <a:rPr lang="en" b="1">
                <a:solidFill>
                  <a:srgbClr val="000000"/>
                </a:solidFill>
                <a:latin typeface="Arial"/>
                <a:ea typeface="Arial"/>
                <a:cs typeface="Arial"/>
                <a:sym typeface="Arial"/>
              </a:rPr>
              <a:t>Direct Preference Optimization (DPO)</a:t>
            </a:r>
            <a:r>
              <a:rPr lang="en">
                <a:solidFill>
                  <a:srgbClr val="000000"/>
                </a:solidFill>
                <a:latin typeface="Arial"/>
                <a:ea typeface="Arial"/>
                <a:cs typeface="Arial"/>
                <a:sym typeface="Arial"/>
              </a:rPr>
              <a:t>: Simplifies RLHF by enabling LLMs to learn human preferences via an auxiliary reward head, allowing stable and computationally efficient fine-tuning without complex reinforcement learning procedures.</a:t>
            </a:r>
            <a:endParaRPr b="1">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2617</Words>
  <Application>Microsoft Macintosh PowerPoint</Application>
  <PresentationFormat>On-screen Show (16:9)</PresentationFormat>
  <Paragraphs>317</Paragraphs>
  <Slides>43</Slides>
  <Notes>43</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Lato</vt:lpstr>
      <vt:lpstr>Raleway</vt:lpstr>
      <vt:lpstr>Streamline</vt:lpstr>
      <vt:lpstr>Systems for RLHF (Reinforcement Learning from Human Feedback)</vt:lpstr>
      <vt:lpstr>​​Training language models to follow instructions with human feedback</vt:lpstr>
      <vt:lpstr>Motivation</vt:lpstr>
      <vt:lpstr>Related Work</vt:lpstr>
      <vt:lpstr>High-level Methodology </vt:lpstr>
      <vt:lpstr>Dataset</vt:lpstr>
      <vt:lpstr>Dataset</vt:lpstr>
      <vt:lpstr>Dataset</vt:lpstr>
      <vt:lpstr>Model/Training Details</vt:lpstr>
      <vt:lpstr>Model/Training Details</vt:lpstr>
      <vt:lpstr>Model/Training Details</vt:lpstr>
      <vt:lpstr>Model/Training Details</vt:lpstr>
      <vt:lpstr>Evaluation</vt:lpstr>
      <vt:lpstr>Evaluation</vt:lpstr>
      <vt:lpstr>Results - API Distribution </vt:lpstr>
      <vt:lpstr>Results - API Distribution</vt:lpstr>
      <vt:lpstr>Results - API Distribution</vt:lpstr>
      <vt:lpstr>Results - Public NLP Datasets</vt:lpstr>
      <vt:lpstr>Results - Public NLP Datasets</vt:lpstr>
      <vt:lpstr>Results - Qualitative Results</vt:lpstr>
      <vt:lpstr>Discussion</vt:lpstr>
      <vt:lpstr>RLHFuse: Efficient RLHF Training for Large Language Models with Inter- and Intra-Stage Fusion</vt:lpstr>
      <vt:lpstr>Main Issues in Current RLHF</vt:lpstr>
      <vt:lpstr>RLHF Workflow</vt:lpstr>
      <vt:lpstr>LLM Parallelism</vt:lpstr>
      <vt:lpstr>Proposed Solution</vt:lpstr>
      <vt:lpstr>Data-Aware Inter-Stage Fusion</vt:lpstr>
      <vt:lpstr>Optimizing Migration Strategy</vt:lpstr>
      <vt:lpstr>Intra-Stage Fusion</vt:lpstr>
      <vt:lpstr>PowerPoint Presentation</vt:lpstr>
      <vt:lpstr>Implementation</vt:lpstr>
      <vt:lpstr>Evaluation</vt:lpstr>
      <vt:lpstr>Evaluation</vt:lpstr>
      <vt:lpstr>Stage Fusion Improvements</vt:lpstr>
      <vt:lpstr>Improvements on Prior Work</vt:lpstr>
      <vt:lpstr>Direct Preference Optimization: Your Language Model is Secretly a Reward Model</vt:lpstr>
      <vt:lpstr>How RLHF changes to DPO? </vt:lpstr>
      <vt:lpstr>Why Direct Preference Optimization (DPO)?</vt:lpstr>
      <vt:lpstr>PowerPoint Presentation</vt:lpstr>
      <vt:lpstr>PowerPoint Presentation</vt:lpstr>
      <vt:lpstr>DPO &gt; RLHF</vt:lpstr>
      <vt:lpstr>Summary</vt:lpstr>
      <vt:lpstr>Recap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for RLHF (Reinforcement Learning from Human Feedback)</dc:title>
  <cp:lastModifiedBy>Patel, Nishk</cp:lastModifiedBy>
  <cp:revision>1</cp:revision>
  <dcterms:modified xsi:type="dcterms:W3CDTF">2025-03-04T18:03:20Z</dcterms:modified>
</cp:coreProperties>
</file>