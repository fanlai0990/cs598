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5"/>
  </p:notesMasterIdLst>
  <p:sldIdLst>
    <p:sldId id="256" r:id="rId2"/>
    <p:sldId id="307" r:id="rId3"/>
    <p:sldId id="313" r:id="rId4"/>
    <p:sldId id="314" r:id="rId5"/>
    <p:sldId id="310" r:id="rId6"/>
    <p:sldId id="311" r:id="rId7"/>
    <p:sldId id="260" r:id="rId8"/>
    <p:sldId id="261" r:id="rId9"/>
    <p:sldId id="262" r:id="rId10"/>
    <p:sldId id="263" r:id="rId11"/>
    <p:sldId id="264" r:id="rId12"/>
    <p:sldId id="265" r:id="rId13"/>
    <p:sldId id="266" r:id="rId14"/>
    <p:sldId id="315" r:id="rId15"/>
    <p:sldId id="268" r:id="rId16"/>
    <p:sldId id="289" r:id="rId17"/>
    <p:sldId id="308" r:id="rId18"/>
    <p:sldId id="309" r:id="rId19"/>
    <p:sldId id="290" r:id="rId20"/>
    <p:sldId id="291" r:id="rId21"/>
    <p:sldId id="292" r:id="rId22"/>
    <p:sldId id="293" r:id="rId23"/>
    <p:sldId id="294" r:id="rId24"/>
    <p:sldId id="295" r:id="rId25"/>
    <p:sldId id="296" r:id="rId26"/>
    <p:sldId id="297" r:id="rId27"/>
    <p:sldId id="299" r:id="rId28"/>
    <p:sldId id="298" r:id="rId29"/>
    <p:sldId id="300" r:id="rId30"/>
    <p:sldId id="317" r:id="rId31"/>
    <p:sldId id="318" r:id="rId32"/>
    <p:sldId id="302" r:id="rId33"/>
    <p:sldId id="303" r:id="rId34"/>
    <p:sldId id="319" r:id="rId35"/>
    <p:sldId id="304" r:id="rId36"/>
    <p:sldId id="320" r:id="rId37"/>
    <p:sldId id="305" r:id="rId38"/>
    <p:sldId id="306" r:id="rId39"/>
    <p:sldId id="316" r:id="rId40"/>
    <p:sldId id="312" r:id="rId41"/>
    <p:sldId id="322" r:id="rId42"/>
    <p:sldId id="323" r:id="rId43"/>
    <p:sldId id="321" r:id="rId44"/>
  </p:sldIdLst>
  <p:sldSz cx="12192000" cy="6858000"/>
  <p:notesSz cx="6858000" cy="9144000"/>
  <p:embeddedFontLst>
    <p:embeddedFont>
      <p:font typeface="Cambria Math" panose="02040503050406030204" pitchFamily="18" charset="0"/>
      <p:regular r:id="rId46"/>
    </p:embeddedFont>
    <p:embeddedFont>
      <p:font typeface="Roboto" panose="02000000000000000000" pitchFamily="2"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53" roundtripDataSignature="AMtx7mhDYERpE90dcI+m7dTPvdiE/DUFE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53CF286-7369-4DD5-A2F5-A9F0B04E6F2C}">
  <a:tblStyle styleId="{353CF286-7369-4DD5-A2F5-A9F0B04E6F2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04"/>
    <p:restoredTop sz="95090" autoAdjust="0"/>
  </p:normalViewPr>
  <p:slideViewPr>
    <p:cSldViewPr snapToGrid="0">
      <p:cViewPr varScale="1">
        <p:scale>
          <a:sx n="79" d="100"/>
          <a:sy n="79" d="100"/>
        </p:scale>
        <p:origin x="542"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customschemas.google.com/relationships/presentationmetadata" Target="metadata"/><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3.fntdata"/><Relationship Id="rId56"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4.fntdata"/><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 name="Google Shape;8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a:extLst>
            <a:ext uri="{FF2B5EF4-FFF2-40B4-BE49-F238E27FC236}">
              <a16:creationId xmlns:a16="http://schemas.microsoft.com/office/drawing/2014/main" id="{70C6B8E0-BD0D-2BFC-41FC-F215EFC10097}"/>
            </a:ext>
          </a:extLst>
        </p:cNvPr>
        <p:cNvGrpSpPr/>
        <p:nvPr/>
      </p:nvGrpSpPr>
      <p:grpSpPr>
        <a:xfrm>
          <a:off x="0" y="0"/>
          <a:ext cx="0" cy="0"/>
          <a:chOff x="0" y="0"/>
          <a:chExt cx="0" cy="0"/>
        </a:xfrm>
      </p:grpSpPr>
      <p:sp>
        <p:nvSpPr>
          <p:cNvPr id="587" name="Google Shape;587;g330b2db8419_2_73:notes">
            <a:extLst>
              <a:ext uri="{FF2B5EF4-FFF2-40B4-BE49-F238E27FC236}">
                <a16:creationId xmlns:a16="http://schemas.microsoft.com/office/drawing/2014/main" id="{453D1AC4-5D65-20D8-5917-33B3660DC48C}"/>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8" name="Google Shape;588;g330b2db8419_2_73:notes">
            <a:extLst>
              <a:ext uri="{FF2B5EF4-FFF2-40B4-BE49-F238E27FC236}">
                <a16:creationId xmlns:a16="http://schemas.microsoft.com/office/drawing/2014/main" id="{5F433505-77CB-2EBA-3ED2-CC2DEC8A4B8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569134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a:extLst>
            <a:ext uri="{FF2B5EF4-FFF2-40B4-BE49-F238E27FC236}">
              <a16:creationId xmlns:a16="http://schemas.microsoft.com/office/drawing/2014/main" id="{FA2C587A-1B42-F22F-C2C0-7C1DE2EBA189}"/>
            </a:ext>
          </a:extLst>
        </p:cNvPr>
        <p:cNvGrpSpPr/>
        <p:nvPr/>
      </p:nvGrpSpPr>
      <p:grpSpPr>
        <a:xfrm>
          <a:off x="0" y="0"/>
          <a:ext cx="0" cy="0"/>
          <a:chOff x="0" y="0"/>
          <a:chExt cx="0" cy="0"/>
        </a:xfrm>
      </p:grpSpPr>
      <p:sp>
        <p:nvSpPr>
          <p:cNvPr id="587" name="Google Shape;587;g330b2db8419_2_73:notes">
            <a:extLst>
              <a:ext uri="{FF2B5EF4-FFF2-40B4-BE49-F238E27FC236}">
                <a16:creationId xmlns:a16="http://schemas.microsoft.com/office/drawing/2014/main" id="{012E7ACA-2F3B-69CA-9ED7-FE5546E884AB}"/>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a:buNone/>
            </a:pPr>
            <a:r>
              <a:rPr lang="en-US" dirty="0"/>
              <a:t>Before we dive into the technical details of the REALM paper, let's take a moment to understand what Retrieval-Augmented Generation - or RAG - is all about.</a:t>
            </a:r>
          </a:p>
          <a:p>
            <a:pPr>
              <a:buNone/>
            </a:pPr>
            <a:r>
              <a:rPr lang="en-US" dirty="0"/>
              <a:t>Think about how we as humans handle knowledge. When you need to write a detailed report or answer a complex question, you rarely rely on memory alone. Instead, you probably look things up - in books, articles, or online sources.</a:t>
            </a:r>
          </a:p>
          <a:p>
            <a:pPr>
              <a:buNone/>
            </a:pPr>
            <a:r>
              <a:rPr lang="en-US" dirty="0"/>
              <a:t>Traditional AI language models don't work this way. They're more like someone who had to memorize everything before an exam and can only use what they've committed to memory. They have no way to 'look things up' when answering questions. Whatever knowledge wasn't captured during their training is simply unavailable to them.</a:t>
            </a:r>
          </a:p>
          <a:p>
            <a:r>
              <a:rPr lang="en-US" dirty="0"/>
              <a:t>RAG takes a fundamentally different approach. These systems combine the reasoning abilities of language models with the ability to retrieve and consult external knowledge. It's like giving the AI a library of reference materials it can search through when needed.</a:t>
            </a:r>
          </a:p>
          <a:p>
            <a:pPr marL="0" lvl="0" indent="0" algn="l" rtl="0">
              <a:lnSpc>
                <a:spcPct val="100000"/>
              </a:lnSpc>
              <a:spcBef>
                <a:spcPts val="0"/>
              </a:spcBef>
              <a:spcAft>
                <a:spcPts val="0"/>
              </a:spcAft>
              <a:buSzPts val="1400"/>
              <a:buNone/>
            </a:pPr>
            <a:endParaRPr dirty="0"/>
          </a:p>
        </p:txBody>
      </p:sp>
      <p:sp>
        <p:nvSpPr>
          <p:cNvPr id="588" name="Google Shape;588;g330b2db8419_2_73:notes">
            <a:extLst>
              <a:ext uri="{FF2B5EF4-FFF2-40B4-BE49-F238E27FC236}">
                <a16:creationId xmlns:a16="http://schemas.microsoft.com/office/drawing/2014/main" id="{AA5D750A-84F2-4185-5B59-840B1DADB5C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408112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a:extLst>
            <a:ext uri="{FF2B5EF4-FFF2-40B4-BE49-F238E27FC236}">
              <a16:creationId xmlns:a16="http://schemas.microsoft.com/office/drawing/2014/main" id="{583BAC60-55D8-EB1C-7A3F-A123A87819A0}"/>
            </a:ext>
          </a:extLst>
        </p:cNvPr>
        <p:cNvGrpSpPr/>
        <p:nvPr/>
      </p:nvGrpSpPr>
      <p:grpSpPr>
        <a:xfrm>
          <a:off x="0" y="0"/>
          <a:ext cx="0" cy="0"/>
          <a:chOff x="0" y="0"/>
          <a:chExt cx="0" cy="0"/>
        </a:xfrm>
      </p:grpSpPr>
      <p:sp>
        <p:nvSpPr>
          <p:cNvPr id="587" name="Google Shape;587;g330b2db8419_2_73:notes">
            <a:extLst>
              <a:ext uri="{FF2B5EF4-FFF2-40B4-BE49-F238E27FC236}">
                <a16:creationId xmlns:a16="http://schemas.microsoft.com/office/drawing/2014/main" id="{C75FF4BD-49A0-92A6-0507-6D6584E1A47F}"/>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a:buNone/>
            </a:pPr>
            <a:r>
              <a:rPr lang="en-US" dirty="0"/>
              <a:t>To summarize,</a:t>
            </a:r>
          </a:p>
          <a:p>
            <a:pPr>
              <a:buNone/>
            </a:pPr>
            <a:endParaRPr lang="en-US" dirty="0"/>
          </a:p>
          <a:p>
            <a:pPr>
              <a:buNone/>
            </a:pPr>
            <a:r>
              <a:rPr lang="en-US" dirty="0"/>
              <a:t>Language models like BERT and T5 have showed impressive abilities to capture world knowledge through their parameters. They implicitly learned lots of world knowledge, such as BERT can implicitly learned that </a:t>
            </a:r>
            <a:r>
              <a:rPr lang="en-US" b="1" dirty="0"/>
              <a:t>pound</a:t>
            </a:r>
            <a:r>
              <a:rPr lang="en-US" b="0" dirty="0"/>
              <a:t> is the current of the UK.</a:t>
            </a:r>
          </a:p>
          <a:p>
            <a:pPr>
              <a:buNone/>
            </a:pPr>
            <a:endParaRPr lang="en-US" dirty="0"/>
          </a:p>
          <a:p>
            <a:pPr>
              <a:buNone/>
            </a:pPr>
            <a:endParaRPr lang="en-US" dirty="0"/>
          </a:p>
          <a:p>
            <a:pPr>
              <a:buFont typeface="+mj-lt"/>
              <a:buAutoNum type="arabicPeriod"/>
            </a:pPr>
            <a:r>
              <a:rPr lang="en-US" dirty="0"/>
              <a:t>The knowledge is stored implicitly within model parameters, making it difficult to interpret what knowledge is stored and where</a:t>
            </a:r>
          </a:p>
          <a:p>
            <a:pPr>
              <a:buFont typeface="+mj-lt"/>
              <a:buAutoNum type="arabicPeriod"/>
            </a:pPr>
            <a:r>
              <a:rPr lang="en-US" dirty="0"/>
              <a:t>Storage capacity is constrained by network size, requiring ever-larger networks to store more facts</a:t>
            </a:r>
          </a:p>
          <a:p>
            <a:pPr>
              <a:buFont typeface="+mj-lt"/>
              <a:buAutoNum type="arabicPeriod"/>
            </a:pPr>
            <a:r>
              <a:rPr lang="en-US" dirty="0"/>
              <a:t>Updating knowledge requires retraining the entire model</a:t>
            </a:r>
          </a:p>
          <a:p>
            <a:r>
              <a:rPr lang="en-US" dirty="0"/>
              <a:t>REALM addresses these limitations by augmenting language models with a learned retrieval component that can access external knowledge explicitly.</a:t>
            </a:r>
          </a:p>
          <a:p>
            <a:pPr marL="0" lvl="0" indent="0" algn="l" rtl="0">
              <a:lnSpc>
                <a:spcPct val="100000"/>
              </a:lnSpc>
              <a:spcBef>
                <a:spcPts val="0"/>
              </a:spcBef>
              <a:spcAft>
                <a:spcPts val="0"/>
              </a:spcAft>
              <a:buSzPts val="1400"/>
              <a:buNone/>
            </a:pPr>
            <a:endParaRPr dirty="0"/>
          </a:p>
        </p:txBody>
      </p:sp>
      <p:sp>
        <p:nvSpPr>
          <p:cNvPr id="588" name="Google Shape;588;g330b2db8419_2_73:notes">
            <a:extLst>
              <a:ext uri="{FF2B5EF4-FFF2-40B4-BE49-F238E27FC236}">
                <a16:creationId xmlns:a16="http://schemas.microsoft.com/office/drawing/2014/main" id="{9B93FF18-7C94-AEBC-CD8B-CE9E56E68EF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025830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a:extLst>
            <a:ext uri="{FF2B5EF4-FFF2-40B4-BE49-F238E27FC236}">
              <a16:creationId xmlns:a16="http://schemas.microsoft.com/office/drawing/2014/main" id="{3EE18E05-7243-5E94-A325-CC3F930E496F}"/>
            </a:ext>
          </a:extLst>
        </p:cNvPr>
        <p:cNvGrpSpPr/>
        <p:nvPr/>
      </p:nvGrpSpPr>
      <p:grpSpPr>
        <a:xfrm>
          <a:off x="0" y="0"/>
          <a:ext cx="0" cy="0"/>
          <a:chOff x="0" y="0"/>
          <a:chExt cx="0" cy="0"/>
        </a:xfrm>
      </p:grpSpPr>
      <p:sp>
        <p:nvSpPr>
          <p:cNvPr id="587" name="Google Shape;587;g330b2db8419_2_73:notes">
            <a:extLst>
              <a:ext uri="{FF2B5EF4-FFF2-40B4-BE49-F238E27FC236}">
                <a16:creationId xmlns:a16="http://schemas.microsoft.com/office/drawing/2014/main" id="{B264F2A0-556D-5B60-894D-ADFFEEA7F129}"/>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a:buNone/>
            </a:pPr>
            <a:r>
              <a:rPr lang="en-US" sz="1100" dirty="0"/>
              <a:t>Now let's look at what makes REALM special in a more concrete way.</a:t>
            </a:r>
          </a:p>
          <a:p>
            <a:pPr>
              <a:buNone/>
            </a:pPr>
            <a:r>
              <a:rPr lang="en-US" sz="1100" dirty="0"/>
              <a:t>At its core, REALM is a combination of two parts: BERT and a knowledge retriever. That's the key formula you see at the top of this slide.</a:t>
            </a:r>
          </a:p>
          <a:p>
            <a:r>
              <a:rPr lang="en-US" sz="1100" dirty="0"/>
              <a:t>First, let's understand how regular BERT works with an example. When BERT sees a sentence with a masked word like 'The [MASK] at the top of the pyramid,' it has to guess what goes in that blank space. But BERT only has its internal knowledge to work with - whatever it learned during training. It might not know the answer or might make an incorrect guess because it's limited to what's in its parameters.</a:t>
            </a:r>
          </a:p>
          <a:p>
            <a:pPr marL="0" lvl="0" indent="0" algn="l" rtl="0">
              <a:lnSpc>
                <a:spcPct val="100000"/>
              </a:lnSpc>
              <a:spcBef>
                <a:spcPts val="0"/>
              </a:spcBef>
              <a:spcAft>
                <a:spcPts val="0"/>
              </a:spcAft>
              <a:buSzPts val="1400"/>
              <a:buNone/>
            </a:pPr>
            <a:endParaRPr lang="en-US" sz="1100"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100" dirty="0"/>
              <a:t>REALM, on the other hand, When it sees the same sentence with a masked word, it doesn't just guess immediately. Instead, it searches through a database of documents to find relevant information. In this case, it finds a document that tells us 'The pyramidion on top allows for less material higher up the pyramid.' This external knowledge gives REALM exactly what it needs to correctly fill in the blank with 'pyramidion.'</a:t>
            </a:r>
          </a:p>
          <a:p>
            <a:pPr marL="0" lvl="0" indent="0" algn="l" rtl="0">
              <a:lnSpc>
                <a:spcPct val="100000"/>
              </a:lnSpc>
              <a:spcBef>
                <a:spcPts val="0"/>
              </a:spcBef>
              <a:spcAft>
                <a:spcPts val="0"/>
              </a:spcAft>
              <a:buSzPts val="1400"/>
              <a:buNone/>
            </a:pPr>
            <a:endParaRPr lang="en-US" sz="1100" dirty="0"/>
          </a:p>
        </p:txBody>
      </p:sp>
      <p:sp>
        <p:nvSpPr>
          <p:cNvPr id="588" name="Google Shape;588;g330b2db8419_2_73:notes">
            <a:extLst>
              <a:ext uri="{FF2B5EF4-FFF2-40B4-BE49-F238E27FC236}">
                <a16:creationId xmlns:a16="http://schemas.microsoft.com/office/drawing/2014/main" id="{D4FC3F43-66F0-5A04-8E82-93B9698F29D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382647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a:extLst>
            <a:ext uri="{FF2B5EF4-FFF2-40B4-BE49-F238E27FC236}">
              <a16:creationId xmlns:a16="http://schemas.microsoft.com/office/drawing/2014/main" id="{0B83CB77-C059-7719-DEF4-E4ECC3231977}"/>
            </a:ext>
          </a:extLst>
        </p:cNvPr>
        <p:cNvGrpSpPr/>
        <p:nvPr/>
      </p:nvGrpSpPr>
      <p:grpSpPr>
        <a:xfrm>
          <a:off x="0" y="0"/>
          <a:ext cx="0" cy="0"/>
          <a:chOff x="0" y="0"/>
          <a:chExt cx="0" cy="0"/>
        </a:xfrm>
      </p:grpSpPr>
      <p:sp>
        <p:nvSpPr>
          <p:cNvPr id="587" name="Google Shape;587;g330b2db8419_2_73:notes">
            <a:extLst>
              <a:ext uri="{FF2B5EF4-FFF2-40B4-BE49-F238E27FC236}">
                <a16:creationId xmlns:a16="http://schemas.microsoft.com/office/drawing/2014/main" id="{4DDCA659-20E5-3D34-8575-540C5687540B}"/>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sz="1100" b="1">
                <a:latin typeface="Arial"/>
                <a:ea typeface="Arial"/>
                <a:cs typeface="Arial"/>
                <a:sym typeface="Arial"/>
              </a:rPr>
              <a:t>Inference in DeepSeek is broken into two main stages</a:t>
            </a:r>
            <a:r>
              <a:rPr lang="en-US" sz="1100">
                <a:latin typeface="Arial"/>
                <a:ea typeface="Arial"/>
                <a:cs typeface="Arial"/>
                <a:sym typeface="Arial"/>
              </a:rPr>
              <a:t> – </a:t>
            </a:r>
            <a:r>
              <a:rPr lang="en-US" sz="1100" b="1">
                <a:latin typeface="Arial"/>
                <a:ea typeface="Arial"/>
                <a:cs typeface="Arial"/>
                <a:sym typeface="Arial"/>
              </a:rPr>
              <a:t>prefilling and decoding</a:t>
            </a:r>
            <a:r>
              <a:rPr lang="en-US" sz="1100">
                <a:latin typeface="Arial"/>
                <a:ea typeface="Arial"/>
                <a:cs typeface="Arial"/>
                <a:sym typeface="Arial"/>
              </a:rPr>
              <a:t>.</a:t>
            </a:r>
            <a:endParaRPr sz="110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US" sz="1100" b="1">
                <a:latin typeface="Arial"/>
                <a:ea typeface="Arial"/>
                <a:cs typeface="Arial"/>
                <a:sym typeface="Arial"/>
              </a:rPr>
              <a:t>During the prefilling stage</a:t>
            </a:r>
            <a:r>
              <a:rPr lang="en-US" sz="1100">
                <a:latin typeface="Arial"/>
                <a:ea typeface="Arial"/>
                <a:cs typeface="Arial"/>
                <a:sym typeface="Arial"/>
              </a:rPr>
              <a:t>, attention layers use </a:t>
            </a:r>
            <a:r>
              <a:rPr lang="en-US" sz="1100" b="1">
                <a:latin typeface="Arial"/>
                <a:ea typeface="Arial"/>
                <a:cs typeface="Arial"/>
                <a:sym typeface="Arial"/>
              </a:rPr>
              <a:t>TP4 with Sequence Parallelism (SP)</a:t>
            </a:r>
            <a:r>
              <a:rPr lang="en-US" sz="1100">
                <a:latin typeface="Arial"/>
                <a:ea typeface="Arial"/>
                <a:cs typeface="Arial"/>
                <a:sym typeface="Arial"/>
              </a:rPr>
              <a:t> to ensure </a:t>
            </a:r>
            <a:r>
              <a:rPr lang="en-US" sz="1100" b="1">
                <a:latin typeface="Arial"/>
                <a:ea typeface="Arial"/>
                <a:cs typeface="Arial"/>
                <a:sym typeface="Arial"/>
              </a:rPr>
              <a:t>smooth operations</a:t>
            </a:r>
            <a:r>
              <a:rPr lang="en-US" sz="1100">
                <a:latin typeface="Arial"/>
                <a:ea typeface="Arial"/>
                <a:cs typeface="Arial"/>
                <a:sym typeface="Arial"/>
              </a:rPr>
              <a:t>.</a:t>
            </a:r>
            <a:endParaRPr sz="110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US" sz="1100" b="1">
                <a:latin typeface="Arial"/>
                <a:ea typeface="Arial"/>
                <a:cs typeface="Arial"/>
                <a:sym typeface="Arial"/>
              </a:rPr>
              <a:t>MoE layers use Expert Parallelism (EP32)</a:t>
            </a:r>
            <a:r>
              <a:rPr lang="en-US" sz="1100">
                <a:latin typeface="Arial"/>
                <a:ea typeface="Arial"/>
                <a:cs typeface="Arial"/>
                <a:sym typeface="Arial"/>
              </a:rPr>
              <a:t>, ensuring that </a:t>
            </a:r>
            <a:r>
              <a:rPr lang="en-US" sz="1100" b="1">
                <a:latin typeface="Arial"/>
                <a:ea typeface="Arial"/>
                <a:cs typeface="Arial"/>
                <a:sym typeface="Arial"/>
              </a:rPr>
              <a:t>batch sizes remain large</a:t>
            </a:r>
            <a:r>
              <a:rPr lang="en-US" sz="1100">
                <a:latin typeface="Arial"/>
                <a:ea typeface="Arial"/>
                <a:cs typeface="Arial"/>
                <a:sym typeface="Arial"/>
              </a:rPr>
              <a:t> while keeping load balanced.</a:t>
            </a:r>
            <a:endParaRPr sz="110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US" sz="1100" b="1">
                <a:latin typeface="Arial"/>
                <a:ea typeface="Arial"/>
                <a:cs typeface="Arial"/>
                <a:sym typeface="Arial"/>
              </a:rPr>
              <a:t>A key innovation here is dynamic redundancy</a:t>
            </a:r>
            <a:r>
              <a:rPr lang="en-US" sz="1100">
                <a:latin typeface="Arial"/>
                <a:ea typeface="Arial"/>
                <a:cs typeface="Arial"/>
                <a:sym typeface="Arial"/>
              </a:rPr>
              <a:t>, where redundant experts are </a:t>
            </a:r>
            <a:r>
              <a:rPr lang="en-US" sz="1100" b="1">
                <a:latin typeface="Arial"/>
                <a:ea typeface="Arial"/>
                <a:cs typeface="Arial"/>
                <a:sym typeface="Arial"/>
              </a:rPr>
              <a:t>deployed based on real-time load statistics</a:t>
            </a:r>
            <a:r>
              <a:rPr lang="en-US" sz="1100">
                <a:latin typeface="Arial"/>
                <a:ea typeface="Arial"/>
                <a:cs typeface="Arial"/>
                <a:sym typeface="Arial"/>
              </a:rPr>
              <a:t>.</a:t>
            </a:r>
            <a:endParaRPr sz="110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US" sz="1100" b="1">
                <a:latin typeface="Arial"/>
                <a:ea typeface="Arial"/>
                <a:cs typeface="Arial"/>
                <a:sym typeface="Arial"/>
              </a:rPr>
              <a:t>Micro-batches are overlapped</a:t>
            </a:r>
            <a:r>
              <a:rPr lang="en-US" sz="1100">
                <a:latin typeface="Arial"/>
                <a:ea typeface="Arial"/>
                <a:cs typeface="Arial"/>
                <a:sym typeface="Arial"/>
              </a:rPr>
              <a:t>, meaning computation continues while </a:t>
            </a:r>
            <a:r>
              <a:rPr lang="en-US" sz="1100" b="1">
                <a:latin typeface="Arial"/>
                <a:ea typeface="Arial"/>
                <a:cs typeface="Arial"/>
                <a:sym typeface="Arial"/>
              </a:rPr>
              <a:t>communication happens in the background</a:t>
            </a:r>
            <a:r>
              <a:rPr lang="en-US" sz="1100">
                <a:latin typeface="Arial"/>
                <a:ea typeface="Arial"/>
                <a:cs typeface="Arial"/>
                <a:sym typeface="Arial"/>
              </a:rPr>
              <a:t>.</a:t>
            </a:r>
            <a:endParaRPr sz="110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US"/>
              <a:t>This slide focuses on how the “prefilling” stage is set up:</a:t>
            </a:r>
            <a:endParaRPr/>
          </a:p>
          <a:p>
            <a:pPr marL="457200" lvl="0" indent="-298450" algn="l" rtl="0">
              <a:lnSpc>
                <a:spcPct val="115000"/>
              </a:lnSpc>
              <a:spcBef>
                <a:spcPts val="1200"/>
              </a:spcBef>
              <a:spcAft>
                <a:spcPts val="0"/>
              </a:spcAft>
              <a:buClr>
                <a:schemeClr val="dk1"/>
              </a:buClr>
              <a:buSzPts val="1100"/>
              <a:buAutoNum type="arabicPeriod"/>
            </a:pPr>
            <a:r>
              <a:rPr lang="en-US"/>
              <a:t>Attention layers using TP4 with Sequence Parallelism (SP).</a:t>
            </a:r>
            <a:endParaRPr/>
          </a:p>
          <a:p>
            <a:pPr marL="457200" lvl="0" indent="-298450" algn="l" rtl="0">
              <a:lnSpc>
                <a:spcPct val="115000"/>
              </a:lnSpc>
              <a:spcBef>
                <a:spcPts val="0"/>
              </a:spcBef>
              <a:spcAft>
                <a:spcPts val="0"/>
              </a:spcAft>
              <a:buClr>
                <a:schemeClr val="dk1"/>
              </a:buClr>
              <a:buSzPts val="1100"/>
              <a:buAutoNum type="arabicPeriod"/>
            </a:pPr>
            <a:r>
              <a:rPr lang="en-US"/>
              <a:t>MoE layers on EP32 to handle large batch sizes per expert.</a:t>
            </a:r>
            <a:endParaRPr/>
          </a:p>
          <a:p>
            <a:pPr marL="457200" lvl="0" indent="-298450" algn="l" rtl="0">
              <a:lnSpc>
                <a:spcPct val="115000"/>
              </a:lnSpc>
              <a:spcBef>
                <a:spcPts val="0"/>
              </a:spcBef>
              <a:spcAft>
                <a:spcPts val="0"/>
              </a:spcAft>
              <a:buClr>
                <a:schemeClr val="dk1"/>
              </a:buClr>
              <a:buSzPts val="1100"/>
              <a:buAutoNum type="arabicPeriod"/>
            </a:pPr>
            <a:r>
              <a:rPr lang="en-US"/>
              <a:t>Redundant experts deployed dynamically—meaning if one set is busy, another can step in.</a:t>
            </a:r>
            <a:endParaRPr/>
          </a:p>
          <a:p>
            <a:pPr marL="457200" lvl="0" indent="-298450" algn="l" rtl="0">
              <a:lnSpc>
                <a:spcPct val="115000"/>
              </a:lnSpc>
              <a:spcBef>
                <a:spcPts val="0"/>
              </a:spcBef>
              <a:spcAft>
                <a:spcPts val="0"/>
              </a:spcAft>
              <a:buClr>
                <a:schemeClr val="dk1"/>
              </a:buClr>
              <a:buSzPts val="1100"/>
              <a:buAutoNum type="arabicPeriod"/>
            </a:pPr>
            <a:r>
              <a:rPr lang="en-US"/>
              <a:t>They also overlap micro-batches to mask communication costs.</a:t>
            </a:r>
            <a:endParaRPr/>
          </a:p>
          <a:p>
            <a:pPr marL="0" lvl="0" indent="0" algn="l" rtl="0">
              <a:lnSpc>
                <a:spcPct val="115000"/>
              </a:lnSpc>
              <a:spcBef>
                <a:spcPts val="1200"/>
              </a:spcBef>
              <a:spcAft>
                <a:spcPts val="0"/>
              </a:spcAft>
              <a:buClr>
                <a:schemeClr val="dk1"/>
              </a:buClr>
              <a:buSzPts val="1100"/>
              <a:buFont typeface="Arial"/>
              <a:buNone/>
            </a:pPr>
            <a:r>
              <a:rPr lang="en-US"/>
              <a:t>By the time the model finishes this stage, the initial context is loaded and processed, prepping for smooth decoding.</a:t>
            </a:r>
            <a:endParaRPr/>
          </a:p>
          <a:p>
            <a:pPr marL="0" lvl="0" indent="0" algn="l" rtl="0">
              <a:lnSpc>
                <a:spcPct val="100000"/>
              </a:lnSpc>
              <a:spcBef>
                <a:spcPts val="0"/>
              </a:spcBef>
              <a:spcAft>
                <a:spcPts val="0"/>
              </a:spcAft>
              <a:buSzPts val="1400"/>
              <a:buNone/>
            </a:pPr>
            <a:endParaRPr/>
          </a:p>
        </p:txBody>
      </p:sp>
      <p:sp>
        <p:nvSpPr>
          <p:cNvPr id="588" name="Google Shape;588;g330b2db8419_2_73:notes">
            <a:extLst>
              <a:ext uri="{FF2B5EF4-FFF2-40B4-BE49-F238E27FC236}">
                <a16:creationId xmlns:a16="http://schemas.microsoft.com/office/drawing/2014/main" id="{7A00947D-E653-7528-3605-37B7DF966A0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458252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a:buNone/>
            </a:pPr>
            <a:r>
              <a:rPr lang="en-US" dirty="0"/>
              <a:t>The overall goal of REALM is to learn a distribution </a:t>
            </a:r>
            <a:r>
              <a:rPr lang="en-US" b="1" dirty="0"/>
              <a:t>of y given x</a:t>
            </a:r>
          </a:p>
          <a:p>
            <a:pPr>
              <a:buNone/>
            </a:pPr>
            <a:endParaRPr lang="en-US" b="1" dirty="0"/>
          </a:p>
          <a:p>
            <a:pPr>
              <a:buNone/>
            </a:pPr>
            <a:r>
              <a:rPr lang="en-US" b="1" dirty="0"/>
              <a:t>X and Y have different meanings for different tasks.</a:t>
            </a:r>
          </a:p>
          <a:p>
            <a:pPr>
              <a:buNone/>
            </a:pPr>
            <a:endParaRPr lang="en-US" b="1" dirty="0"/>
          </a:p>
          <a:p>
            <a:pPr>
              <a:buNone/>
            </a:pPr>
            <a:r>
              <a:rPr lang="en-US" dirty="0"/>
              <a:t>REALM is pretrained with a Masked Language Model, which means during pre-training, x is a piece of text with some words masked out, and y represents those missing tokens we're trying to predict.</a:t>
            </a:r>
          </a:p>
          <a:p>
            <a:pPr>
              <a:buNone/>
            </a:pPr>
            <a:r>
              <a:rPr lang="en-US" dirty="0"/>
              <a:t>This can be fined turned to answer some natural questions with more than one token in the answer, where the input the some question, and output is the answer. </a:t>
            </a:r>
          </a:p>
          <a:p>
            <a:pPr>
              <a:buNone/>
            </a:pPr>
            <a:endParaRPr lang="en-US" dirty="0"/>
          </a:p>
          <a:p>
            <a:pPr>
              <a:buNone/>
            </a:pPr>
            <a:r>
              <a:rPr lang="en-US" dirty="0"/>
              <a:t>What makes REALM special is how it breaks this prediction into two steps by adding a supplementary document, represented as “z”:</a:t>
            </a:r>
          </a:p>
          <a:p>
            <a:pPr>
              <a:buNone/>
            </a:pPr>
            <a:r>
              <a:rPr lang="en-US" dirty="0"/>
              <a:t>First, we have the Knowledge Retriever, which takes our input x and retrieves the most relevant documents z from our knowledge corpus. Instead of using a fixed retrieval system, REALM formulates knowledge retrieval into a learning problem, and jointly train the retriever with the language model. </a:t>
            </a:r>
          </a:p>
          <a:p>
            <a:r>
              <a:rPr lang="en-US" dirty="0"/>
              <a:t>Second, we have the Knowledge-Augmented Encoder, represented as p(</a:t>
            </a:r>
            <a:r>
              <a:rPr lang="en-US" dirty="0" err="1"/>
              <a:t>y|z,x</a:t>
            </a:r>
            <a:r>
              <a:rPr lang="en-US" dirty="0"/>
              <a:t>). This component takes both our original input x and the retrieved documents z to predict the output y. By seeing both the query and the retrieved knowledge, it can make much better predictions.</a:t>
            </a:r>
          </a:p>
          <a:p>
            <a:endParaRPr lang="en-US" dirty="0"/>
          </a:p>
          <a:p>
            <a:r>
              <a:rPr lang="en-US" dirty="0"/>
              <a:t>Putting them together, we're considering all possible documents we might retrieve, calculating how likely each one is to be relevant and how likely each one is to give us the right answer, and then combining these probabilities.</a:t>
            </a:r>
          </a:p>
          <a:p>
            <a:pPr>
              <a:buNone/>
            </a:pPr>
            <a:r>
              <a:rPr lang="en-US" dirty="0">
                <a:effectLst/>
              </a:rPr>
              <a:t>In practice, we don't actually sum over millions of documents - REALM only takes documents with highest probability. But the key insight is that the entire process, from retrieval to prediction, is learned together as a unified system."</a:t>
            </a:r>
            <a:endParaRPr lang="en-US" dirty="0"/>
          </a:p>
          <a:p>
            <a:pPr marL="0" lvl="0" indent="0" algn="l" rtl="0">
              <a:lnSpc>
                <a:spcPct val="100000"/>
              </a:lnSpc>
              <a:spcBef>
                <a:spcPts val="0"/>
              </a:spcBef>
              <a:spcAft>
                <a:spcPts val="0"/>
              </a:spcAft>
              <a:buSzPts val="1400"/>
              <a:buNone/>
            </a:pPr>
            <a:endParaRPr lang="en-CN" dirty="0"/>
          </a:p>
        </p:txBody>
      </p:sp>
      <p:sp>
        <p:nvSpPr>
          <p:cNvPr id="123" name="Google Shape;12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49349210e0_0_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39" name="Google Shape;139;g349349210e0_0_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49349210e0_0_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7" name="Google Shape;157;g349349210e0_0_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49349210e0_0_10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8" name="Google Shape;178;g349349210e0_0_1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49349210e0_0_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g349349210e0_0_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49349210e0_0_1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9" name="Google Shape;209;g349349210e0_0_1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49349210e0_0_1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5" name="Google Shape;225;g349349210e0_0_1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49349210e0_0_7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0" name="Google Shape;240;g349349210e0_0_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349349210e0_0_19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5" name="Google Shape;255;g349349210e0_0_1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g330b2db8419_2_7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588" name="Google Shape;588;g330b2db8419_2_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a:extLst>
            <a:ext uri="{FF2B5EF4-FFF2-40B4-BE49-F238E27FC236}">
              <a16:creationId xmlns:a16="http://schemas.microsoft.com/office/drawing/2014/main" id="{6C35AF4C-9103-F823-6135-AF6E5D4594BD}"/>
            </a:ext>
          </a:extLst>
        </p:cNvPr>
        <p:cNvGrpSpPr/>
        <p:nvPr/>
      </p:nvGrpSpPr>
      <p:grpSpPr>
        <a:xfrm>
          <a:off x="0" y="0"/>
          <a:ext cx="0" cy="0"/>
          <a:chOff x="0" y="0"/>
          <a:chExt cx="0" cy="0"/>
        </a:xfrm>
      </p:grpSpPr>
      <p:sp>
        <p:nvSpPr>
          <p:cNvPr id="587" name="Google Shape;587;g330b2db8419_2_73:notes">
            <a:extLst>
              <a:ext uri="{FF2B5EF4-FFF2-40B4-BE49-F238E27FC236}">
                <a16:creationId xmlns:a16="http://schemas.microsoft.com/office/drawing/2014/main" id="{29C4DD8D-D97F-67FE-D4D9-F21FD70601FF}"/>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1. </a:t>
            </a:r>
            <a:r>
              <a:rPr lang="en-US" dirty="0" err="1"/>
              <a:t>Bottlenect</a:t>
            </a:r>
            <a:r>
              <a:rPr lang="en-US" dirty="0"/>
              <a:t> as user provide large amt of text chunk along with query</a:t>
            </a:r>
          </a:p>
          <a:p>
            <a:pPr marL="0" lvl="0" indent="0" algn="l" rtl="0">
              <a:lnSpc>
                <a:spcPct val="100000"/>
              </a:lnSpc>
              <a:spcBef>
                <a:spcPts val="0"/>
              </a:spcBef>
              <a:spcAft>
                <a:spcPts val="0"/>
              </a:spcAft>
              <a:buSzPts val="1400"/>
              <a:buNone/>
            </a:pPr>
            <a:endParaRPr dirty="0"/>
          </a:p>
        </p:txBody>
      </p:sp>
      <p:sp>
        <p:nvSpPr>
          <p:cNvPr id="588" name="Google Shape;588;g330b2db8419_2_73:notes">
            <a:extLst>
              <a:ext uri="{FF2B5EF4-FFF2-40B4-BE49-F238E27FC236}">
                <a16:creationId xmlns:a16="http://schemas.microsoft.com/office/drawing/2014/main" id="{76C4831A-BF7D-85A4-8F9E-34738D65CDA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200704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a:extLst>
            <a:ext uri="{FF2B5EF4-FFF2-40B4-BE49-F238E27FC236}">
              <a16:creationId xmlns:a16="http://schemas.microsoft.com/office/drawing/2014/main" id="{3F192BA9-AE6E-8126-8222-D45F1DDA56E6}"/>
            </a:ext>
          </a:extLst>
        </p:cNvPr>
        <p:cNvGrpSpPr/>
        <p:nvPr/>
      </p:nvGrpSpPr>
      <p:grpSpPr>
        <a:xfrm>
          <a:off x="0" y="0"/>
          <a:ext cx="0" cy="0"/>
          <a:chOff x="0" y="0"/>
          <a:chExt cx="0" cy="0"/>
        </a:xfrm>
      </p:grpSpPr>
      <p:sp>
        <p:nvSpPr>
          <p:cNvPr id="587" name="Google Shape;587;g330b2db8419_2_73:notes">
            <a:extLst>
              <a:ext uri="{FF2B5EF4-FFF2-40B4-BE49-F238E27FC236}">
                <a16:creationId xmlns:a16="http://schemas.microsoft.com/office/drawing/2014/main" id="{58D809E4-ABB8-72E1-B941-8C66CCE578F1}"/>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228600" lvl="0" indent="-228600" algn="l" rtl="0">
              <a:lnSpc>
                <a:spcPct val="100000"/>
              </a:lnSpc>
              <a:spcBef>
                <a:spcPts val="0"/>
              </a:spcBef>
              <a:spcAft>
                <a:spcPts val="0"/>
              </a:spcAft>
              <a:buSzPts val="1400"/>
              <a:buAutoNum type="arabicPeriod"/>
            </a:pPr>
            <a:r>
              <a:rPr lang="en-US" dirty="0"/>
              <a:t>prefix: other chunks’ </a:t>
            </a:r>
            <a:r>
              <a:rPr lang="en-US" dirty="0" err="1"/>
              <a:t>kv</a:t>
            </a:r>
            <a:r>
              <a:rPr lang="en-US" dirty="0"/>
              <a:t> will not be used as they are not at prefix</a:t>
            </a:r>
          </a:p>
          <a:p>
            <a:pPr marL="228600" lvl="0" indent="-228600" algn="l" rtl="0">
              <a:lnSpc>
                <a:spcPct val="100000"/>
              </a:lnSpc>
              <a:spcBef>
                <a:spcPts val="0"/>
              </a:spcBef>
              <a:spcAft>
                <a:spcPts val="0"/>
              </a:spcAft>
              <a:buSzPts val="1400"/>
              <a:buAutoNum type="arabicPeriod"/>
            </a:pPr>
            <a:r>
              <a:rPr lang="en-US" dirty="0"/>
              <a:t>Full </a:t>
            </a:r>
            <a:r>
              <a:rPr lang="en-US" dirty="0" err="1"/>
              <a:t>kv</a:t>
            </a:r>
            <a:r>
              <a:rPr lang="en-US" dirty="0"/>
              <a:t> reuse: solution to prefix </a:t>
            </a:r>
            <a:r>
              <a:rPr lang="en-US" dirty="0" err="1"/>
              <a:t>bc</a:t>
            </a:r>
            <a:r>
              <a:rPr lang="en-US" dirty="0"/>
              <a:t> When you reuse a cached chunk </a:t>
            </a:r>
            <a:r>
              <a:rPr lang="en-US" b="1" dirty="0"/>
              <a:t>not at the start of the input</a:t>
            </a:r>
            <a:r>
              <a:rPr lang="en-US" dirty="0"/>
              <a:t>, you can </a:t>
            </a:r>
            <a:r>
              <a:rPr lang="en-US" b="1" dirty="0"/>
              <a:t>shift its positional embeddings</a:t>
            </a:r>
            <a:r>
              <a:rPr lang="en-US" dirty="0"/>
              <a:t> to match the new location.</a:t>
            </a:r>
          </a:p>
          <a:p>
            <a:pPr marL="228600" lvl="0" indent="-228600" algn="l" rtl="0">
              <a:lnSpc>
                <a:spcPct val="100000"/>
              </a:lnSpc>
              <a:spcBef>
                <a:spcPts val="0"/>
              </a:spcBef>
              <a:spcAft>
                <a:spcPts val="0"/>
              </a:spcAft>
              <a:buSzPts val="1400"/>
              <a:buAutoNum type="arabicPeriod"/>
            </a:pPr>
            <a:r>
              <a:rPr lang="en-US" dirty="0"/>
              <a:t> a chunk’s KV cache is </a:t>
            </a:r>
            <a:r>
              <a:rPr lang="en-US" b="1" dirty="0"/>
              <a:t>precomputed in isolation</a:t>
            </a:r>
            <a:r>
              <a:rPr lang="en-US" dirty="0"/>
              <a:t>, it only contains </a:t>
            </a:r>
            <a:r>
              <a:rPr lang="en-US" b="1" dirty="0"/>
              <a:t>attention between tokens </a:t>
            </a:r>
            <a:r>
              <a:rPr lang="en-US" b="1" i="1" dirty="0"/>
              <a:t>within that chunk</a:t>
            </a:r>
            <a:r>
              <a:rPr lang="en-US" dirty="0"/>
              <a:t> . No info to others</a:t>
            </a:r>
          </a:p>
          <a:p>
            <a:pPr marL="0" lvl="0" indent="0" algn="l" rtl="0">
              <a:lnSpc>
                <a:spcPct val="100000"/>
              </a:lnSpc>
              <a:spcBef>
                <a:spcPts val="0"/>
              </a:spcBef>
              <a:spcAft>
                <a:spcPts val="0"/>
              </a:spcAft>
              <a:buSzPts val="1400"/>
              <a:buNone/>
            </a:pPr>
            <a:endParaRPr dirty="0"/>
          </a:p>
        </p:txBody>
      </p:sp>
      <p:sp>
        <p:nvSpPr>
          <p:cNvPr id="588" name="Google Shape;588;g330b2db8419_2_73:notes">
            <a:extLst>
              <a:ext uri="{FF2B5EF4-FFF2-40B4-BE49-F238E27FC236}">
                <a16:creationId xmlns:a16="http://schemas.microsoft.com/office/drawing/2014/main" id="{05F78ADA-4A0F-2CCD-DB03-99B633B9558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818897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a:extLst>
            <a:ext uri="{FF2B5EF4-FFF2-40B4-BE49-F238E27FC236}">
              <a16:creationId xmlns:a16="http://schemas.microsoft.com/office/drawing/2014/main" id="{99F1F80C-1E8E-61D9-19E5-25A476DB94D0}"/>
            </a:ext>
          </a:extLst>
        </p:cNvPr>
        <p:cNvGrpSpPr/>
        <p:nvPr/>
      </p:nvGrpSpPr>
      <p:grpSpPr>
        <a:xfrm>
          <a:off x="0" y="0"/>
          <a:ext cx="0" cy="0"/>
          <a:chOff x="0" y="0"/>
          <a:chExt cx="0" cy="0"/>
        </a:xfrm>
      </p:grpSpPr>
      <p:sp>
        <p:nvSpPr>
          <p:cNvPr id="587" name="Google Shape;587;g330b2db8419_2_73:notes">
            <a:extLst>
              <a:ext uri="{FF2B5EF4-FFF2-40B4-BE49-F238E27FC236}">
                <a16:creationId xmlns:a16="http://schemas.microsoft.com/office/drawing/2014/main" id="{48271CE0-5AE1-FEA6-496C-755FB75F4FBC}"/>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sz="1100" b="1">
                <a:latin typeface="Arial"/>
                <a:ea typeface="Arial"/>
                <a:cs typeface="Arial"/>
                <a:sym typeface="Arial"/>
              </a:rPr>
              <a:t>Inference in DeepSeek is broken into two main stages</a:t>
            </a:r>
            <a:r>
              <a:rPr lang="en-US" sz="1100">
                <a:latin typeface="Arial"/>
                <a:ea typeface="Arial"/>
                <a:cs typeface="Arial"/>
                <a:sym typeface="Arial"/>
              </a:rPr>
              <a:t> – </a:t>
            </a:r>
            <a:r>
              <a:rPr lang="en-US" sz="1100" b="1">
                <a:latin typeface="Arial"/>
                <a:ea typeface="Arial"/>
                <a:cs typeface="Arial"/>
                <a:sym typeface="Arial"/>
              </a:rPr>
              <a:t>prefilling and decoding</a:t>
            </a:r>
            <a:r>
              <a:rPr lang="en-US" sz="1100">
                <a:latin typeface="Arial"/>
                <a:ea typeface="Arial"/>
                <a:cs typeface="Arial"/>
                <a:sym typeface="Arial"/>
              </a:rPr>
              <a:t>.</a:t>
            </a:r>
            <a:endParaRPr sz="110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US" sz="1100" b="1">
                <a:latin typeface="Arial"/>
                <a:ea typeface="Arial"/>
                <a:cs typeface="Arial"/>
                <a:sym typeface="Arial"/>
              </a:rPr>
              <a:t>During the prefilling stage</a:t>
            </a:r>
            <a:r>
              <a:rPr lang="en-US" sz="1100">
                <a:latin typeface="Arial"/>
                <a:ea typeface="Arial"/>
                <a:cs typeface="Arial"/>
                <a:sym typeface="Arial"/>
              </a:rPr>
              <a:t>, attention layers use </a:t>
            </a:r>
            <a:r>
              <a:rPr lang="en-US" sz="1100" b="1">
                <a:latin typeface="Arial"/>
                <a:ea typeface="Arial"/>
                <a:cs typeface="Arial"/>
                <a:sym typeface="Arial"/>
              </a:rPr>
              <a:t>TP4 with Sequence Parallelism (SP)</a:t>
            </a:r>
            <a:r>
              <a:rPr lang="en-US" sz="1100">
                <a:latin typeface="Arial"/>
                <a:ea typeface="Arial"/>
                <a:cs typeface="Arial"/>
                <a:sym typeface="Arial"/>
              </a:rPr>
              <a:t> to ensure </a:t>
            </a:r>
            <a:r>
              <a:rPr lang="en-US" sz="1100" b="1">
                <a:latin typeface="Arial"/>
                <a:ea typeface="Arial"/>
                <a:cs typeface="Arial"/>
                <a:sym typeface="Arial"/>
              </a:rPr>
              <a:t>smooth operations</a:t>
            </a:r>
            <a:r>
              <a:rPr lang="en-US" sz="1100">
                <a:latin typeface="Arial"/>
                <a:ea typeface="Arial"/>
                <a:cs typeface="Arial"/>
                <a:sym typeface="Arial"/>
              </a:rPr>
              <a:t>.</a:t>
            </a:r>
            <a:endParaRPr sz="110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US" sz="1100" b="1">
                <a:latin typeface="Arial"/>
                <a:ea typeface="Arial"/>
                <a:cs typeface="Arial"/>
                <a:sym typeface="Arial"/>
              </a:rPr>
              <a:t>MoE layers use Expert Parallelism (EP32)</a:t>
            </a:r>
            <a:r>
              <a:rPr lang="en-US" sz="1100">
                <a:latin typeface="Arial"/>
                <a:ea typeface="Arial"/>
                <a:cs typeface="Arial"/>
                <a:sym typeface="Arial"/>
              </a:rPr>
              <a:t>, ensuring that </a:t>
            </a:r>
            <a:r>
              <a:rPr lang="en-US" sz="1100" b="1">
                <a:latin typeface="Arial"/>
                <a:ea typeface="Arial"/>
                <a:cs typeface="Arial"/>
                <a:sym typeface="Arial"/>
              </a:rPr>
              <a:t>batch sizes remain large</a:t>
            </a:r>
            <a:r>
              <a:rPr lang="en-US" sz="1100">
                <a:latin typeface="Arial"/>
                <a:ea typeface="Arial"/>
                <a:cs typeface="Arial"/>
                <a:sym typeface="Arial"/>
              </a:rPr>
              <a:t> while keeping load balanced.</a:t>
            </a:r>
            <a:endParaRPr sz="110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US" sz="1100" b="1">
                <a:latin typeface="Arial"/>
                <a:ea typeface="Arial"/>
                <a:cs typeface="Arial"/>
                <a:sym typeface="Arial"/>
              </a:rPr>
              <a:t>A key innovation here is dynamic redundancy</a:t>
            </a:r>
            <a:r>
              <a:rPr lang="en-US" sz="1100">
                <a:latin typeface="Arial"/>
                <a:ea typeface="Arial"/>
                <a:cs typeface="Arial"/>
                <a:sym typeface="Arial"/>
              </a:rPr>
              <a:t>, where redundant experts are </a:t>
            </a:r>
            <a:r>
              <a:rPr lang="en-US" sz="1100" b="1">
                <a:latin typeface="Arial"/>
                <a:ea typeface="Arial"/>
                <a:cs typeface="Arial"/>
                <a:sym typeface="Arial"/>
              </a:rPr>
              <a:t>deployed based on real-time load statistics</a:t>
            </a:r>
            <a:r>
              <a:rPr lang="en-US" sz="1100">
                <a:latin typeface="Arial"/>
                <a:ea typeface="Arial"/>
                <a:cs typeface="Arial"/>
                <a:sym typeface="Arial"/>
              </a:rPr>
              <a:t>.</a:t>
            </a:r>
            <a:endParaRPr sz="110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US" sz="1100" b="1">
                <a:latin typeface="Arial"/>
                <a:ea typeface="Arial"/>
                <a:cs typeface="Arial"/>
                <a:sym typeface="Arial"/>
              </a:rPr>
              <a:t>Micro-batches are overlapped</a:t>
            </a:r>
            <a:r>
              <a:rPr lang="en-US" sz="1100">
                <a:latin typeface="Arial"/>
                <a:ea typeface="Arial"/>
                <a:cs typeface="Arial"/>
                <a:sym typeface="Arial"/>
              </a:rPr>
              <a:t>, meaning computation continues while </a:t>
            </a:r>
            <a:r>
              <a:rPr lang="en-US" sz="1100" b="1">
                <a:latin typeface="Arial"/>
                <a:ea typeface="Arial"/>
                <a:cs typeface="Arial"/>
                <a:sym typeface="Arial"/>
              </a:rPr>
              <a:t>communication happens in the background</a:t>
            </a:r>
            <a:r>
              <a:rPr lang="en-US" sz="1100">
                <a:latin typeface="Arial"/>
                <a:ea typeface="Arial"/>
                <a:cs typeface="Arial"/>
                <a:sym typeface="Arial"/>
              </a:rPr>
              <a:t>.</a:t>
            </a:r>
            <a:endParaRPr sz="110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US"/>
              <a:t>This slide focuses on how the “prefilling” stage is set up:</a:t>
            </a:r>
            <a:endParaRPr/>
          </a:p>
          <a:p>
            <a:pPr marL="457200" lvl="0" indent="-298450" algn="l" rtl="0">
              <a:lnSpc>
                <a:spcPct val="115000"/>
              </a:lnSpc>
              <a:spcBef>
                <a:spcPts val="1200"/>
              </a:spcBef>
              <a:spcAft>
                <a:spcPts val="0"/>
              </a:spcAft>
              <a:buClr>
                <a:schemeClr val="dk1"/>
              </a:buClr>
              <a:buSzPts val="1100"/>
              <a:buAutoNum type="arabicPeriod"/>
            </a:pPr>
            <a:r>
              <a:rPr lang="en-US"/>
              <a:t>Attention layers using TP4 with Sequence Parallelism (SP).</a:t>
            </a:r>
            <a:endParaRPr/>
          </a:p>
          <a:p>
            <a:pPr marL="457200" lvl="0" indent="-298450" algn="l" rtl="0">
              <a:lnSpc>
                <a:spcPct val="115000"/>
              </a:lnSpc>
              <a:spcBef>
                <a:spcPts val="0"/>
              </a:spcBef>
              <a:spcAft>
                <a:spcPts val="0"/>
              </a:spcAft>
              <a:buClr>
                <a:schemeClr val="dk1"/>
              </a:buClr>
              <a:buSzPts val="1100"/>
              <a:buAutoNum type="arabicPeriod"/>
            </a:pPr>
            <a:r>
              <a:rPr lang="en-US"/>
              <a:t>MoE layers on EP32 to handle large batch sizes per expert.</a:t>
            </a:r>
            <a:endParaRPr/>
          </a:p>
          <a:p>
            <a:pPr marL="457200" lvl="0" indent="-298450" algn="l" rtl="0">
              <a:lnSpc>
                <a:spcPct val="115000"/>
              </a:lnSpc>
              <a:spcBef>
                <a:spcPts val="0"/>
              </a:spcBef>
              <a:spcAft>
                <a:spcPts val="0"/>
              </a:spcAft>
              <a:buClr>
                <a:schemeClr val="dk1"/>
              </a:buClr>
              <a:buSzPts val="1100"/>
              <a:buAutoNum type="arabicPeriod"/>
            </a:pPr>
            <a:r>
              <a:rPr lang="en-US"/>
              <a:t>Redundant experts deployed dynamically—meaning if one set is busy, another can step in.</a:t>
            </a:r>
            <a:endParaRPr/>
          </a:p>
          <a:p>
            <a:pPr marL="457200" lvl="0" indent="-298450" algn="l" rtl="0">
              <a:lnSpc>
                <a:spcPct val="115000"/>
              </a:lnSpc>
              <a:spcBef>
                <a:spcPts val="0"/>
              </a:spcBef>
              <a:spcAft>
                <a:spcPts val="0"/>
              </a:spcAft>
              <a:buClr>
                <a:schemeClr val="dk1"/>
              </a:buClr>
              <a:buSzPts val="1100"/>
              <a:buAutoNum type="arabicPeriod"/>
            </a:pPr>
            <a:r>
              <a:rPr lang="en-US"/>
              <a:t>They also overlap micro-batches to mask communication costs.</a:t>
            </a:r>
            <a:endParaRPr/>
          </a:p>
          <a:p>
            <a:pPr marL="0" lvl="0" indent="0" algn="l" rtl="0">
              <a:lnSpc>
                <a:spcPct val="115000"/>
              </a:lnSpc>
              <a:spcBef>
                <a:spcPts val="1200"/>
              </a:spcBef>
              <a:spcAft>
                <a:spcPts val="0"/>
              </a:spcAft>
              <a:buClr>
                <a:schemeClr val="dk1"/>
              </a:buClr>
              <a:buSzPts val="1100"/>
              <a:buFont typeface="Arial"/>
              <a:buNone/>
            </a:pPr>
            <a:r>
              <a:rPr lang="en-US"/>
              <a:t>By the time the model finishes this stage, the initial context is loaded and processed, prepping for smooth decoding.</a:t>
            </a:r>
            <a:endParaRPr/>
          </a:p>
          <a:p>
            <a:pPr marL="0" lvl="0" indent="0" algn="l" rtl="0">
              <a:lnSpc>
                <a:spcPct val="100000"/>
              </a:lnSpc>
              <a:spcBef>
                <a:spcPts val="0"/>
              </a:spcBef>
              <a:spcAft>
                <a:spcPts val="0"/>
              </a:spcAft>
              <a:buSzPts val="1400"/>
              <a:buNone/>
            </a:pPr>
            <a:endParaRPr/>
          </a:p>
        </p:txBody>
      </p:sp>
      <p:sp>
        <p:nvSpPr>
          <p:cNvPr id="588" name="Google Shape;588;g330b2db8419_2_73:notes">
            <a:extLst>
              <a:ext uri="{FF2B5EF4-FFF2-40B4-BE49-F238E27FC236}">
                <a16:creationId xmlns:a16="http://schemas.microsoft.com/office/drawing/2014/main" id="{62A636F2-F2C3-5FA2-4164-0601835658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111671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a:extLst>
            <a:ext uri="{FF2B5EF4-FFF2-40B4-BE49-F238E27FC236}">
              <a16:creationId xmlns:a16="http://schemas.microsoft.com/office/drawing/2014/main" id="{8D08D881-BF8B-D465-EE6D-5D55749A60CC}"/>
            </a:ext>
          </a:extLst>
        </p:cNvPr>
        <p:cNvGrpSpPr/>
        <p:nvPr/>
      </p:nvGrpSpPr>
      <p:grpSpPr>
        <a:xfrm>
          <a:off x="0" y="0"/>
          <a:ext cx="0" cy="0"/>
          <a:chOff x="0" y="0"/>
          <a:chExt cx="0" cy="0"/>
        </a:xfrm>
      </p:grpSpPr>
      <p:sp>
        <p:nvSpPr>
          <p:cNvPr id="587" name="Google Shape;587;g330b2db8419_2_73:notes">
            <a:extLst>
              <a:ext uri="{FF2B5EF4-FFF2-40B4-BE49-F238E27FC236}">
                <a16:creationId xmlns:a16="http://schemas.microsoft.com/office/drawing/2014/main" id="{A6C4D837-F808-B641-4D95-FF2A09667FB6}"/>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588" name="Google Shape;588;g330b2db8419_2_73:notes">
            <a:extLst>
              <a:ext uri="{FF2B5EF4-FFF2-40B4-BE49-F238E27FC236}">
                <a16:creationId xmlns:a16="http://schemas.microsoft.com/office/drawing/2014/main" id="{F4F5ED41-4706-6B2F-9749-BA95F6B9019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117488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a:extLst>
            <a:ext uri="{FF2B5EF4-FFF2-40B4-BE49-F238E27FC236}">
              <a16:creationId xmlns:a16="http://schemas.microsoft.com/office/drawing/2014/main" id="{ED6BF633-7448-483A-DE58-93CA4613CF4F}"/>
            </a:ext>
          </a:extLst>
        </p:cNvPr>
        <p:cNvGrpSpPr/>
        <p:nvPr/>
      </p:nvGrpSpPr>
      <p:grpSpPr>
        <a:xfrm>
          <a:off x="0" y="0"/>
          <a:ext cx="0" cy="0"/>
          <a:chOff x="0" y="0"/>
          <a:chExt cx="0" cy="0"/>
        </a:xfrm>
      </p:grpSpPr>
      <p:sp>
        <p:nvSpPr>
          <p:cNvPr id="587" name="Google Shape;587;g330b2db8419_2_73:notes">
            <a:extLst>
              <a:ext uri="{FF2B5EF4-FFF2-40B4-BE49-F238E27FC236}">
                <a16:creationId xmlns:a16="http://schemas.microsoft.com/office/drawing/2014/main" id="{9BFAD09F-A07B-8FFD-5749-1196A10A32BF}"/>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588" name="Google Shape;588;g330b2db8419_2_73:notes">
            <a:extLst>
              <a:ext uri="{FF2B5EF4-FFF2-40B4-BE49-F238E27FC236}">
                <a16:creationId xmlns:a16="http://schemas.microsoft.com/office/drawing/2014/main" id="{3F5D5C20-70E3-5658-780B-434B541429D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167900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a:extLst>
            <a:ext uri="{FF2B5EF4-FFF2-40B4-BE49-F238E27FC236}">
              <a16:creationId xmlns:a16="http://schemas.microsoft.com/office/drawing/2014/main" id="{C2BC240B-E0D1-C45C-BCDD-857B7AA46D3E}"/>
            </a:ext>
          </a:extLst>
        </p:cNvPr>
        <p:cNvGrpSpPr/>
        <p:nvPr/>
      </p:nvGrpSpPr>
      <p:grpSpPr>
        <a:xfrm>
          <a:off x="0" y="0"/>
          <a:ext cx="0" cy="0"/>
          <a:chOff x="0" y="0"/>
          <a:chExt cx="0" cy="0"/>
        </a:xfrm>
      </p:grpSpPr>
      <p:sp>
        <p:nvSpPr>
          <p:cNvPr id="587" name="Google Shape;587;g330b2db8419_2_73:notes">
            <a:extLst>
              <a:ext uri="{FF2B5EF4-FFF2-40B4-BE49-F238E27FC236}">
                <a16:creationId xmlns:a16="http://schemas.microsoft.com/office/drawing/2014/main" id="{E3CD3F68-985A-712B-ABA6-9B82A3F6238A}"/>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588" name="Google Shape;588;g330b2db8419_2_73:notes">
            <a:extLst>
              <a:ext uri="{FF2B5EF4-FFF2-40B4-BE49-F238E27FC236}">
                <a16:creationId xmlns:a16="http://schemas.microsoft.com/office/drawing/2014/main" id="{37462742-5F3C-F4D6-5D27-5115FE6255F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398768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a:extLst>
            <a:ext uri="{FF2B5EF4-FFF2-40B4-BE49-F238E27FC236}">
              <a16:creationId xmlns:a16="http://schemas.microsoft.com/office/drawing/2014/main" id="{F53A63F2-D005-9814-C161-6294AD26D8C3}"/>
            </a:ext>
          </a:extLst>
        </p:cNvPr>
        <p:cNvGrpSpPr/>
        <p:nvPr/>
      </p:nvGrpSpPr>
      <p:grpSpPr>
        <a:xfrm>
          <a:off x="0" y="0"/>
          <a:ext cx="0" cy="0"/>
          <a:chOff x="0" y="0"/>
          <a:chExt cx="0" cy="0"/>
        </a:xfrm>
      </p:grpSpPr>
      <p:sp>
        <p:nvSpPr>
          <p:cNvPr id="587" name="Google Shape;587;g330b2db8419_2_73:notes">
            <a:extLst>
              <a:ext uri="{FF2B5EF4-FFF2-40B4-BE49-F238E27FC236}">
                <a16:creationId xmlns:a16="http://schemas.microsoft.com/office/drawing/2014/main" id="{47DE138A-9A31-86C9-9E16-81504741564A}"/>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588" name="Google Shape;588;g330b2db8419_2_73:notes">
            <a:extLst>
              <a:ext uri="{FF2B5EF4-FFF2-40B4-BE49-F238E27FC236}">
                <a16:creationId xmlns:a16="http://schemas.microsoft.com/office/drawing/2014/main" id="{2DB54F03-D265-8924-5522-BFD3E87FCE6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920348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a:extLst>
            <a:ext uri="{FF2B5EF4-FFF2-40B4-BE49-F238E27FC236}">
              <a16:creationId xmlns:a16="http://schemas.microsoft.com/office/drawing/2014/main" id="{D6A7A4C8-A5D0-F8B0-CD4D-791B242DD4D3}"/>
            </a:ext>
          </a:extLst>
        </p:cNvPr>
        <p:cNvGrpSpPr/>
        <p:nvPr/>
      </p:nvGrpSpPr>
      <p:grpSpPr>
        <a:xfrm>
          <a:off x="0" y="0"/>
          <a:ext cx="0" cy="0"/>
          <a:chOff x="0" y="0"/>
          <a:chExt cx="0" cy="0"/>
        </a:xfrm>
      </p:grpSpPr>
      <p:sp>
        <p:nvSpPr>
          <p:cNvPr id="587" name="Google Shape;587;g330b2db8419_2_73:notes">
            <a:extLst>
              <a:ext uri="{FF2B5EF4-FFF2-40B4-BE49-F238E27FC236}">
                <a16:creationId xmlns:a16="http://schemas.microsoft.com/office/drawing/2014/main" id="{5F66BCB0-868F-D2A4-CEA6-27BB1DABF726}"/>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588" name="Google Shape;588;g330b2db8419_2_73:notes">
            <a:extLst>
              <a:ext uri="{FF2B5EF4-FFF2-40B4-BE49-F238E27FC236}">
                <a16:creationId xmlns:a16="http://schemas.microsoft.com/office/drawing/2014/main" id="{555372AD-9A0D-580B-E021-8771A8024B9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984694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a:extLst>
            <a:ext uri="{FF2B5EF4-FFF2-40B4-BE49-F238E27FC236}">
              <a16:creationId xmlns:a16="http://schemas.microsoft.com/office/drawing/2014/main" id="{7BADE7AD-5494-6A87-896A-89975B8FBAE2}"/>
            </a:ext>
          </a:extLst>
        </p:cNvPr>
        <p:cNvGrpSpPr/>
        <p:nvPr/>
      </p:nvGrpSpPr>
      <p:grpSpPr>
        <a:xfrm>
          <a:off x="0" y="0"/>
          <a:ext cx="0" cy="0"/>
          <a:chOff x="0" y="0"/>
          <a:chExt cx="0" cy="0"/>
        </a:xfrm>
      </p:grpSpPr>
      <p:sp>
        <p:nvSpPr>
          <p:cNvPr id="587" name="Google Shape;587;g330b2db8419_2_73:notes">
            <a:extLst>
              <a:ext uri="{FF2B5EF4-FFF2-40B4-BE49-F238E27FC236}">
                <a16:creationId xmlns:a16="http://schemas.microsoft.com/office/drawing/2014/main" id="{EDAFD35C-9634-9E8A-FCAD-9DAABE566A1D}"/>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588" name="Google Shape;588;g330b2db8419_2_73:notes">
            <a:extLst>
              <a:ext uri="{FF2B5EF4-FFF2-40B4-BE49-F238E27FC236}">
                <a16:creationId xmlns:a16="http://schemas.microsoft.com/office/drawing/2014/main" id="{8E1CB309-931A-EC56-778F-A7FB7FA47C7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143717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a:extLst>
            <a:ext uri="{FF2B5EF4-FFF2-40B4-BE49-F238E27FC236}">
              <a16:creationId xmlns:a16="http://schemas.microsoft.com/office/drawing/2014/main" id="{6A7FA945-2D83-5420-5F14-5AC921BD545C}"/>
            </a:ext>
          </a:extLst>
        </p:cNvPr>
        <p:cNvGrpSpPr/>
        <p:nvPr/>
      </p:nvGrpSpPr>
      <p:grpSpPr>
        <a:xfrm>
          <a:off x="0" y="0"/>
          <a:ext cx="0" cy="0"/>
          <a:chOff x="0" y="0"/>
          <a:chExt cx="0" cy="0"/>
        </a:xfrm>
      </p:grpSpPr>
      <p:sp>
        <p:nvSpPr>
          <p:cNvPr id="587" name="Google Shape;587;g330b2db8419_2_73:notes">
            <a:extLst>
              <a:ext uri="{FF2B5EF4-FFF2-40B4-BE49-F238E27FC236}">
                <a16:creationId xmlns:a16="http://schemas.microsoft.com/office/drawing/2014/main" id="{137DD7AD-1F1E-C63E-1D16-08D5E5CEB3C8}"/>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588" name="Google Shape;588;g330b2db8419_2_73:notes">
            <a:extLst>
              <a:ext uri="{FF2B5EF4-FFF2-40B4-BE49-F238E27FC236}">
                <a16:creationId xmlns:a16="http://schemas.microsoft.com/office/drawing/2014/main" id="{2787CAE8-E2A0-16DF-0F34-6DEE50D13AF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68156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a:extLst>
            <a:ext uri="{FF2B5EF4-FFF2-40B4-BE49-F238E27FC236}">
              <a16:creationId xmlns:a16="http://schemas.microsoft.com/office/drawing/2014/main" id="{C8D584C8-2071-C47C-4F76-C48DBB87BE6C}"/>
            </a:ext>
          </a:extLst>
        </p:cNvPr>
        <p:cNvGrpSpPr/>
        <p:nvPr/>
      </p:nvGrpSpPr>
      <p:grpSpPr>
        <a:xfrm>
          <a:off x="0" y="0"/>
          <a:ext cx="0" cy="0"/>
          <a:chOff x="0" y="0"/>
          <a:chExt cx="0" cy="0"/>
        </a:xfrm>
      </p:grpSpPr>
      <p:sp>
        <p:nvSpPr>
          <p:cNvPr id="587" name="Google Shape;587;g330b2db8419_2_73:notes">
            <a:extLst>
              <a:ext uri="{FF2B5EF4-FFF2-40B4-BE49-F238E27FC236}">
                <a16:creationId xmlns:a16="http://schemas.microsoft.com/office/drawing/2014/main" id="{C436E958-829C-5179-38D2-D341693FA6FF}"/>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588" name="Google Shape;588;g330b2db8419_2_73:notes">
            <a:extLst>
              <a:ext uri="{FF2B5EF4-FFF2-40B4-BE49-F238E27FC236}">
                <a16:creationId xmlns:a16="http://schemas.microsoft.com/office/drawing/2014/main" id="{93CDCF36-206A-3842-74B6-9ECEF7BE4D8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064187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a:extLst>
            <a:ext uri="{FF2B5EF4-FFF2-40B4-BE49-F238E27FC236}">
              <a16:creationId xmlns:a16="http://schemas.microsoft.com/office/drawing/2014/main" id="{C994AF1B-B6E5-5948-10E9-541C15457CB9}"/>
            </a:ext>
          </a:extLst>
        </p:cNvPr>
        <p:cNvGrpSpPr/>
        <p:nvPr/>
      </p:nvGrpSpPr>
      <p:grpSpPr>
        <a:xfrm>
          <a:off x="0" y="0"/>
          <a:ext cx="0" cy="0"/>
          <a:chOff x="0" y="0"/>
          <a:chExt cx="0" cy="0"/>
        </a:xfrm>
      </p:grpSpPr>
      <p:sp>
        <p:nvSpPr>
          <p:cNvPr id="587" name="Google Shape;587;g330b2db8419_2_73:notes">
            <a:extLst>
              <a:ext uri="{FF2B5EF4-FFF2-40B4-BE49-F238E27FC236}">
                <a16:creationId xmlns:a16="http://schemas.microsoft.com/office/drawing/2014/main" id="{98CD97F2-631B-4C06-EDFE-E3C1296213B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588" name="Google Shape;588;g330b2db8419_2_73:notes">
            <a:extLst>
              <a:ext uri="{FF2B5EF4-FFF2-40B4-BE49-F238E27FC236}">
                <a16:creationId xmlns:a16="http://schemas.microsoft.com/office/drawing/2014/main" id="{8041A4E4-C736-55D7-A973-A8D38E4B00E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17861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a:extLst>
            <a:ext uri="{FF2B5EF4-FFF2-40B4-BE49-F238E27FC236}">
              <a16:creationId xmlns:a16="http://schemas.microsoft.com/office/drawing/2014/main" id="{8394F957-3A2C-48DE-863A-69826C699951}"/>
            </a:ext>
          </a:extLst>
        </p:cNvPr>
        <p:cNvGrpSpPr/>
        <p:nvPr/>
      </p:nvGrpSpPr>
      <p:grpSpPr>
        <a:xfrm>
          <a:off x="0" y="0"/>
          <a:ext cx="0" cy="0"/>
          <a:chOff x="0" y="0"/>
          <a:chExt cx="0" cy="0"/>
        </a:xfrm>
      </p:grpSpPr>
      <p:sp>
        <p:nvSpPr>
          <p:cNvPr id="587" name="Google Shape;587;g330b2db8419_2_73:notes">
            <a:extLst>
              <a:ext uri="{FF2B5EF4-FFF2-40B4-BE49-F238E27FC236}">
                <a16:creationId xmlns:a16="http://schemas.microsoft.com/office/drawing/2014/main" id="{A6468C01-9755-12ED-C454-18EC4267CCE2}"/>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588" name="Google Shape;588;g330b2db8419_2_73:notes">
            <a:extLst>
              <a:ext uri="{FF2B5EF4-FFF2-40B4-BE49-F238E27FC236}">
                <a16:creationId xmlns:a16="http://schemas.microsoft.com/office/drawing/2014/main" id="{54D3ED26-65A9-C43B-5349-91EC3C5739C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471119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a:extLst>
            <a:ext uri="{FF2B5EF4-FFF2-40B4-BE49-F238E27FC236}">
              <a16:creationId xmlns:a16="http://schemas.microsoft.com/office/drawing/2014/main" id="{5CBAE338-BB35-825A-78A7-B101113E7F38}"/>
            </a:ext>
          </a:extLst>
        </p:cNvPr>
        <p:cNvGrpSpPr/>
        <p:nvPr/>
      </p:nvGrpSpPr>
      <p:grpSpPr>
        <a:xfrm>
          <a:off x="0" y="0"/>
          <a:ext cx="0" cy="0"/>
          <a:chOff x="0" y="0"/>
          <a:chExt cx="0" cy="0"/>
        </a:xfrm>
      </p:grpSpPr>
      <p:sp>
        <p:nvSpPr>
          <p:cNvPr id="587" name="Google Shape;587;g330b2db8419_2_73:notes">
            <a:extLst>
              <a:ext uri="{FF2B5EF4-FFF2-40B4-BE49-F238E27FC236}">
                <a16:creationId xmlns:a16="http://schemas.microsoft.com/office/drawing/2014/main" id="{1BA44A32-79F3-4995-D72F-74776CF3F1BA}"/>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588" name="Google Shape;588;g330b2db8419_2_73:notes">
            <a:extLst>
              <a:ext uri="{FF2B5EF4-FFF2-40B4-BE49-F238E27FC236}">
                <a16:creationId xmlns:a16="http://schemas.microsoft.com/office/drawing/2014/main" id="{DF716F17-3027-9E5C-3FD4-1E8E7157769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574773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a:extLst>
            <a:ext uri="{FF2B5EF4-FFF2-40B4-BE49-F238E27FC236}">
              <a16:creationId xmlns:a16="http://schemas.microsoft.com/office/drawing/2014/main" id="{D0E8792E-D8D6-8E6C-1E8C-D6922A62190C}"/>
            </a:ext>
          </a:extLst>
        </p:cNvPr>
        <p:cNvGrpSpPr/>
        <p:nvPr/>
      </p:nvGrpSpPr>
      <p:grpSpPr>
        <a:xfrm>
          <a:off x="0" y="0"/>
          <a:ext cx="0" cy="0"/>
          <a:chOff x="0" y="0"/>
          <a:chExt cx="0" cy="0"/>
        </a:xfrm>
      </p:grpSpPr>
      <p:sp>
        <p:nvSpPr>
          <p:cNvPr id="587" name="Google Shape;587;g330b2db8419_2_73:notes">
            <a:extLst>
              <a:ext uri="{FF2B5EF4-FFF2-40B4-BE49-F238E27FC236}">
                <a16:creationId xmlns:a16="http://schemas.microsoft.com/office/drawing/2014/main" id="{57F256C4-F408-42AA-B662-E64A0E96A90D}"/>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588" name="Google Shape;588;g330b2db8419_2_73:notes">
            <a:extLst>
              <a:ext uri="{FF2B5EF4-FFF2-40B4-BE49-F238E27FC236}">
                <a16:creationId xmlns:a16="http://schemas.microsoft.com/office/drawing/2014/main" id="{420E21B1-DE23-AFBD-A837-6260C2AC30D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603721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a:extLst>
            <a:ext uri="{FF2B5EF4-FFF2-40B4-BE49-F238E27FC236}">
              <a16:creationId xmlns:a16="http://schemas.microsoft.com/office/drawing/2014/main" id="{A0FF7C2E-E4E1-8060-F6FA-0680B49FA0CA}"/>
            </a:ext>
          </a:extLst>
        </p:cNvPr>
        <p:cNvGrpSpPr/>
        <p:nvPr/>
      </p:nvGrpSpPr>
      <p:grpSpPr>
        <a:xfrm>
          <a:off x="0" y="0"/>
          <a:ext cx="0" cy="0"/>
          <a:chOff x="0" y="0"/>
          <a:chExt cx="0" cy="0"/>
        </a:xfrm>
      </p:grpSpPr>
      <p:sp>
        <p:nvSpPr>
          <p:cNvPr id="587" name="Google Shape;587;g330b2db8419_2_73:notes">
            <a:extLst>
              <a:ext uri="{FF2B5EF4-FFF2-40B4-BE49-F238E27FC236}">
                <a16:creationId xmlns:a16="http://schemas.microsoft.com/office/drawing/2014/main" id="{76B16714-82A0-D1E0-3801-D99A234423CA}"/>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588" name="Google Shape;588;g330b2db8419_2_73:notes">
            <a:extLst>
              <a:ext uri="{FF2B5EF4-FFF2-40B4-BE49-F238E27FC236}">
                <a16:creationId xmlns:a16="http://schemas.microsoft.com/office/drawing/2014/main" id="{18A77676-EBC1-623E-9241-D8FEBD9BC32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4192752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a:extLst>
            <a:ext uri="{FF2B5EF4-FFF2-40B4-BE49-F238E27FC236}">
              <a16:creationId xmlns:a16="http://schemas.microsoft.com/office/drawing/2014/main" id="{4555022A-E2DC-AE96-A5BF-D36AD8AD3C0F}"/>
            </a:ext>
          </a:extLst>
        </p:cNvPr>
        <p:cNvGrpSpPr/>
        <p:nvPr/>
      </p:nvGrpSpPr>
      <p:grpSpPr>
        <a:xfrm>
          <a:off x="0" y="0"/>
          <a:ext cx="0" cy="0"/>
          <a:chOff x="0" y="0"/>
          <a:chExt cx="0" cy="0"/>
        </a:xfrm>
      </p:grpSpPr>
      <p:sp>
        <p:nvSpPr>
          <p:cNvPr id="587" name="Google Shape;587;g330b2db8419_2_73:notes">
            <a:extLst>
              <a:ext uri="{FF2B5EF4-FFF2-40B4-BE49-F238E27FC236}">
                <a16:creationId xmlns:a16="http://schemas.microsoft.com/office/drawing/2014/main" id="{F48EBA8D-4089-37F8-4626-84D828C8BC2F}"/>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588" name="Google Shape;588;g330b2db8419_2_73:notes">
            <a:extLst>
              <a:ext uri="{FF2B5EF4-FFF2-40B4-BE49-F238E27FC236}">
                <a16:creationId xmlns:a16="http://schemas.microsoft.com/office/drawing/2014/main" id="{4B2441F1-B714-7826-A662-3C6D18BE784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260160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a:extLst>
            <a:ext uri="{FF2B5EF4-FFF2-40B4-BE49-F238E27FC236}">
              <a16:creationId xmlns:a16="http://schemas.microsoft.com/office/drawing/2014/main" id="{42C53AB0-BDF5-B356-F30E-BCADA1E0573A}"/>
            </a:ext>
          </a:extLst>
        </p:cNvPr>
        <p:cNvGrpSpPr/>
        <p:nvPr/>
      </p:nvGrpSpPr>
      <p:grpSpPr>
        <a:xfrm>
          <a:off x="0" y="0"/>
          <a:ext cx="0" cy="0"/>
          <a:chOff x="0" y="0"/>
          <a:chExt cx="0" cy="0"/>
        </a:xfrm>
      </p:grpSpPr>
      <p:sp>
        <p:nvSpPr>
          <p:cNvPr id="587" name="Google Shape;587;g330b2db8419_2_73:notes">
            <a:extLst>
              <a:ext uri="{FF2B5EF4-FFF2-40B4-BE49-F238E27FC236}">
                <a16:creationId xmlns:a16="http://schemas.microsoft.com/office/drawing/2014/main" id="{29C53248-FD9D-6A93-C3E0-A226B43C9AC7}"/>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588" name="Google Shape;588;g330b2db8419_2_73:notes">
            <a:extLst>
              <a:ext uri="{FF2B5EF4-FFF2-40B4-BE49-F238E27FC236}">
                <a16:creationId xmlns:a16="http://schemas.microsoft.com/office/drawing/2014/main" id="{75FAFE61-C08E-4BF9-CB26-F798208D412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275351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a:extLst>
            <a:ext uri="{FF2B5EF4-FFF2-40B4-BE49-F238E27FC236}">
              <a16:creationId xmlns:a16="http://schemas.microsoft.com/office/drawing/2014/main" id="{20853159-E6CA-449E-AD05-8DE310978A9F}"/>
            </a:ext>
          </a:extLst>
        </p:cNvPr>
        <p:cNvGrpSpPr/>
        <p:nvPr/>
      </p:nvGrpSpPr>
      <p:grpSpPr>
        <a:xfrm>
          <a:off x="0" y="0"/>
          <a:ext cx="0" cy="0"/>
          <a:chOff x="0" y="0"/>
          <a:chExt cx="0" cy="0"/>
        </a:xfrm>
      </p:grpSpPr>
      <p:sp>
        <p:nvSpPr>
          <p:cNvPr id="587" name="Google Shape;587;g330b2db8419_2_73:notes">
            <a:extLst>
              <a:ext uri="{FF2B5EF4-FFF2-40B4-BE49-F238E27FC236}">
                <a16:creationId xmlns:a16="http://schemas.microsoft.com/office/drawing/2014/main" id="{26D80158-3BB3-151C-2482-F07CE94419F9}"/>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588" name="Google Shape;588;g330b2db8419_2_73:notes">
            <a:extLst>
              <a:ext uri="{FF2B5EF4-FFF2-40B4-BE49-F238E27FC236}">
                <a16:creationId xmlns:a16="http://schemas.microsoft.com/office/drawing/2014/main" id="{15DD0BD3-52BC-0885-6A2F-C65065C6542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794567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a:extLst>
            <a:ext uri="{FF2B5EF4-FFF2-40B4-BE49-F238E27FC236}">
              <a16:creationId xmlns:a16="http://schemas.microsoft.com/office/drawing/2014/main" id="{56EAFFB3-22F4-E363-F4DE-F4E826D36DF7}"/>
            </a:ext>
          </a:extLst>
        </p:cNvPr>
        <p:cNvGrpSpPr/>
        <p:nvPr/>
      </p:nvGrpSpPr>
      <p:grpSpPr>
        <a:xfrm>
          <a:off x="0" y="0"/>
          <a:ext cx="0" cy="0"/>
          <a:chOff x="0" y="0"/>
          <a:chExt cx="0" cy="0"/>
        </a:xfrm>
      </p:grpSpPr>
      <p:sp>
        <p:nvSpPr>
          <p:cNvPr id="587" name="Google Shape;587;g330b2db8419_2_73:notes">
            <a:extLst>
              <a:ext uri="{FF2B5EF4-FFF2-40B4-BE49-F238E27FC236}">
                <a16:creationId xmlns:a16="http://schemas.microsoft.com/office/drawing/2014/main" id="{E6FF6C5A-BD88-6594-7496-2505EF82822C}"/>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588" name="Google Shape;588;g330b2db8419_2_73:notes">
            <a:extLst>
              <a:ext uri="{FF2B5EF4-FFF2-40B4-BE49-F238E27FC236}">
                <a16:creationId xmlns:a16="http://schemas.microsoft.com/office/drawing/2014/main" id="{993207D5-1E1C-01F1-F969-6722213DF09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962030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a:extLst>
            <a:ext uri="{FF2B5EF4-FFF2-40B4-BE49-F238E27FC236}">
              <a16:creationId xmlns:a16="http://schemas.microsoft.com/office/drawing/2014/main" id="{1654D2DD-74DD-94EE-3E5E-2303667E8851}"/>
            </a:ext>
          </a:extLst>
        </p:cNvPr>
        <p:cNvGrpSpPr/>
        <p:nvPr/>
      </p:nvGrpSpPr>
      <p:grpSpPr>
        <a:xfrm>
          <a:off x="0" y="0"/>
          <a:ext cx="0" cy="0"/>
          <a:chOff x="0" y="0"/>
          <a:chExt cx="0" cy="0"/>
        </a:xfrm>
      </p:grpSpPr>
      <p:sp>
        <p:nvSpPr>
          <p:cNvPr id="587" name="Google Shape;587;g330b2db8419_2_73:notes">
            <a:extLst>
              <a:ext uri="{FF2B5EF4-FFF2-40B4-BE49-F238E27FC236}">
                <a16:creationId xmlns:a16="http://schemas.microsoft.com/office/drawing/2014/main" id="{6ABE3978-1AFD-CF33-EC38-50CD2B175BCB}"/>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588" name="Google Shape;588;g330b2db8419_2_73:notes">
            <a:extLst>
              <a:ext uri="{FF2B5EF4-FFF2-40B4-BE49-F238E27FC236}">
                <a16:creationId xmlns:a16="http://schemas.microsoft.com/office/drawing/2014/main" id="{6F822D6C-2FBE-61D6-4DB5-E35E56EFDF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823091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a:extLst>
            <a:ext uri="{FF2B5EF4-FFF2-40B4-BE49-F238E27FC236}">
              <a16:creationId xmlns:a16="http://schemas.microsoft.com/office/drawing/2014/main" id="{D87E11FD-C80C-3EDC-A541-0245D24295A1}"/>
            </a:ext>
          </a:extLst>
        </p:cNvPr>
        <p:cNvGrpSpPr/>
        <p:nvPr/>
      </p:nvGrpSpPr>
      <p:grpSpPr>
        <a:xfrm>
          <a:off x="0" y="0"/>
          <a:ext cx="0" cy="0"/>
          <a:chOff x="0" y="0"/>
          <a:chExt cx="0" cy="0"/>
        </a:xfrm>
      </p:grpSpPr>
      <p:sp>
        <p:nvSpPr>
          <p:cNvPr id="587" name="Google Shape;587;g330b2db8419_2_73:notes">
            <a:extLst>
              <a:ext uri="{FF2B5EF4-FFF2-40B4-BE49-F238E27FC236}">
                <a16:creationId xmlns:a16="http://schemas.microsoft.com/office/drawing/2014/main" id="{1C4F87A3-9EC4-369F-40E5-23C972ADB2A7}"/>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588" name="Google Shape;588;g330b2db8419_2_73:notes">
            <a:extLst>
              <a:ext uri="{FF2B5EF4-FFF2-40B4-BE49-F238E27FC236}">
                <a16:creationId xmlns:a16="http://schemas.microsoft.com/office/drawing/2014/main" id="{CD40D073-A949-2DA5-4AC1-D384264A9CF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69353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a:extLst>
            <a:ext uri="{FF2B5EF4-FFF2-40B4-BE49-F238E27FC236}">
              <a16:creationId xmlns:a16="http://schemas.microsoft.com/office/drawing/2014/main" id="{A9F4CA45-7D62-5D82-0CD9-D2721D442284}"/>
            </a:ext>
          </a:extLst>
        </p:cNvPr>
        <p:cNvGrpSpPr/>
        <p:nvPr/>
      </p:nvGrpSpPr>
      <p:grpSpPr>
        <a:xfrm>
          <a:off x="0" y="0"/>
          <a:ext cx="0" cy="0"/>
          <a:chOff x="0" y="0"/>
          <a:chExt cx="0" cy="0"/>
        </a:xfrm>
      </p:grpSpPr>
      <p:sp>
        <p:nvSpPr>
          <p:cNvPr id="587" name="Google Shape;587;g330b2db8419_2_73:notes">
            <a:extLst>
              <a:ext uri="{FF2B5EF4-FFF2-40B4-BE49-F238E27FC236}">
                <a16:creationId xmlns:a16="http://schemas.microsoft.com/office/drawing/2014/main" id="{DA15A662-FB12-5382-38E6-B48889CFE50F}"/>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588" name="Google Shape;588;g330b2db8419_2_73:notes">
            <a:extLst>
              <a:ext uri="{FF2B5EF4-FFF2-40B4-BE49-F238E27FC236}">
                <a16:creationId xmlns:a16="http://schemas.microsoft.com/office/drawing/2014/main" id="{FB38CD2C-26CB-559C-90A1-455CD755FDE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0204811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a:extLst>
            <a:ext uri="{FF2B5EF4-FFF2-40B4-BE49-F238E27FC236}">
              <a16:creationId xmlns:a16="http://schemas.microsoft.com/office/drawing/2014/main" id="{99F68AF4-4003-9058-5D22-28398EE58130}"/>
            </a:ext>
          </a:extLst>
        </p:cNvPr>
        <p:cNvGrpSpPr/>
        <p:nvPr/>
      </p:nvGrpSpPr>
      <p:grpSpPr>
        <a:xfrm>
          <a:off x="0" y="0"/>
          <a:ext cx="0" cy="0"/>
          <a:chOff x="0" y="0"/>
          <a:chExt cx="0" cy="0"/>
        </a:xfrm>
      </p:grpSpPr>
      <p:sp>
        <p:nvSpPr>
          <p:cNvPr id="587" name="Google Shape;587;g330b2db8419_2_73:notes">
            <a:extLst>
              <a:ext uri="{FF2B5EF4-FFF2-40B4-BE49-F238E27FC236}">
                <a16:creationId xmlns:a16="http://schemas.microsoft.com/office/drawing/2014/main" id="{392EF80C-61E7-8E88-2139-B47C3AF3AC3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588" name="Google Shape;588;g330b2db8419_2_73:notes">
            <a:extLst>
              <a:ext uri="{FF2B5EF4-FFF2-40B4-BE49-F238E27FC236}">
                <a16:creationId xmlns:a16="http://schemas.microsoft.com/office/drawing/2014/main" id="{26A0D7E6-D56D-095B-6FF5-2D45FD1B653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640176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a:extLst>
            <a:ext uri="{FF2B5EF4-FFF2-40B4-BE49-F238E27FC236}">
              <a16:creationId xmlns:a16="http://schemas.microsoft.com/office/drawing/2014/main" id="{B409CD57-B58A-E734-B2AA-CECB01D8840F}"/>
            </a:ext>
          </a:extLst>
        </p:cNvPr>
        <p:cNvGrpSpPr/>
        <p:nvPr/>
      </p:nvGrpSpPr>
      <p:grpSpPr>
        <a:xfrm>
          <a:off x="0" y="0"/>
          <a:ext cx="0" cy="0"/>
          <a:chOff x="0" y="0"/>
          <a:chExt cx="0" cy="0"/>
        </a:xfrm>
      </p:grpSpPr>
      <p:sp>
        <p:nvSpPr>
          <p:cNvPr id="587" name="Google Shape;587;g330b2db8419_2_73:notes">
            <a:extLst>
              <a:ext uri="{FF2B5EF4-FFF2-40B4-BE49-F238E27FC236}">
                <a16:creationId xmlns:a16="http://schemas.microsoft.com/office/drawing/2014/main" id="{E99653DB-598C-4749-BB13-E16B3BF80C1C}"/>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588" name="Google Shape;588;g330b2db8419_2_73:notes">
            <a:extLst>
              <a:ext uri="{FF2B5EF4-FFF2-40B4-BE49-F238E27FC236}">
                <a16:creationId xmlns:a16="http://schemas.microsoft.com/office/drawing/2014/main" id="{2BCF744C-ACE8-2961-F2D3-10E3312A0ED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098173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a:extLst>
            <a:ext uri="{FF2B5EF4-FFF2-40B4-BE49-F238E27FC236}">
              <a16:creationId xmlns:a16="http://schemas.microsoft.com/office/drawing/2014/main" id="{CDC0FA15-54CA-288B-7F7F-DDFCCA60F7B6}"/>
            </a:ext>
          </a:extLst>
        </p:cNvPr>
        <p:cNvGrpSpPr/>
        <p:nvPr/>
      </p:nvGrpSpPr>
      <p:grpSpPr>
        <a:xfrm>
          <a:off x="0" y="0"/>
          <a:ext cx="0" cy="0"/>
          <a:chOff x="0" y="0"/>
          <a:chExt cx="0" cy="0"/>
        </a:xfrm>
      </p:grpSpPr>
      <p:sp>
        <p:nvSpPr>
          <p:cNvPr id="587" name="Google Shape;587;g330b2db8419_2_73:notes">
            <a:extLst>
              <a:ext uri="{FF2B5EF4-FFF2-40B4-BE49-F238E27FC236}">
                <a16:creationId xmlns:a16="http://schemas.microsoft.com/office/drawing/2014/main" id="{11E7C005-67E6-43BA-4D15-2409FDC82D4A}"/>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588" name="Google Shape;588;g330b2db8419_2_73:notes">
            <a:extLst>
              <a:ext uri="{FF2B5EF4-FFF2-40B4-BE49-F238E27FC236}">
                <a16:creationId xmlns:a16="http://schemas.microsoft.com/office/drawing/2014/main" id="{56AEEF6D-E869-F47B-16F9-4149F74B94A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0633400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a:extLst>
            <a:ext uri="{FF2B5EF4-FFF2-40B4-BE49-F238E27FC236}">
              <a16:creationId xmlns:a16="http://schemas.microsoft.com/office/drawing/2014/main" id="{28E28600-13A0-7635-D054-6012A9E43E5B}"/>
            </a:ext>
          </a:extLst>
        </p:cNvPr>
        <p:cNvGrpSpPr/>
        <p:nvPr/>
      </p:nvGrpSpPr>
      <p:grpSpPr>
        <a:xfrm>
          <a:off x="0" y="0"/>
          <a:ext cx="0" cy="0"/>
          <a:chOff x="0" y="0"/>
          <a:chExt cx="0" cy="0"/>
        </a:xfrm>
      </p:grpSpPr>
      <p:sp>
        <p:nvSpPr>
          <p:cNvPr id="79" name="Google Shape;79;p26:notes">
            <a:extLst>
              <a:ext uri="{FF2B5EF4-FFF2-40B4-BE49-F238E27FC236}">
                <a16:creationId xmlns:a16="http://schemas.microsoft.com/office/drawing/2014/main" id="{B3CE5ADC-7BB6-4ECF-7468-572BE4BD464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 name="Google Shape;80;p26:notes">
            <a:extLst>
              <a:ext uri="{FF2B5EF4-FFF2-40B4-BE49-F238E27FC236}">
                <a16:creationId xmlns:a16="http://schemas.microsoft.com/office/drawing/2014/main" id="{8AC29C31-7EDD-2B67-708B-5EC37F10BE8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309207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1"/>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000" b="0" i="0" u="none" strike="noStrike" cap="none">
                <a:solidFill>
                  <a:srgbClr val="13294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000" b="0" i="0" u="none" strike="noStrike" cap="none">
                <a:solidFill>
                  <a:srgbClr val="13294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000" b="0" i="0" u="none" strike="noStrike" cap="none">
                <a:solidFill>
                  <a:srgbClr val="13294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000" b="0" i="0" u="none" strike="noStrike" cap="none">
                <a:solidFill>
                  <a:srgbClr val="13294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000" b="0" i="0" u="none" strike="noStrike" cap="none">
                <a:solidFill>
                  <a:srgbClr val="13294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000" b="0" i="0" u="none" strike="noStrike" cap="none">
                <a:solidFill>
                  <a:srgbClr val="13294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000" b="0" i="0" u="none" strike="noStrike" cap="none">
                <a:solidFill>
                  <a:srgbClr val="13294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000" b="0" i="0" u="none" strike="noStrike" cap="none">
                <a:solidFill>
                  <a:srgbClr val="13294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000" b="0" i="0" u="none" strike="noStrike" cap="none">
                <a:solidFill>
                  <a:srgbClr val="13294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8" name="Google Shape;2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7"/>
          <p:cNvSpPr txBox="1">
            <a:spLocks noGrp="1"/>
          </p:cNvSpPr>
          <p:nvPr>
            <p:ph type="sldNum" idx="12"/>
          </p:nvPr>
        </p:nvSpPr>
        <p:spPr>
          <a:xfrm>
            <a:off x="9372600" y="64325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8"/>
          <p:cNvSpPr txBox="1">
            <a:spLocks noGrp="1"/>
          </p:cNvSpPr>
          <p:nvPr>
            <p:ph type="sldNum" idx="12"/>
          </p:nvPr>
        </p:nvSpPr>
        <p:spPr>
          <a:xfrm>
            <a:off x="9372600" y="64325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9"/>
          <p:cNvSpPr txBox="1">
            <a:spLocks noGrp="1"/>
          </p:cNvSpPr>
          <p:nvPr>
            <p:ph type="sldNum" idx="12"/>
          </p:nvPr>
        </p:nvSpPr>
        <p:spPr>
          <a:xfrm>
            <a:off x="9372600" y="64325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0"/>
          <p:cNvSpPr txBox="1">
            <a:spLocks noGrp="1"/>
          </p:cNvSpPr>
          <p:nvPr>
            <p:ph type="sldNum" idx="12"/>
          </p:nvPr>
        </p:nvSpPr>
        <p:spPr>
          <a:xfrm>
            <a:off x="9372600" y="64325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2"/>
        <p:cNvGrpSpPr/>
        <p:nvPr/>
      </p:nvGrpSpPr>
      <p:grpSpPr>
        <a:xfrm>
          <a:off x="0" y="0"/>
          <a:ext cx="0" cy="0"/>
          <a:chOff x="0" y="0"/>
          <a:chExt cx="0" cy="0"/>
        </a:xfrm>
      </p:grpSpPr>
      <p:sp>
        <p:nvSpPr>
          <p:cNvPr id="53" name="Google Shape;53;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5" name="Google Shape;55;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6" name="Google Shape;5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2"/>
          <p:cNvSpPr txBox="1">
            <a:spLocks noGrp="1"/>
          </p:cNvSpPr>
          <p:nvPr>
            <p:ph type="sldNum" idx="12"/>
          </p:nvPr>
        </p:nvSpPr>
        <p:spPr>
          <a:xfrm>
            <a:off x="9372600" y="64325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9"/>
        <p:cNvGrpSpPr/>
        <p:nvPr/>
      </p:nvGrpSpPr>
      <p:grpSpPr>
        <a:xfrm>
          <a:off x="0" y="0"/>
          <a:ext cx="0" cy="0"/>
          <a:chOff x="0" y="0"/>
          <a:chExt cx="0" cy="0"/>
        </a:xfrm>
      </p:grpSpPr>
      <p:sp>
        <p:nvSpPr>
          <p:cNvPr id="60" name="Google Shape;60;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3"/>
          <p:cNvSpPr>
            <a:spLocks noGrp="1"/>
          </p:cNvSpPr>
          <p:nvPr>
            <p:ph type="pic" idx="2"/>
          </p:nvPr>
        </p:nvSpPr>
        <p:spPr>
          <a:xfrm>
            <a:off x="5183188" y="987425"/>
            <a:ext cx="6172200" cy="4873625"/>
          </a:xfrm>
          <a:prstGeom prst="rect">
            <a:avLst/>
          </a:prstGeom>
          <a:noFill/>
          <a:ln>
            <a:noFill/>
          </a:ln>
        </p:spPr>
      </p:sp>
      <p:sp>
        <p:nvSpPr>
          <p:cNvPr id="62" name="Google Shape;62;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3"/>
          <p:cNvSpPr txBox="1">
            <a:spLocks noGrp="1"/>
          </p:cNvSpPr>
          <p:nvPr>
            <p:ph type="sldNum" idx="12"/>
          </p:nvPr>
        </p:nvSpPr>
        <p:spPr>
          <a:xfrm>
            <a:off x="9372600" y="64325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4"/>
          <p:cNvSpPr txBox="1">
            <a:spLocks noGrp="1"/>
          </p:cNvSpPr>
          <p:nvPr>
            <p:ph type="sldNum" idx="12"/>
          </p:nvPr>
        </p:nvSpPr>
        <p:spPr>
          <a:xfrm>
            <a:off x="9372600" y="64325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2"/>
        <p:cNvGrpSpPr/>
        <p:nvPr/>
      </p:nvGrpSpPr>
      <p:grpSpPr>
        <a:xfrm>
          <a:off x="0" y="0"/>
          <a:ext cx="0" cy="0"/>
          <a:chOff x="0" y="0"/>
          <a:chExt cx="0" cy="0"/>
        </a:xfrm>
      </p:grpSpPr>
      <p:sp>
        <p:nvSpPr>
          <p:cNvPr id="73" name="Google Shape;73;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9372600" y="64325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4"/>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14"/>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000" b="0" i="0" u="none" strike="noStrike" cap="none">
                <a:solidFill>
                  <a:srgbClr val="13294B"/>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000" b="0" i="0" u="none" strike="noStrike" cap="none">
                <a:solidFill>
                  <a:srgbClr val="13294B"/>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000" b="0" i="0" u="none" strike="noStrike" cap="none">
                <a:solidFill>
                  <a:srgbClr val="13294B"/>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000" b="0" i="0" u="none" strike="noStrike" cap="none">
                <a:solidFill>
                  <a:srgbClr val="13294B"/>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000" b="0" i="0" u="none" strike="noStrike" cap="none">
                <a:solidFill>
                  <a:srgbClr val="13294B"/>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000" b="0" i="0" u="none" strike="noStrike" cap="none">
                <a:solidFill>
                  <a:srgbClr val="13294B"/>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000" b="0" i="0" u="none" strike="noStrike" cap="none">
                <a:solidFill>
                  <a:srgbClr val="13294B"/>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000" b="0" i="0" u="none" strike="noStrike" cap="none">
                <a:solidFill>
                  <a:srgbClr val="13294B"/>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000" b="0" i="0" u="none" strike="noStrike" cap="none">
                <a:solidFill>
                  <a:srgbClr val="13294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png"/><Relationship Id="rId7"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2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51.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60.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70.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80.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120.png"/><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40.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33.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png"/><Relationship Id="rId7"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294B"/>
        </a:solidFill>
        <a:effectLst/>
      </p:bgPr>
    </p:bg>
    <p:spTree>
      <p:nvGrpSpPr>
        <p:cNvPr id="1" name="Shape 81"/>
        <p:cNvGrpSpPr/>
        <p:nvPr/>
      </p:nvGrpSpPr>
      <p:grpSpPr>
        <a:xfrm>
          <a:off x="0" y="0"/>
          <a:ext cx="0" cy="0"/>
          <a:chOff x="0" y="0"/>
          <a:chExt cx="0" cy="0"/>
        </a:xfrm>
      </p:grpSpPr>
      <p:sp>
        <p:nvSpPr>
          <p:cNvPr id="82" name="Google Shape;82;p26"/>
          <p:cNvSpPr txBox="1"/>
          <p:nvPr/>
        </p:nvSpPr>
        <p:spPr>
          <a:xfrm>
            <a:off x="1134035" y="2553964"/>
            <a:ext cx="9924000" cy="167734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600"/>
              </a:spcBef>
              <a:spcAft>
                <a:spcPts val="0"/>
              </a:spcAft>
              <a:buClr>
                <a:srgbClr val="000000"/>
              </a:buClr>
              <a:buSzPts val="4500"/>
              <a:buFont typeface="Arial"/>
              <a:buNone/>
            </a:pPr>
            <a:r>
              <a:rPr lang="en-US" sz="4500" b="1" dirty="0">
                <a:solidFill>
                  <a:schemeClr val="lt1"/>
                </a:solidFill>
              </a:rPr>
              <a:t>RAG</a:t>
            </a:r>
            <a:endParaRPr lang="en-US" sz="4500" b="0" i="0" u="none" strike="noStrike" cap="none" dirty="0">
              <a:solidFill>
                <a:srgbClr val="000000"/>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2500"/>
              <a:buFont typeface="Arial"/>
              <a:buNone/>
            </a:pPr>
            <a:r>
              <a:rPr lang="en-US" sz="2500" b="0" i="0" u="none" strike="noStrike" cap="none" dirty="0">
                <a:solidFill>
                  <a:schemeClr val="lt1"/>
                </a:solidFill>
                <a:latin typeface="Arial"/>
                <a:ea typeface="Arial"/>
                <a:cs typeface="Arial"/>
                <a:sym typeface="Arial"/>
              </a:rPr>
              <a:t>CS598 FLA</a:t>
            </a:r>
            <a:endParaRPr lang="en-US" sz="1400" b="0" i="0" u="none" strike="noStrike" cap="none" dirty="0">
              <a:solidFill>
                <a:srgbClr val="000000"/>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800"/>
              <a:buFont typeface="Arial"/>
              <a:buNone/>
            </a:pPr>
            <a:r>
              <a:rPr lang="en-US" sz="1800" b="0" i="0" u="none" strike="noStrike" cap="none" dirty="0">
                <a:solidFill>
                  <a:schemeClr val="lt1"/>
                </a:solidFill>
                <a:latin typeface="Arial"/>
                <a:ea typeface="Arial"/>
                <a:cs typeface="Arial"/>
                <a:sym typeface="Arial"/>
              </a:rPr>
              <a:t>Yihan Zhang   Hanbo Guo   Minghao Fang   </a:t>
            </a:r>
            <a:r>
              <a:rPr lang="en-US" sz="1800" b="0" i="0" u="none" strike="noStrike" cap="none" dirty="0" err="1">
                <a:solidFill>
                  <a:schemeClr val="lt1"/>
                </a:solidFill>
                <a:latin typeface="Arial"/>
                <a:ea typeface="Arial"/>
                <a:cs typeface="Arial"/>
                <a:sym typeface="Arial"/>
              </a:rPr>
              <a:t>Chenghao</a:t>
            </a:r>
            <a:r>
              <a:rPr lang="en-US" sz="1800" b="0" i="0" u="none" strike="noStrike" cap="none" dirty="0">
                <a:solidFill>
                  <a:schemeClr val="lt1"/>
                </a:solidFill>
                <a:latin typeface="Arial"/>
                <a:ea typeface="Arial"/>
                <a:cs typeface="Arial"/>
                <a:sym typeface="Arial"/>
              </a:rPr>
              <a:t> Mo</a:t>
            </a:r>
          </a:p>
        </p:txBody>
      </p:sp>
      <p:sp>
        <p:nvSpPr>
          <p:cNvPr id="83" name="Google Shape;83;p26"/>
          <p:cNvSpPr txBox="1"/>
          <p:nvPr/>
        </p:nvSpPr>
        <p:spPr>
          <a:xfrm>
            <a:off x="3922059" y="5413888"/>
            <a:ext cx="4347882"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a:solidFill>
                  <a:schemeClr val="lt1"/>
                </a:solidFill>
              </a:rPr>
              <a:t>April</a:t>
            </a:r>
            <a:r>
              <a:rPr lang="en-US" sz="1800" b="0" i="0" u="none" strike="noStrike" cap="none">
                <a:solidFill>
                  <a:schemeClr val="lt1"/>
                </a:solidFill>
                <a:latin typeface="Arial"/>
                <a:ea typeface="Arial"/>
                <a:cs typeface="Arial"/>
                <a:sym typeface="Arial"/>
              </a:rPr>
              <a:t> 9th, 2025</a:t>
            </a:r>
            <a:endParaRPr sz="1800" b="0" i="0" u="none" strike="noStrike" cap="none">
              <a:solidFill>
                <a:schemeClr val="lt1"/>
              </a:solidFill>
              <a:latin typeface="Arial"/>
              <a:ea typeface="Arial"/>
              <a:cs typeface="Arial"/>
              <a:sym typeface="Arial"/>
            </a:endParaRPr>
          </a:p>
        </p:txBody>
      </p:sp>
      <p:pic>
        <p:nvPicPr>
          <p:cNvPr id="84" name="Google Shape;84;p26"/>
          <p:cNvPicPr preferRelativeResize="0"/>
          <p:nvPr/>
        </p:nvPicPr>
        <p:blipFill rotWithShape="1">
          <a:blip r:embed="rId3">
            <a:alphaModFix/>
          </a:blip>
          <a:srcRect/>
          <a:stretch/>
        </p:blipFill>
        <p:spPr>
          <a:xfrm>
            <a:off x="4641007" y="1004743"/>
            <a:ext cx="2909982" cy="754664"/>
          </a:xfrm>
          <a:prstGeom prst="rect">
            <a:avLst/>
          </a:prstGeom>
          <a:noFill/>
          <a:ln>
            <a:noFill/>
          </a:ln>
        </p:spPr>
      </p:pic>
      <p:sp>
        <p:nvSpPr>
          <p:cNvPr id="85" name="Google Shape;85;p26"/>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9">
          <a:extLst>
            <a:ext uri="{FF2B5EF4-FFF2-40B4-BE49-F238E27FC236}">
              <a16:creationId xmlns:a16="http://schemas.microsoft.com/office/drawing/2014/main" id="{D1E01A44-BE2D-82A3-001D-1849D986BF0F}"/>
            </a:ext>
          </a:extLst>
        </p:cNvPr>
        <p:cNvGrpSpPr/>
        <p:nvPr/>
      </p:nvGrpSpPr>
      <p:grpSpPr>
        <a:xfrm>
          <a:off x="0" y="0"/>
          <a:ext cx="0" cy="0"/>
          <a:chOff x="0" y="0"/>
          <a:chExt cx="0" cy="0"/>
        </a:xfrm>
      </p:grpSpPr>
      <p:sp>
        <p:nvSpPr>
          <p:cNvPr id="590" name="Google Shape;590;g330b2db8419_2_73">
            <a:extLst>
              <a:ext uri="{FF2B5EF4-FFF2-40B4-BE49-F238E27FC236}">
                <a16:creationId xmlns:a16="http://schemas.microsoft.com/office/drawing/2014/main" id="{112F4DE4-F8D2-707F-EC1C-DDF9D8D0C6EB}"/>
              </a:ext>
            </a:extLst>
          </p:cNvPr>
          <p:cNvSpPr txBox="1"/>
          <p:nvPr/>
        </p:nvSpPr>
        <p:spPr>
          <a:xfrm>
            <a:off x="263575" y="1836010"/>
            <a:ext cx="11327100" cy="4906500"/>
          </a:xfrm>
          <a:prstGeom prst="rect">
            <a:avLst/>
          </a:prstGeom>
          <a:noFill/>
          <a:ln>
            <a:noFill/>
          </a:ln>
        </p:spPr>
        <p:txBody>
          <a:bodyPr spcFirstLastPara="1" wrap="square" lIns="91425" tIns="45700" rIns="91425" bIns="45700" anchor="t" anchorCtr="0">
            <a:noAutofit/>
          </a:bodyPr>
          <a:lstStyle/>
          <a:p>
            <a:pPr algn="ctr">
              <a:lnSpc>
                <a:spcPct val="114999"/>
              </a:lnSpc>
              <a:spcBef>
                <a:spcPts val="600"/>
              </a:spcBef>
              <a:spcAft>
                <a:spcPts val="600"/>
              </a:spcAft>
            </a:pPr>
            <a:endParaRPr lang="en-US" sz="3200">
              <a:latin typeface="Times New Roman"/>
            </a:endParaRPr>
          </a:p>
          <a:p>
            <a:pPr algn="ctr">
              <a:lnSpc>
                <a:spcPct val="114999"/>
              </a:lnSpc>
              <a:spcBef>
                <a:spcPts val="600"/>
              </a:spcBef>
              <a:spcAft>
                <a:spcPts val="600"/>
              </a:spcAft>
            </a:pPr>
            <a:r>
              <a:rPr lang="en-US" sz="3200">
                <a:latin typeface="Times New Roman"/>
              </a:rPr>
              <a:t>REALM: Retrieval-Augmented Language Model Pre-Training </a:t>
            </a:r>
            <a:endParaRPr lang="en-US">
              <a:latin typeface="Times New Roman"/>
            </a:endParaRPr>
          </a:p>
          <a:p>
            <a:pPr algn="ctr">
              <a:lnSpc>
                <a:spcPct val="115000"/>
              </a:lnSpc>
              <a:spcBef>
                <a:spcPts val="600"/>
              </a:spcBef>
              <a:spcAft>
                <a:spcPts val="600"/>
              </a:spcAft>
            </a:pPr>
            <a:r>
              <a:rPr lang="en-US" sz="3200">
                <a:solidFill>
                  <a:schemeClr val="dk1"/>
                </a:solidFill>
                <a:latin typeface="Times New Roman"/>
                <a:ea typeface="Roboto"/>
                <a:cs typeface="Times New Roman"/>
                <a:sym typeface="Roboto"/>
              </a:rPr>
              <a:t> </a:t>
            </a:r>
            <a:r>
              <a:rPr lang="en-US" sz="2000">
                <a:solidFill>
                  <a:schemeClr val="dk1"/>
                </a:solidFill>
                <a:latin typeface="Times New Roman"/>
                <a:ea typeface="Roboto"/>
                <a:sym typeface="Roboto"/>
              </a:rPr>
              <a:t>Kelvin Guu, Kenton Lee, Zora Tung, </a:t>
            </a:r>
            <a:r>
              <a:rPr lang="en-US" sz="2000" err="1">
                <a:solidFill>
                  <a:schemeClr val="dk1"/>
                </a:solidFill>
                <a:latin typeface="Times New Roman"/>
                <a:ea typeface="Roboto"/>
                <a:sym typeface="Roboto"/>
              </a:rPr>
              <a:t>Panupong</a:t>
            </a:r>
            <a:r>
              <a:rPr lang="en-US" sz="2000">
                <a:solidFill>
                  <a:schemeClr val="dk1"/>
                </a:solidFill>
                <a:latin typeface="Times New Roman"/>
                <a:ea typeface="Roboto"/>
                <a:sym typeface="Roboto"/>
              </a:rPr>
              <a:t> </a:t>
            </a:r>
            <a:r>
              <a:rPr lang="en-US" sz="2000" err="1">
                <a:solidFill>
                  <a:schemeClr val="dk1"/>
                </a:solidFill>
                <a:latin typeface="Times New Roman"/>
                <a:ea typeface="Roboto"/>
                <a:sym typeface="Roboto"/>
              </a:rPr>
              <a:t>Pasupat</a:t>
            </a:r>
            <a:r>
              <a:rPr lang="en-US" sz="2000">
                <a:solidFill>
                  <a:schemeClr val="dk1"/>
                </a:solidFill>
                <a:latin typeface="Times New Roman"/>
                <a:ea typeface="Roboto"/>
                <a:sym typeface="Roboto"/>
              </a:rPr>
              <a:t>, Ming-Wei Chang </a:t>
            </a:r>
            <a:endParaRPr lang="en-US" sz="2000">
              <a:solidFill>
                <a:schemeClr val="dk1"/>
              </a:solidFill>
              <a:latin typeface="Times New Roman"/>
              <a:ea typeface="Roboto"/>
            </a:endParaRPr>
          </a:p>
          <a:p>
            <a:pPr algn="ctr">
              <a:lnSpc>
                <a:spcPct val="114999"/>
              </a:lnSpc>
              <a:spcBef>
                <a:spcPts val="600"/>
              </a:spcBef>
              <a:spcAft>
                <a:spcPts val="600"/>
              </a:spcAft>
            </a:pPr>
            <a:r>
              <a:rPr lang="en-US" sz="2000">
                <a:solidFill>
                  <a:schemeClr val="dk1"/>
                </a:solidFill>
                <a:latin typeface="Times New Roman"/>
                <a:ea typeface="Roboto"/>
                <a:cs typeface="Times New Roman"/>
                <a:sym typeface="Roboto"/>
              </a:rPr>
              <a:t>Google Research</a:t>
            </a:r>
            <a:endParaRPr sz="2000">
              <a:solidFill>
                <a:schemeClr val="dk1"/>
              </a:solidFill>
              <a:latin typeface="Times New Roman"/>
            </a:endParaRPr>
          </a:p>
        </p:txBody>
      </p:sp>
      <p:sp>
        <p:nvSpPr>
          <p:cNvPr id="591" name="Google Shape;591;g330b2db8419_2_73">
            <a:extLst>
              <a:ext uri="{FF2B5EF4-FFF2-40B4-BE49-F238E27FC236}">
                <a16:creationId xmlns:a16="http://schemas.microsoft.com/office/drawing/2014/main" id="{59BC231F-CE7E-5330-43F7-1976C87CECC6}"/>
              </a:ext>
            </a:extLst>
          </p:cNvPr>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pic>
        <p:nvPicPr>
          <p:cNvPr id="593" name="Google Shape;593;g330b2db8419_2_73">
            <a:extLst>
              <a:ext uri="{FF2B5EF4-FFF2-40B4-BE49-F238E27FC236}">
                <a16:creationId xmlns:a16="http://schemas.microsoft.com/office/drawing/2014/main" id="{44178780-DF0E-F826-193D-5F50A473F021}"/>
              </a:ext>
            </a:extLst>
          </p:cNvPr>
          <p:cNvPicPr preferRelativeResize="0"/>
          <p:nvPr/>
        </p:nvPicPr>
        <p:blipFill rotWithShape="1">
          <a:blip r:embed="rId3">
            <a:alphaModFix/>
          </a:blip>
          <a:srcRect/>
          <a:stretch/>
        </p:blipFill>
        <p:spPr>
          <a:xfrm>
            <a:off x="11557509" y="233819"/>
            <a:ext cx="271309" cy="389810"/>
          </a:xfrm>
          <a:prstGeom prst="rect">
            <a:avLst/>
          </a:prstGeom>
          <a:noFill/>
          <a:ln>
            <a:noFill/>
          </a:ln>
        </p:spPr>
      </p:pic>
      <p:sp>
        <p:nvSpPr>
          <p:cNvPr id="594" name="Google Shape;594;g330b2db8419_2_73">
            <a:extLst>
              <a:ext uri="{FF2B5EF4-FFF2-40B4-BE49-F238E27FC236}">
                <a16:creationId xmlns:a16="http://schemas.microsoft.com/office/drawing/2014/main" id="{F8DF400D-9268-3CFF-3F06-25B30EFB2637}"/>
              </a:ext>
            </a:extLst>
          </p:cNvPr>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595" name="Google Shape;595;g330b2db8419_2_73">
            <a:extLst>
              <a:ext uri="{FF2B5EF4-FFF2-40B4-BE49-F238E27FC236}">
                <a16:creationId xmlns:a16="http://schemas.microsoft.com/office/drawing/2014/main" id="{B809586D-F973-8A26-C392-2D73F3294E26}"/>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596" name="Google Shape;596;g330b2db8419_2_73">
            <a:extLst>
              <a:ext uri="{FF2B5EF4-FFF2-40B4-BE49-F238E27FC236}">
                <a16:creationId xmlns:a16="http://schemas.microsoft.com/office/drawing/2014/main" id="{0A08D74B-FA58-87C3-0B45-4FEFA45A3273}"/>
              </a:ext>
            </a:extLst>
          </p:cNvPr>
          <p:cNvGrpSpPr/>
          <p:nvPr/>
        </p:nvGrpSpPr>
        <p:grpSpPr>
          <a:xfrm>
            <a:off x="2622925" y="6601537"/>
            <a:ext cx="6677215" cy="70500"/>
            <a:chOff x="2589675" y="6601537"/>
            <a:chExt cx="6677215" cy="70500"/>
          </a:xfrm>
        </p:grpSpPr>
        <p:cxnSp>
          <p:nvCxnSpPr>
            <p:cNvPr id="597" name="Google Shape;597;g330b2db8419_2_73">
              <a:extLst>
                <a:ext uri="{FF2B5EF4-FFF2-40B4-BE49-F238E27FC236}">
                  <a16:creationId xmlns:a16="http://schemas.microsoft.com/office/drawing/2014/main" id="{C51B3AC5-B376-A371-7C7F-92E391EAB7DF}"/>
                </a:ext>
              </a:extLst>
            </p:cNvPr>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598" name="Google Shape;598;g330b2db8419_2_73">
              <a:extLst>
                <a:ext uri="{FF2B5EF4-FFF2-40B4-BE49-F238E27FC236}">
                  <a16:creationId xmlns:a16="http://schemas.microsoft.com/office/drawing/2014/main" id="{954FB112-1E7E-7A7F-7424-7587F2F01C10}"/>
                </a:ext>
              </a:extLst>
            </p:cNvPr>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599" name="Google Shape;599;g330b2db8419_2_73">
            <a:extLst>
              <a:ext uri="{FF2B5EF4-FFF2-40B4-BE49-F238E27FC236}">
                <a16:creationId xmlns:a16="http://schemas.microsoft.com/office/drawing/2014/main" id="{EE9F3FA9-BFA1-C6B0-E012-5BB00E226DB7}"/>
              </a:ext>
            </a:extLst>
          </p:cNvPr>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extLst>
      <p:ext uri="{BB962C8B-B14F-4D97-AF65-F5344CB8AC3E}">
        <p14:creationId xmlns:p14="http://schemas.microsoft.com/office/powerpoint/2010/main" val="1005329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89">
          <a:extLst>
            <a:ext uri="{FF2B5EF4-FFF2-40B4-BE49-F238E27FC236}">
              <a16:creationId xmlns:a16="http://schemas.microsoft.com/office/drawing/2014/main" id="{A989AFDD-E3AB-5C06-CCAD-6AF87379819C}"/>
            </a:ext>
          </a:extLst>
        </p:cNvPr>
        <p:cNvGrpSpPr/>
        <p:nvPr/>
      </p:nvGrpSpPr>
      <p:grpSpPr>
        <a:xfrm>
          <a:off x="0" y="0"/>
          <a:ext cx="0" cy="0"/>
          <a:chOff x="0" y="0"/>
          <a:chExt cx="0" cy="0"/>
        </a:xfrm>
      </p:grpSpPr>
      <p:sp>
        <p:nvSpPr>
          <p:cNvPr id="590" name="Google Shape;590;g330b2db8419_2_73">
            <a:extLst>
              <a:ext uri="{FF2B5EF4-FFF2-40B4-BE49-F238E27FC236}">
                <a16:creationId xmlns:a16="http://schemas.microsoft.com/office/drawing/2014/main" id="{A0FAC223-36FC-A7D2-F46E-790D980537E2}"/>
              </a:ext>
            </a:extLst>
          </p:cNvPr>
          <p:cNvSpPr txBox="1"/>
          <p:nvPr/>
        </p:nvSpPr>
        <p:spPr>
          <a:xfrm>
            <a:off x="230409" y="914842"/>
            <a:ext cx="11327100" cy="5028315"/>
          </a:xfrm>
          <a:prstGeom prst="rect">
            <a:avLst/>
          </a:prstGeom>
          <a:noFill/>
          <a:ln>
            <a:noFill/>
          </a:ln>
        </p:spPr>
        <p:txBody>
          <a:bodyPr spcFirstLastPara="1" wrap="square" lIns="91425" tIns="45700" rIns="91425" bIns="45700" anchor="t" anchorCtr="0">
            <a:noAutofit/>
          </a:bodyPr>
          <a:lstStyle/>
          <a:p>
            <a:pPr marL="285750" indent="-285750">
              <a:lnSpc>
                <a:spcPct val="114999"/>
              </a:lnSpc>
              <a:spcBef>
                <a:spcPts val="600"/>
              </a:spcBef>
              <a:spcAft>
                <a:spcPts val="600"/>
              </a:spcAft>
              <a:buChar char="•"/>
            </a:pPr>
            <a:endParaRPr lang="en-US" sz="2400" dirty="0">
              <a:solidFill>
                <a:schemeClr val="dk1"/>
              </a:solidFill>
              <a:latin typeface="Times New Roman"/>
              <a:ea typeface="Roboto"/>
            </a:endParaRPr>
          </a:p>
          <a:p>
            <a:pPr marL="742950" lvl="1" indent="-285750">
              <a:lnSpc>
                <a:spcPct val="114999"/>
              </a:lnSpc>
              <a:spcBef>
                <a:spcPts val="600"/>
              </a:spcBef>
              <a:spcAft>
                <a:spcPts val="600"/>
              </a:spcAft>
              <a:buFont typeface="Courier New"/>
              <a:buChar char="o"/>
            </a:pPr>
            <a:endParaRPr lang="en-US" sz="2400" dirty="0">
              <a:solidFill>
                <a:schemeClr val="dk1"/>
              </a:solidFill>
              <a:ea typeface="Roboto"/>
            </a:endParaRPr>
          </a:p>
        </p:txBody>
      </p:sp>
      <p:sp>
        <p:nvSpPr>
          <p:cNvPr id="591" name="Google Shape;591;g330b2db8419_2_73">
            <a:extLst>
              <a:ext uri="{FF2B5EF4-FFF2-40B4-BE49-F238E27FC236}">
                <a16:creationId xmlns:a16="http://schemas.microsoft.com/office/drawing/2014/main" id="{0C470187-8A5E-5687-EF68-4643C595B612}"/>
              </a:ext>
            </a:extLst>
          </p:cNvPr>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592" name="Google Shape;592;g330b2db8419_2_73">
            <a:extLst>
              <a:ext uri="{FF2B5EF4-FFF2-40B4-BE49-F238E27FC236}">
                <a16:creationId xmlns:a16="http://schemas.microsoft.com/office/drawing/2014/main" id="{60DECF41-9E60-0DA6-E8CB-27C6C7CB77E1}"/>
              </a:ext>
            </a:extLst>
          </p:cNvPr>
          <p:cNvSpPr txBox="1"/>
          <p:nvPr/>
        </p:nvSpPr>
        <p:spPr>
          <a:xfrm>
            <a:off x="114162" y="145685"/>
            <a:ext cx="10910100" cy="584735"/>
          </a:xfrm>
          <a:prstGeom prst="rect">
            <a:avLst/>
          </a:prstGeom>
          <a:noFill/>
          <a:ln>
            <a:noFill/>
          </a:ln>
        </p:spPr>
        <p:txBody>
          <a:bodyPr spcFirstLastPara="1" wrap="square" lIns="91425" tIns="45700" rIns="91425" bIns="45700" anchor="t" anchorCtr="0">
            <a:spAutoFit/>
          </a:bodyPr>
          <a:lstStyle/>
          <a:p>
            <a:pPr marL="0" marR="0" lvl="0" indent="0" algn="l">
              <a:lnSpc>
                <a:spcPct val="100000"/>
              </a:lnSpc>
              <a:spcBef>
                <a:spcPts val="0"/>
              </a:spcBef>
              <a:spcAft>
                <a:spcPts val="0"/>
              </a:spcAft>
              <a:buNone/>
            </a:pPr>
            <a:r>
              <a:rPr lang="en-US" sz="3200" dirty="0">
                <a:solidFill>
                  <a:schemeClr val="lt1"/>
                </a:solidFill>
                <a:latin typeface="Times New Roman"/>
                <a:cs typeface="Times New Roman"/>
              </a:rPr>
              <a:t>What is RAG?</a:t>
            </a:r>
            <a:endParaRPr lang="en-US" dirty="0"/>
          </a:p>
        </p:txBody>
      </p:sp>
      <p:pic>
        <p:nvPicPr>
          <p:cNvPr id="593" name="Google Shape;593;g330b2db8419_2_73">
            <a:extLst>
              <a:ext uri="{FF2B5EF4-FFF2-40B4-BE49-F238E27FC236}">
                <a16:creationId xmlns:a16="http://schemas.microsoft.com/office/drawing/2014/main" id="{0A11DCE1-340C-AC32-5C61-036558583197}"/>
              </a:ext>
            </a:extLst>
          </p:cNvPr>
          <p:cNvPicPr preferRelativeResize="0"/>
          <p:nvPr/>
        </p:nvPicPr>
        <p:blipFill rotWithShape="1">
          <a:blip r:embed="rId3">
            <a:alphaModFix/>
          </a:blip>
          <a:srcRect/>
          <a:stretch/>
        </p:blipFill>
        <p:spPr>
          <a:xfrm>
            <a:off x="11557509" y="233819"/>
            <a:ext cx="271309" cy="389810"/>
          </a:xfrm>
          <a:prstGeom prst="rect">
            <a:avLst/>
          </a:prstGeom>
          <a:noFill/>
          <a:ln>
            <a:noFill/>
          </a:ln>
        </p:spPr>
      </p:pic>
      <p:sp>
        <p:nvSpPr>
          <p:cNvPr id="594" name="Google Shape;594;g330b2db8419_2_73">
            <a:extLst>
              <a:ext uri="{FF2B5EF4-FFF2-40B4-BE49-F238E27FC236}">
                <a16:creationId xmlns:a16="http://schemas.microsoft.com/office/drawing/2014/main" id="{CC4EF5D7-8288-4BED-6965-5F295FD72051}"/>
              </a:ext>
            </a:extLst>
          </p:cNvPr>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595" name="Google Shape;595;g330b2db8419_2_73">
            <a:extLst>
              <a:ext uri="{FF2B5EF4-FFF2-40B4-BE49-F238E27FC236}">
                <a16:creationId xmlns:a16="http://schemas.microsoft.com/office/drawing/2014/main" id="{7159BD5B-6994-837E-841C-20FD108F40AF}"/>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596" name="Google Shape;596;g330b2db8419_2_73">
            <a:extLst>
              <a:ext uri="{FF2B5EF4-FFF2-40B4-BE49-F238E27FC236}">
                <a16:creationId xmlns:a16="http://schemas.microsoft.com/office/drawing/2014/main" id="{12BE6A28-A27F-76A7-E31E-5001D35B575B}"/>
              </a:ext>
            </a:extLst>
          </p:cNvPr>
          <p:cNvGrpSpPr/>
          <p:nvPr/>
        </p:nvGrpSpPr>
        <p:grpSpPr>
          <a:xfrm>
            <a:off x="2622925" y="6601537"/>
            <a:ext cx="6677215" cy="70500"/>
            <a:chOff x="2589675" y="6601537"/>
            <a:chExt cx="6677215" cy="70500"/>
          </a:xfrm>
        </p:grpSpPr>
        <p:cxnSp>
          <p:nvCxnSpPr>
            <p:cNvPr id="597" name="Google Shape;597;g330b2db8419_2_73">
              <a:extLst>
                <a:ext uri="{FF2B5EF4-FFF2-40B4-BE49-F238E27FC236}">
                  <a16:creationId xmlns:a16="http://schemas.microsoft.com/office/drawing/2014/main" id="{E58AE7E1-CD14-4DCA-DE3A-0115372FF6B1}"/>
                </a:ext>
              </a:extLst>
            </p:cNvPr>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598" name="Google Shape;598;g330b2db8419_2_73">
              <a:extLst>
                <a:ext uri="{FF2B5EF4-FFF2-40B4-BE49-F238E27FC236}">
                  <a16:creationId xmlns:a16="http://schemas.microsoft.com/office/drawing/2014/main" id="{32CB78A8-2C03-E42B-3B0A-EF517AC26259}"/>
                </a:ext>
              </a:extLst>
            </p:cNvPr>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599" name="Google Shape;599;g330b2db8419_2_73">
            <a:extLst>
              <a:ext uri="{FF2B5EF4-FFF2-40B4-BE49-F238E27FC236}">
                <a16:creationId xmlns:a16="http://schemas.microsoft.com/office/drawing/2014/main" id="{26FCB5FC-A8B7-719A-B73A-145EE67EE282}"/>
              </a:ext>
            </a:extLst>
          </p:cNvPr>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pic>
        <p:nvPicPr>
          <p:cNvPr id="5" name="Picture 4" descr="A comparison of a memory&#10;&#10;AI-generated content may be incorrect.">
            <a:extLst>
              <a:ext uri="{FF2B5EF4-FFF2-40B4-BE49-F238E27FC236}">
                <a16:creationId xmlns:a16="http://schemas.microsoft.com/office/drawing/2014/main" id="{DE644638-F55D-9437-B961-B34F5552D5A7}"/>
              </a:ext>
            </a:extLst>
          </p:cNvPr>
          <p:cNvPicPr>
            <a:picLocks noChangeAspect="1"/>
          </p:cNvPicPr>
          <p:nvPr/>
        </p:nvPicPr>
        <p:blipFill>
          <a:blip r:embed="rId4"/>
          <a:stretch>
            <a:fillRect/>
          </a:stretch>
        </p:blipFill>
        <p:spPr>
          <a:xfrm>
            <a:off x="2209800" y="1754960"/>
            <a:ext cx="7772400" cy="3802625"/>
          </a:xfrm>
          <a:prstGeom prst="rect">
            <a:avLst/>
          </a:prstGeom>
        </p:spPr>
      </p:pic>
      <p:sp>
        <p:nvSpPr>
          <p:cNvPr id="6" name="TextBox 5">
            <a:extLst>
              <a:ext uri="{FF2B5EF4-FFF2-40B4-BE49-F238E27FC236}">
                <a16:creationId xmlns:a16="http://schemas.microsoft.com/office/drawing/2014/main" id="{D50E3C9F-795D-D883-B2B3-AE2021960FC4}"/>
              </a:ext>
            </a:extLst>
          </p:cNvPr>
          <p:cNvSpPr txBox="1"/>
          <p:nvPr/>
        </p:nvSpPr>
        <p:spPr>
          <a:xfrm>
            <a:off x="3299791" y="1378274"/>
            <a:ext cx="1483098" cy="338554"/>
          </a:xfrm>
          <a:prstGeom prst="rect">
            <a:avLst/>
          </a:prstGeom>
          <a:noFill/>
        </p:spPr>
        <p:txBody>
          <a:bodyPr wrap="none" rtlCol="0">
            <a:spAutoFit/>
          </a:bodyPr>
          <a:lstStyle/>
          <a:p>
            <a:r>
              <a:rPr lang="en-CN" sz="1600" dirty="0">
                <a:latin typeface="Times New Roman" panose="02020603050405020304" pitchFamily="18" charset="0"/>
                <a:cs typeface="Times New Roman" panose="02020603050405020304" pitchFamily="18" charset="0"/>
              </a:rPr>
              <a:t>Traditional LM</a:t>
            </a:r>
          </a:p>
        </p:txBody>
      </p:sp>
      <p:sp>
        <p:nvSpPr>
          <p:cNvPr id="7" name="TextBox 6">
            <a:extLst>
              <a:ext uri="{FF2B5EF4-FFF2-40B4-BE49-F238E27FC236}">
                <a16:creationId xmlns:a16="http://schemas.microsoft.com/office/drawing/2014/main" id="{F7192DB8-19B5-6CE5-2EE1-774F065F97D4}"/>
              </a:ext>
            </a:extLst>
          </p:cNvPr>
          <p:cNvSpPr txBox="1"/>
          <p:nvPr/>
        </p:nvSpPr>
        <p:spPr>
          <a:xfrm>
            <a:off x="7599369" y="1391527"/>
            <a:ext cx="1141659" cy="338554"/>
          </a:xfrm>
          <a:prstGeom prst="rect">
            <a:avLst/>
          </a:prstGeom>
          <a:noFill/>
        </p:spPr>
        <p:txBody>
          <a:bodyPr wrap="none" rtlCol="0">
            <a:spAutoFit/>
          </a:bodyPr>
          <a:lstStyle/>
          <a:p>
            <a:r>
              <a:rPr lang="en-CN" sz="1600" dirty="0">
                <a:latin typeface="Times New Roman" panose="02020603050405020304" pitchFamily="18" charset="0"/>
                <a:cs typeface="Times New Roman" panose="02020603050405020304" pitchFamily="18" charset="0"/>
              </a:rPr>
              <a:t>LM + RAG</a:t>
            </a:r>
          </a:p>
        </p:txBody>
      </p:sp>
    </p:spTree>
    <p:extLst>
      <p:ext uri="{BB962C8B-B14F-4D97-AF65-F5344CB8AC3E}">
        <p14:creationId xmlns:p14="http://schemas.microsoft.com/office/powerpoint/2010/main" val="1993687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89">
          <a:extLst>
            <a:ext uri="{FF2B5EF4-FFF2-40B4-BE49-F238E27FC236}">
              <a16:creationId xmlns:a16="http://schemas.microsoft.com/office/drawing/2014/main" id="{6A353ED4-4726-CA2F-6485-35FC748485A5}"/>
            </a:ext>
          </a:extLst>
        </p:cNvPr>
        <p:cNvGrpSpPr/>
        <p:nvPr/>
      </p:nvGrpSpPr>
      <p:grpSpPr>
        <a:xfrm>
          <a:off x="0" y="0"/>
          <a:ext cx="0" cy="0"/>
          <a:chOff x="0" y="0"/>
          <a:chExt cx="0" cy="0"/>
        </a:xfrm>
      </p:grpSpPr>
      <p:sp>
        <p:nvSpPr>
          <p:cNvPr id="590" name="Google Shape;590;g330b2db8419_2_73">
            <a:extLst>
              <a:ext uri="{FF2B5EF4-FFF2-40B4-BE49-F238E27FC236}">
                <a16:creationId xmlns:a16="http://schemas.microsoft.com/office/drawing/2014/main" id="{AA4A58F7-F257-0C95-E324-AE9A22AA8945}"/>
              </a:ext>
            </a:extLst>
          </p:cNvPr>
          <p:cNvSpPr txBox="1"/>
          <p:nvPr/>
        </p:nvSpPr>
        <p:spPr>
          <a:xfrm>
            <a:off x="231270" y="1178977"/>
            <a:ext cx="11327100" cy="5028315"/>
          </a:xfrm>
          <a:prstGeom prst="rect">
            <a:avLst/>
          </a:prstGeom>
          <a:noFill/>
          <a:ln>
            <a:noFill/>
          </a:ln>
        </p:spPr>
        <p:txBody>
          <a:bodyPr spcFirstLastPara="1" wrap="square" lIns="91425" tIns="45700" rIns="91425" bIns="45700" anchor="t" anchorCtr="0">
            <a:noAutofit/>
          </a:bodyPr>
          <a:lstStyle/>
          <a:p>
            <a:pPr marL="285750" indent="-285750">
              <a:lnSpc>
                <a:spcPct val="114999"/>
              </a:lnSpc>
              <a:spcBef>
                <a:spcPts val="600"/>
              </a:spcBef>
              <a:spcAft>
                <a:spcPts val="600"/>
              </a:spcAft>
              <a:buChar char="•"/>
            </a:pPr>
            <a:r>
              <a:rPr lang="en-US" sz="2400" b="1" dirty="0">
                <a:solidFill>
                  <a:schemeClr val="dk1"/>
                </a:solidFill>
                <a:latin typeface="Times New Roman"/>
                <a:ea typeface="Roboto"/>
                <a:sym typeface="Roboto"/>
              </a:rPr>
              <a:t>Language models store a surprising amount of world knowledge</a:t>
            </a:r>
            <a:endParaRPr lang="en-US" b="1" dirty="0">
              <a:solidFill>
                <a:schemeClr val="dk1"/>
              </a:solidFill>
            </a:endParaRPr>
          </a:p>
          <a:p>
            <a:pPr marL="742950" lvl="1" indent="-285750">
              <a:lnSpc>
                <a:spcPct val="114999"/>
              </a:lnSpc>
              <a:spcBef>
                <a:spcPts val="600"/>
              </a:spcBef>
              <a:spcAft>
                <a:spcPts val="600"/>
              </a:spcAft>
              <a:buFont typeface="Courier New"/>
              <a:buChar char="o"/>
            </a:pPr>
            <a:r>
              <a:rPr lang="en-US" sz="2400" dirty="0">
                <a:solidFill>
                  <a:schemeClr val="dk1"/>
                </a:solidFill>
                <a:latin typeface="Times New Roman"/>
                <a:ea typeface="Roboto"/>
              </a:rPr>
              <a:t>BERT implicitly learned: “The _____ is the currency of the United Kingdom.” (answer: “pound”)</a:t>
            </a:r>
          </a:p>
          <a:p>
            <a:pPr marL="285750" indent="-285750">
              <a:lnSpc>
                <a:spcPct val="114999"/>
              </a:lnSpc>
              <a:spcBef>
                <a:spcPts val="600"/>
              </a:spcBef>
              <a:spcAft>
                <a:spcPts val="600"/>
              </a:spcAft>
              <a:buFont typeface="Arial"/>
              <a:buChar char="•"/>
            </a:pPr>
            <a:r>
              <a:rPr lang="en-US" sz="2400" b="1" dirty="0">
                <a:solidFill>
                  <a:schemeClr val="dk1"/>
                </a:solidFill>
                <a:latin typeface="Times New Roman"/>
                <a:ea typeface="Roboto"/>
              </a:rPr>
              <a:t>Difficult to capture those knowledge</a:t>
            </a:r>
          </a:p>
          <a:p>
            <a:pPr marL="742950" lvl="1" indent="-285750">
              <a:lnSpc>
                <a:spcPct val="114999"/>
              </a:lnSpc>
              <a:spcBef>
                <a:spcPts val="600"/>
              </a:spcBef>
              <a:spcAft>
                <a:spcPts val="600"/>
              </a:spcAft>
              <a:buFont typeface="Courier New"/>
              <a:buChar char="o"/>
            </a:pPr>
            <a:r>
              <a:rPr lang="en-US" sz="2400" dirty="0">
                <a:solidFill>
                  <a:schemeClr val="dk1"/>
                </a:solidFill>
                <a:latin typeface="Times New Roman"/>
                <a:ea typeface="Roboto"/>
              </a:rPr>
              <a:t>The learned world knowledge is stored implicitly in the parameters of the underlying neural network. </a:t>
            </a:r>
          </a:p>
          <a:p>
            <a:pPr marL="742950" lvl="1" indent="-285750">
              <a:lnSpc>
                <a:spcPct val="114999"/>
              </a:lnSpc>
              <a:spcBef>
                <a:spcPts val="600"/>
              </a:spcBef>
              <a:spcAft>
                <a:spcPts val="600"/>
              </a:spcAft>
              <a:buFont typeface="Courier New"/>
              <a:buChar char="o"/>
            </a:pPr>
            <a:r>
              <a:rPr lang="en-US" sz="2400" dirty="0">
                <a:solidFill>
                  <a:schemeClr val="dk1"/>
                </a:solidFill>
                <a:latin typeface="Times New Roman"/>
                <a:ea typeface="Roboto"/>
              </a:rPr>
              <a:t>Storage space is limited by the size of the network</a:t>
            </a:r>
          </a:p>
          <a:p>
            <a:pPr marL="742950" lvl="1" indent="-285750">
              <a:lnSpc>
                <a:spcPct val="114999"/>
              </a:lnSpc>
              <a:spcBef>
                <a:spcPts val="600"/>
              </a:spcBef>
              <a:spcAft>
                <a:spcPts val="600"/>
              </a:spcAft>
              <a:buFont typeface="Courier New"/>
              <a:buChar char="o"/>
            </a:pPr>
            <a:r>
              <a:rPr lang="en-US" sz="2400" dirty="0">
                <a:solidFill>
                  <a:schemeClr val="dk1"/>
                </a:solidFill>
                <a:latin typeface="Times New Roman"/>
                <a:ea typeface="Roboto"/>
              </a:rPr>
              <a:t>Updating knowledge requires retraining the entire model</a:t>
            </a:r>
          </a:p>
          <a:p>
            <a:pPr marL="742950" lvl="1" indent="-285750">
              <a:lnSpc>
                <a:spcPct val="114999"/>
              </a:lnSpc>
              <a:spcBef>
                <a:spcPts val="600"/>
              </a:spcBef>
              <a:spcAft>
                <a:spcPts val="600"/>
              </a:spcAft>
              <a:buFont typeface="Courier New"/>
              <a:buChar char="o"/>
            </a:pPr>
            <a:endParaRPr lang="en-US" sz="2400" dirty="0">
              <a:solidFill>
                <a:schemeClr val="dk1"/>
              </a:solidFill>
              <a:latin typeface="Times New Roman"/>
              <a:ea typeface="Roboto"/>
            </a:endParaRPr>
          </a:p>
          <a:p>
            <a:pPr marL="742950" lvl="1" indent="-285750">
              <a:lnSpc>
                <a:spcPct val="114999"/>
              </a:lnSpc>
              <a:spcBef>
                <a:spcPts val="600"/>
              </a:spcBef>
              <a:spcAft>
                <a:spcPts val="600"/>
              </a:spcAft>
              <a:buFont typeface="Courier New"/>
              <a:buChar char="o"/>
            </a:pPr>
            <a:endParaRPr lang="en-US" sz="2400" dirty="0">
              <a:solidFill>
                <a:schemeClr val="dk1"/>
              </a:solidFill>
              <a:ea typeface="Roboto"/>
            </a:endParaRPr>
          </a:p>
        </p:txBody>
      </p:sp>
      <p:sp>
        <p:nvSpPr>
          <p:cNvPr id="591" name="Google Shape;591;g330b2db8419_2_73">
            <a:extLst>
              <a:ext uri="{FF2B5EF4-FFF2-40B4-BE49-F238E27FC236}">
                <a16:creationId xmlns:a16="http://schemas.microsoft.com/office/drawing/2014/main" id="{839CA0BA-13B6-B8C4-758E-17D034D9CB0F}"/>
              </a:ext>
            </a:extLst>
          </p:cNvPr>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592" name="Google Shape;592;g330b2db8419_2_73">
            <a:extLst>
              <a:ext uri="{FF2B5EF4-FFF2-40B4-BE49-F238E27FC236}">
                <a16:creationId xmlns:a16="http://schemas.microsoft.com/office/drawing/2014/main" id="{6307EA69-6A75-B2EF-8D05-8F94F4B9EDDE}"/>
              </a:ext>
            </a:extLst>
          </p:cNvPr>
          <p:cNvSpPr txBox="1"/>
          <p:nvPr/>
        </p:nvSpPr>
        <p:spPr>
          <a:xfrm>
            <a:off x="114162" y="145685"/>
            <a:ext cx="10910100" cy="584735"/>
          </a:xfrm>
          <a:prstGeom prst="rect">
            <a:avLst/>
          </a:prstGeom>
          <a:noFill/>
          <a:ln>
            <a:noFill/>
          </a:ln>
        </p:spPr>
        <p:txBody>
          <a:bodyPr spcFirstLastPara="1" wrap="square" lIns="91425" tIns="45700" rIns="91425" bIns="45700" anchor="t" anchorCtr="0">
            <a:spAutoFit/>
          </a:bodyPr>
          <a:lstStyle/>
          <a:p>
            <a:pPr marL="0" marR="0" lvl="0" indent="0" algn="l">
              <a:lnSpc>
                <a:spcPct val="100000"/>
              </a:lnSpc>
              <a:spcBef>
                <a:spcPts val="0"/>
              </a:spcBef>
              <a:spcAft>
                <a:spcPts val="0"/>
              </a:spcAft>
              <a:buNone/>
            </a:pPr>
            <a:r>
              <a:rPr lang="en-US" sz="3200" dirty="0">
                <a:solidFill>
                  <a:schemeClr val="lt1"/>
                </a:solidFill>
                <a:latin typeface="Times New Roman"/>
                <a:cs typeface="Times New Roman"/>
              </a:rPr>
              <a:t>Motivation</a:t>
            </a:r>
            <a:endParaRPr lang="en-US" dirty="0"/>
          </a:p>
        </p:txBody>
      </p:sp>
      <p:pic>
        <p:nvPicPr>
          <p:cNvPr id="593" name="Google Shape;593;g330b2db8419_2_73">
            <a:extLst>
              <a:ext uri="{FF2B5EF4-FFF2-40B4-BE49-F238E27FC236}">
                <a16:creationId xmlns:a16="http://schemas.microsoft.com/office/drawing/2014/main" id="{B12B5335-0F5E-5DC5-CD8E-654869601A25}"/>
              </a:ext>
            </a:extLst>
          </p:cNvPr>
          <p:cNvPicPr preferRelativeResize="0"/>
          <p:nvPr/>
        </p:nvPicPr>
        <p:blipFill rotWithShape="1">
          <a:blip r:embed="rId3">
            <a:alphaModFix/>
          </a:blip>
          <a:srcRect/>
          <a:stretch/>
        </p:blipFill>
        <p:spPr>
          <a:xfrm>
            <a:off x="11557509" y="233819"/>
            <a:ext cx="271309" cy="389810"/>
          </a:xfrm>
          <a:prstGeom prst="rect">
            <a:avLst/>
          </a:prstGeom>
          <a:noFill/>
          <a:ln>
            <a:noFill/>
          </a:ln>
        </p:spPr>
      </p:pic>
      <p:sp>
        <p:nvSpPr>
          <p:cNvPr id="594" name="Google Shape;594;g330b2db8419_2_73">
            <a:extLst>
              <a:ext uri="{FF2B5EF4-FFF2-40B4-BE49-F238E27FC236}">
                <a16:creationId xmlns:a16="http://schemas.microsoft.com/office/drawing/2014/main" id="{387332D4-5211-DE31-D0EF-EBA24C168D31}"/>
              </a:ext>
            </a:extLst>
          </p:cNvPr>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595" name="Google Shape;595;g330b2db8419_2_73">
            <a:extLst>
              <a:ext uri="{FF2B5EF4-FFF2-40B4-BE49-F238E27FC236}">
                <a16:creationId xmlns:a16="http://schemas.microsoft.com/office/drawing/2014/main" id="{E8A6B1C5-8DDC-163B-6830-284B1203F4D7}"/>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596" name="Google Shape;596;g330b2db8419_2_73">
            <a:extLst>
              <a:ext uri="{FF2B5EF4-FFF2-40B4-BE49-F238E27FC236}">
                <a16:creationId xmlns:a16="http://schemas.microsoft.com/office/drawing/2014/main" id="{EACFBDF9-BAB7-2852-713B-A50513DA094F}"/>
              </a:ext>
            </a:extLst>
          </p:cNvPr>
          <p:cNvGrpSpPr/>
          <p:nvPr/>
        </p:nvGrpSpPr>
        <p:grpSpPr>
          <a:xfrm>
            <a:off x="2622925" y="6601537"/>
            <a:ext cx="6677215" cy="70500"/>
            <a:chOff x="2589675" y="6601537"/>
            <a:chExt cx="6677215" cy="70500"/>
          </a:xfrm>
        </p:grpSpPr>
        <p:cxnSp>
          <p:nvCxnSpPr>
            <p:cNvPr id="597" name="Google Shape;597;g330b2db8419_2_73">
              <a:extLst>
                <a:ext uri="{FF2B5EF4-FFF2-40B4-BE49-F238E27FC236}">
                  <a16:creationId xmlns:a16="http://schemas.microsoft.com/office/drawing/2014/main" id="{7A160BEE-5E82-4B42-0863-E18B7964BBBF}"/>
                </a:ext>
              </a:extLst>
            </p:cNvPr>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598" name="Google Shape;598;g330b2db8419_2_73">
              <a:extLst>
                <a:ext uri="{FF2B5EF4-FFF2-40B4-BE49-F238E27FC236}">
                  <a16:creationId xmlns:a16="http://schemas.microsoft.com/office/drawing/2014/main" id="{3213E489-D9DD-B3D4-F56C-345750FBDDD6}"/>
                </a:ext>
              </a:extLst>
            </p:cNvPr>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599" name="Google Shape;599;g330b2db8419_2_73">
            <a:extLst>
              <a:ext uri="{FF2B5EF4-FFF2-40B4-BE49-F238E27FC236}">
                <a16:creationId xmlns:a16="http://schemas.microsoft.com/office/drawing/2014/main" id="{8193D3AE-1CA1-0428-16FD-B0A8359C0BBC}"/>
              </a:ext>
            </a:extLst>
          </p:cNvPr>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extLst>
      <p:ext uri="{BB962C8B-B14F-4D97-AF65-F5344CB8AC3E}">
        <p14:creationId xmlns:p14="http://schemas.microsoft.com/office/powerpoint/2010/main" val="23549510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89">
          <a:extLst>
            <a:ext uri="{FF2B5EF4-FFF2-40B4-BE49-F238E27FC236}">
              <a16:creationId xmlns:a16="http://schemas.microsoft.com/office/drawing/2014/main" id="{802F7135-A1E8-10C5-499E-0C29E5AF49F4}"/>
            </a:ext>
          </a:extLst>
        </p:cNvPr>
        <p:cNvGrpSpPr/>
        <p:nvPr/>
      </p:nvGrpSpPr>
      <p:grpSpPr>
        <a:xfrm>
          <a:off x="0" y="0"/>
          <a:ext cx="0" cy="0"/>
          <a:chOff x="0" y="0"/>
          <a:chExt cx="0" cy="0"/>
        </a:xfrm>
      </p:grpSpPr>
      <p:sp>
        <p:nvSpPr>
          <p:cNvPr id="590" name="Google Shape;590;g330b2db8419_2_73">
            <a:extLst>
              <a:ext uri="{FF2B5EF4-FFF2-40B4-BE49-F238E27FC236}">
                <a16:creationId xmlns:a16="http://schemas.microsoft.com/office/drawing/2014/main" id="{E346138C-55BA-B572-2466-7424E6AEF744}"/>
              </a:ext>
            </a:extLst>
          </p:cNvPr>
          <p:cNvSpPr txBox="1"/>
          <p:nvPr/>
        </p:nvSpPr>
        <p:spPr>
          <a:xfrm>
            <a:off x="231270" y="1178977"/>
            <a:ext cx="11327100" cy="5028315"/>
          </a:xfrm>
          <a:prstGeom prst="rect">
            <a:avLst/>
          </a:prstGeom>
          <a:noFill/>
          <a:ln>
            <a:noFill/>
          </a:ln>
        </p:spPr>
        <p:txBody>
          <a:bodyPr spcFirstLastPara="1" wrap="square" lIns="91425" tIns="45700" rIns="91425" bIns="45700" anchor="t" anchorCtr="0">
            <a:noAutofit/>
          </a:bodyPr>
          <a:lstStyle/>
          <a:p>
            <a:pPr marL="285750" indent="-285750">
              <a:lnSpc>
                <a:spcPct val="114999"/>
              </a:lnSpc>
              <a:spcBef>
                <a:spcPts val="600"/>
              </a:spcBef>
              <a:spcAft>
                <a:spcPts val="600"/>
              </a:spcAft>
              <a:buChar char="•"/>
            </a:pPr>
            <a:r>
              <a:rPr lang="en-US" sz="2400" dirty="0">
                <a:solidFill>
                  <a:schemeClr val="dk1"/>
                </a:solidFill>
                <a:latin typeface="Times New Roman"/>
                <a:ea typeface="Roboto"/>
              </a:rPr>
              <a:t>BERT + </a:t>
            </a:r>
            <a:r>
              <a:rPr lang="en-US" sz="2400" b="1" dirty="0">
                <a:solidFill>
                  <a:schemeClr val="dk1"/>
                </a:solidFill>
                <a:latin typeface="Times New Roman"/>
                <a:ea typeface="Roboto"/>
              </a:rPr>
              <a:t>knowledge retriever</a:t>
            </a:r>
            <a:r>
              <a:rPr lang="en-US" sz="2400" dirty="0">
                <a:solidFill>
                  <a:schemeClr val="dk1"/>
                </a:solidFill>
                <a:latin typeface="Times New Roman"/>
                <a:ea typeface="Roboto"/>
              </a:rPr>
              <a:t> = REALM</a:t>
            </a:r>
          </a:p>
          <a:p>
            <a:pPr marL="285750" indent="-285750">
              <a:lnSpc>
                <a:spcPct val="114999"/>
              </a:lnSpc>
              <a:spcBef>
                <a:spcPts val="600"/>
              </a:spcBef>
              <a:spcAft>
                <a:spcPts val="600"/>
              </a:spcAft>
              <a:buChar char="•"/>
            </a:pPr>
            <a:r>
              <a:rPr lang="en-US" sz="2400" dirty="0">
                <a:solidFill>
                  <a:schemeClr val="dk1"/>
                </a:solidFill>
                <a:latin typeface="Times New Roman"/>
                <a:ea typeface="Roboto"/>
              </a:rPr>
              <a:t>BERT:</a:t>
            </a:r>
          </a:p>
          <a:p>
            <a:pPr marL="742950" lvl="1" indent="-285750">
              <a:lnSpc>
                <a:spcPct val="114999"/>
              </a:lnSpc>
              <a:spcBef>
                <a:spcPts val="600"/>
              </a:spcBef>
              <a:spcAft>
                <a:spcPts val="600"/>
              </a:spcAft>
              <a:buFont typeface="Courier New,monospace"/>
              <a:buChar char="o"/>
            </a:pPr>
            <a:r>
              <a:rPr lang="en-US" sz="2100" dirty="0">
                <a:solidFill>
                  <a:schemeClr val="dk1"/>
                </a:solidFill>
                <a:latin typeface="Times New Roman"/>
                <a:ea typeface="Roboto"/>
                <a:cs typeface="Times New Roman"/>
              </a:rPr>
              <a:t>The [MASK] at the top of the pyramid</a:t>
            </a:r>
            <a:endParaRPr lang="en-US" sz="2100" dirty="0">
              <a:solidFill>
                <a:schemeClr val="dk1"/>
              </a:solidFill>
              <a:latin typeface="Times New Roman"/>
              <a:ea typeface="Roboto"/>
            </a:endParaRPr>
          </a:p>
          <a:p>
            <a:pPr marL="457200" lvl="1">
              <a:lnSpc>
                <a:spcPct val="114999"/>
              </a:lnSpc>
              <a:spcBef>
                <a:spcPts val="600"/>
              </a:spcBef>
              <a:spcAft>
                <a:spcPts val="600"/>
              </a:spcAft>
            </a:pPr>
            <a:r>
              <a:rPr lang="en-US" sz="2100" dirty="0">
                <a:solidFill>
                  <a:schemeClr val="dk1"/>
                </a:solidFill>
                <a:latin typeface="Times New Roman"/>
                <a:ea typeface="Roboto"/>
                <a:cs typeface="Times New Roman"/>
              </a:rPr>
              <a:t>=&gt; [MASK] = ?</a:t>
            </a:r>
            <a:endParaRPr lang="en-US" sz="2100" dirty="0">
              <a:solidFill>
                <a:schemeClr val="dk1"/>
              </a:solidFill>
              <a:latin typeface="Times New Roman"/>
            </a:endParaRPr>
          </a:p>
          <a:p>
            <a:pPr marL="285750" indent="-285750">
              <a:lnSpc>
                <a:spcPct val="114999"/>
              </a:lnSpc>
              <a:spcBef>
                <a:spcPts val="600"/>
              </a:spcBef>
              <a:spcAft>
                <a:spcPts val="600"/>
              </a:spcAft>
              <a:buFont typeface="Arial"/>
              <a:buChar char="•"/>
            </a:pPr>
            <a:r>
              <a:rPr lang="en-US" sz="2400" dirty="0">
                <a:solidFill>
                  <a:schemeClr val="dk1"/>
                </a:solidFill>
                <a:latin typeface="Times New Roman"/>
                <a:ea typeface="Roboto"/>
              </a:rPr>
              <a:t>REALM</a:t>
            </a:r>
          </a:p>
          <a:p>
            <a:pPr marL="742950" lvl="1" indent="-285750">
              <a:lnSpc>
                <a:spcPct val="114999"/>
              </a:lnSpc>
              <a:spcBef>
                <a:spcPts val="600"/>
              </a:spcBef>
              <a:spcAft>
                <a:spcPts val="600"/>
              </a:spcAft>
              <a:buFont typeface="Courier New,monospace"/>
              <a:buChar char="o"/>
            </a:pPr>
            <a:r>
              <a:rPr lang="en-US" sz="2100" dirty="0">
                <a:solidFill>
                  <a:schemeClr val="dk1"/>
                </a:solidFill>
                <a:latin typeface="Times New Roman"/>
                <a:ea typeface="Roboto"/>
                <a:cs typeface="Times New Roman"/>
              </a:rPr>
              <a:t>The [MASK] at the top of the pyramid </a:t>
            </a:r>
          </a:p>
          <a:p>
            <a:pPr marL="742950" lvl="1" indent="-285750">
              <a:lnSpc>
                <a:spcPct val="114999"/>
              </a:lnSpc>
              <a:spcBef>
                <a:spcPts val="600"/>
              </a:spcBef>
              <a:spcAft>
                <a:spcPts val="600"/>
              </a:spcAft>
              <a:buFont typeface="Courier New,monospace"/>
              <a:buChar char="o"/>
            </a:pPr>
            <a:r>
              <a:rPr lang="en-US" sz="2100" b="1" dirty="0">
                <a:solidFill>
                  <a:schemeClr val="dk1"/>
                </a:solidFill>
                <a:latin typeface="Times New Roman"/>
                <a:ea typeface="Roboto"/>
                <a:cs typeface="Times New Roman"/>
              </a:rPr>
              <a:t>Document: </a:t>
            </a:r>
            <a:r>
              <a:rPr lang="en-US" sz="2100" dirty="0">
                <a:solidFill>
                  <a:schemeClr val="dk1"/>
                </a:solidFill>
                <a:latin typeface="Times New Roman"/>
                <a:ea typeface="Roboto"/>
                <a:cs typeface="Times New Roman"/>
              </a:rPr>
              <a:t>The pyramidion on top …</a:t>
            </a:r>
            <a:endParaRPr lang="en-US" dirty="0">
              <a:solidFill>
                <a:schemeClr val="dk1"/>
              </a:solidFill>
              <a:ea typeface="Roboto"/>
            </a:endParaRPr>
          </a:p>
          <a:p>
            <a:pPr marL="457200" lvl="1">
              <a:lnSpc>
                <a:spcPct val="114999"/>
              </a:lnSpc>
              <a:spcBef>
                <a:spcPts val="600"/>
              </a:spcBef>
              <a:spcAft>
                <a:spcPts val="600"/>
              </a:spcAft>
            </a:pPr>
            <a:r>
              <a:rPr lang="en-US" sz="2100" dirty="0">
                <a:solidFill>
                  <a:schemeClr val="dk1"/>
                </a:solidFill>
                <a:latin typeface="Times New Roman"/>
                <a:ea typeface="Roboto"/>
                <a:cs typeface="Times New Roman"/>
              </a:rPr>
              <a:t>=&gt; [MASK] = pyramidion</a:t>
            </a:r>
            <a:endParaRPr lang="en-US" sz="2100" dirty="0">
              <a:solidFill>
                <a:schemeClr val="dk1"/>
              </a:solidFill>
              <a:latin typeface="Times New Roman"/>
              <a:ea typeface="Roboto"/>
            </a:endParaRPr>
          </a:p>
          <a:p>
            <a:pPr marL="457200" lvl="1">
              <a:lnSpc>
                <a:spcPct val="114999"/>
              </a:lnSpc>
              <a:spcBef>
                <a:spcPts val="600"/>
              </a:spcBef>
              <a:spcAft>
                <a:spcPts val="600"/>
              </a:spcAft>
            </a:pPr>
            <a:endParaRPr lang="en-US" sz="2100" dirty="0">
              <a:solidFill>
                <a:schemeClr val="dk1"/>
              </a:solidFill>
              <a:latin typeface="Times New Roman"/>
              <a:ea typeface="Roboto"/>
            </a:endParaRPr>
          </a:p>
          <a:p>
            <a:pPr marL="742950" lvl="1" indent="-285750">
              <a:lnSpc>
                <a:spcPct val="114999"/>
              </a:lnSpc>
              <a:spcBef>
                <a:spcPts val="600"/>
              </a:spcBef>
              <a:spcAft>
                <a:spcPts val="600"/>
              </a:spcAft>
              <a:buFont typeface="Courier New"/>
              <a:buChar char="o"/>
            </a:pPr>
            <a:endParaRPr lang="en-US" sz="2400" dirty="0">
              <a:solidFill>
                <a:schemeClr val="dk1"/>
              </a:solidFill>
              <a:latin typeface="Times New Roman"/>
              <a:ea typeface="Roboto"/>
            </a:endParaRPr>
          </a:p>
        </p:txBody>
      </p:sp>
      <p:sp>
        <p:nvSpPr>
          <p:cNvPr id="591" name="Google Shape;591;g330b2db8419_2_73">
            <a:extLst>
              <a:ext uri="{FF2B5EF4-FFF2-40B4-BE49-F238E27FC236}">
                <a16:creationId xmlns:a16="http://schemas.microsoft.com/office/drawing/2014/main" id="{17261093-ADF3-C566-0465-4718DE71A86D}"/>
              </a:ext>
            </a:extLst>
          </p:cNvPr>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592" name="Google Shape;592;g330b2db8419_2_73">
            <a:extLst>
              <a:ext uri="{FF2B5EF4-FFF2-40B4-BE49-F238E27FC236}">
                <a16:creationId xmlns:a16="http://schemas.microsoft.com/office/drawing/2014/main" id="{C4AF49DC-124E-5DB2-B8C2-9F1297991384}"/>
              </a:ext>
            </a:extLst>
          </p:cNvPr>
          <p:cNvSpPr txBox="1"/>
          <p:nvPr/>
        </p:nvSpPr>
        <p:spPr>
          <a:xfrm>
            <a:off x="114162" y="145685"/>
            <a:ext cx="10910100" cy="584735"/>
          </a:xfrm>
          <a:prstGeom prst="rect">
            <a:avLst/>
          </a:prstGeom>
          <a:noFill/>
          <a:ln>
            <a:noFill/>
          </a:ln>
        </p:spPr>
        <p:txBody>
          <a:bodyPr spcFirstLastPara="1" wrap="square" lIns="91425" tIns="45700" rIns="91425" bIns="45700" anchor="t" anchorCtr="0">
            <a:spAutoFit/>
          </a:bodyPr>
          <a:lstStyle/>
          <a:p>
            <a:r>
              <a:rPr lang="en-US" sz="3200" dirty="0">
                <a:solidFill>
                  <a:schemeClr val="lt1"/>
                </a:solidFill>
                <a:latin typeface="Times New Roman"/>
                <a:cs typeface="Times New Roman"/>
              </a:rPr>
              <a:t>High-level</a:t>
            </a:r>
          </a:p>
        </p:txBody>
      </p:sp>
      <p:pic>
        <p:nvPicPr>
          <p:cNvPr id="593" name="Google Shape;593;g330b2db8419_2_73">
            <a:extLst>
              <a:ext uri="{FF2B5EF4-FFF2-40B4-BE49-F238E27FC236}">
                <a16:creationId xmlns:a16="http://schemas.microsoft.com/office/drawing/2014/main" id="{3B46D703-6085-AC07-7F9A-8C0FA029F785}"/>
              </a:ext>
            </a:extLst>
          </p:cNvPr>
          <p:cNvPicPr preferRelativeResize="0"/>
          <p:nvPr/>
        </p:nvPicPr>
        <p:blipFill rotWithShape="1">
          <a:blip r:embed="rId3">
            <a:alphaModFix/>
          </a:blip>
          <a:srcRect/>
          <a:stretch/>
        </p:blipFill>
        <p:spPr>
          <a:xfrm>
            <a:off x="11557509" y="233819"/>
            <a:ext cx="271309" cy="389810"/>
          </a:xfrm>
          <a:prstGeom prst="rect">
            <a:avLst/>
          </a:prstGeom>
          <a:noFill/>
          <a:ln>
            <a:noFill/>
          </a:ln>
        </p:spPr>
      </p:pic>
      <p:sp>
        <p:nvSpPr>
          <p:cNvPr id="594" name="Google Shape;594;g330b2db8419_2_73">
            <a:extLst>
              <a:ext uri="{FF2B5EF4-FFF2-40B4-BE49-F238E27FC236}">
                <a16:creationId xmlns:a16="http://schemas.microsoft.com/office/drawing/2014/main" id="{693F07C2-BCFF-BBAA-57DB-3B2ACBB80462}"/>
              </a:ext>
            </a:extLst>
          </p:cNvPr>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595" name="Google Shape;595;g330b2db8419_2_73">
            <a:extLst>
              <a:ext uri="{FF2B5EF4-FFF2-40B4-BE49-F238E27FC236}">
                <a16:creationId xmlns:a16="http://schemas.microsoft.com/office/drawing/2014/main" id="{99BBD39C-6C79-0819-E934-EE3B238988E5}"/>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596" name="Google Shape;596;g330b2db8419_2_73">
            <a:extLst>
              <a:ext uri="{FF2B5EF4-FFF2-40B4-BE49-F238E27FC236}">
                <a16:creationId xmlns:a16="http://schemas.microsoft.com/office/drawing/2014/main" id="{5727A5EB-7872-7F74-468B-41056D6804DD}"/>
              </a:ext>
            </a:extLst>
          </p:cNvPr>
          <p:cNvGrpSpPr/>
          <p:nvPr/>
        </p:nvGrpSpPr>
        <p:grpSpPr>
          <a:xfrm>
            <a:off x="2622925" y="6601537"/>
            <a:ext cx="6677215" cy="70500"/>
            <a:chOff x="2589675" y="6601537"/>
            <a:chExt cx="6677215" cy="70500"/>
          </a:xfrm>
        </p:grpSpPr>
        <p:cxnSp>
          <p:nvCxnSpPr>
            <p:cNvPr id="597" name="Google Shape;597;g330b2db8419_2_73">
              <a:extLst>
                <a:ext uri="{FF2B5EF4-FFF2-40B4-BE49-F238E27FC236}">
                  <a16:creationId xmlns:a16="http://schemas.microsoft.com/office/drawing/2014/main" id="{50B8B473-027E-C628-E2AC-5D61415C709D}"/>
                </a:ext>
              </a:extLst>
            </p:cNvPr>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598" name="Google Shape;598;g330b2db8419_2_73">
              <a:extLst>
                <a:ext uri="{FF2B5EF4-FFF2-40B4-BE49-F238E27FC236}">
                  <a16:creationId xmlns:a16="http://schemas.microsoft.com/office/drawing/2014/main" id="{F8C32643-BE7E-6728-12EB-4E9698FD009E}"/>
                </a:ext>
              </a:extLst>
            </p:cNvPr>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599" name="Google Shape;599;g330b2db8419_2_73">
            <a:extLst>
              <a:ext uri="{FF2B5EF4-FFF2-40B4-BE49-F238E27FC236}">
                <a16:creationId xmlns:a16="http://schemas.microsoft.com/office/drawing/2014/main" id="{24560D7F-67FE-C903-8447-1C1F417E14F9}"/>
              </a:ext>
            </a:extLst>
          </p:cNvPr>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pic>
        <p:nvPicPr>
          <p:cNvPr id="3" name="Google Shape;134;p15" descr="A diagram of a pyramid&#10;&#10;AI-generated content may be incorrect.">
            <a:extLst>
              <a:ext uri="{FF2B5EF4-FFF2-40B4-BE49-F238E27FC236}">
                <a16:creationId xmlns:a16="http://schemas.microsoft.com/office/drawing/2014/main" id="{C59F22F5-4DA3-54AA-C0B9-BC06986940F3}"/>
              </a:ext>
            </a:extLst>
          </p:cNvPr>
          <p:cNvPicPr preferRelativeResize="0"/>
          <p:nvPr/>
        </p:nvPicPr>
        <p:blipFill rotWithShape="1">
          <a:blip r:embed="rId4">
            <a:alphaModFix/>
          </a:blip>
          <a:srcRect/>
          <a:stretch/>
        </p:blipFill>
        <p:spPr>
          <a:xfrm>
            <a:off x="6041486" y="936597"/>
            <a:ext cx="5705069" cy="5439345"/>
          </a:xfrm>
          <a:prstGeom prst="rect">
            <a:avLst/>
          </a:prstGeom>
          <a:noFill/>
          <a:ln>
            <a:noFill/>
          </a:ln>
        </p:spPr>
      </p:pic>
    </p:spTree>
    <p:extLst>
      <p:ext uri="{BB962C8B-B14F-4D97-AF65-F5344CB8AC3E}">
        <p14:creationId xmlns:p14="http://schemas.microsoft.com/office/powerpoint/2010/main" val="24369919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Shape 589">
          <a:extLst>
            <a:ext uri="{FF2B5EF4-FFF2-40B4-BE49-F238E27FC236}">
              <a16:creationId xmlns:a16="http://schemas.microsoft.com/office/drawing/2014/main" id="{C42A83CA-C22F-AB5E-4850-50A9B1D47C54}"/>
            </a:ext>
          </a:extLst>
        </p:cNvPr>
        <p:cNvGrpSpPr/>
        <p:nvPr/>
      </p:nvGrpSpPr>
      <p:grpSpPr>
        <a:xfrm>
          <a:off x="0" y="0"/>
          <a:ext cx="0" cy="0"/>
          <a:chOff x="0" y="0"/>
          <a:chExt cx="0" cy="0"/>
        </a:xfrm>
      </p:grpSpPr>
      <p:sp>
        <p:nvSpPr>
          <p:cNvPr id="591" name="Google Shape;591;g330b2db8419_2_73">
            <a:extLst>
              <a:ext uri="{FF2B5EF4-FFF2-40B4-BE49-F238E27FC236}">
                <a16:creationId xmlns:a16="http://schemas.microsoft.com/office/drawing/2014/main" id="{5C7E442C-A847-D812-6B73-FE2BDC32A408}"/>
              </a:ext>
            </a:extLst>
          </p:cNvPr>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592" name="Google Shape;592;g330b2db8419_2_73">
            <a:extLst>
              <a:ext uri="{FF2B5EF4-FFF2-40B4-BE49-F238E27FC236}">
                <a16:creationId xmlns:a16="http://schemas.microsoft.com/office/drawing/2014/main" id="{C9FBEC3F-B060-6890-9B8E-41EF0BFFE40D}"/>
              </a:ext>
            </a:extLst>
          </p:cNvPr>
          <p:cNvSpPr txBox="1"/>
          <p:nvPr/>
        </p:nvSpPr>
        <p:spPr>
          <a:xfrm>
            <a:off x="114162" y="145685"/>
            <a:ext cx="10910100" cy="584735"/>
          </a:xfrm>
          <a:prstGeom prst="rect">
            <a:avLst/>
          </a:prstGeom>
          <a:noFill/>
          <a:ln>
            <a:noFill/>
          </a:ln>
        </p:spPr>
        <p:txBody>
          <a:bodyPr spcFirstLastPara="1" wrap="square" lIns="91425" tIns="45700" rIns="91425" bIns="45700" anchor="t" anchorCtr="0">
            <a:spAutoFit/>
          </a:bodyPr>
          <a:lstStyle/>
          <a:p>
            <a:r>
              <a:rPr lang="en-US" sz="3200" dirty="0">
                <a:solidFill>
                  <a:schemeClr val="lt1"/>
                </a:solidFill>
                <a:latin typeface="Times New Roman"/>
                <a:cs typeface="Times New Roman"/>
              </a:rPr>
              <a:t>Compared with RAG</a:t>
            </a:r>
            <a:endParaRPr lang="en-US" dirty="0"/>
          </a:p>
        </p:txBody>
      </p:sp>
      <p:pic>
        <p:nvPicPr>
          <p:cNvPr id="593" name="Google Shape;593;g330b2db8419_2_73">
            <a:extLst>
              <a:ext uri="{FF2B5EF4-FFF2-40B4-BE49-F238E27FC236}">
                <a16:creationId xmlns:a16="http://schemas.microsoft.com/office/drawing/2014/main" id="{797CEEA7-FCA1-975D-5572-E7F058C79D97}"/>
              </a:ext>
            </a:extLst>
          </p:cNvPr>
          <p:cNvPicPr preferRelativeResize="0"/>
          <p:nvPr/>
        </p:nvPicPr>
        <p:blipFill rotWithShape="1">
          <a:blip r:embed="rId3">
            <a:alphaModFix/>
          </a:blip>
          <a:srcRect/>
          <a:stretch/>
        </p:blipFill>
        <p:spPr>
          <a:xfrm>
            <a:off x="11557509" y="233819"/>
            <a:ext cx="271309" cy="389810"/>
          </a:xfrm>
          <a:prstGeom prst="rect">
            <a:avLst/>
          </a:prstGeom>
          <a:noFill/>
          <a:ln>
            <a:noFill/>
          </a:ln>
        </p:spPr>
      </p:pic>
      <p:sp>
        <p:nvSpPr>
          <p:cNvPr id="594" name="Google Shape;594;g330b2db8419_2_73">
            <a:extLst>
              <a:ext uri="{FF2B5EF4-FFF2-40B4-BE49-F238E27FC236}">
                <a16:creationId xmlns:a16="http://schemas.microsoft.com/office/drawing/2014/main" id="{2B389ADC-66B0-E8B3-45DE-31D64C98F7FF}"/>
              </a:ext>
            </a:extLst>
          </p:cNvPr>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595" name="Google Shape;595;g330b2db8419_2_73">
            <a:extLst>
              <a:ext uri="{FF2B5EF4-FFF2-40B4-BE49-F238E27FC236}">
                <a16:creationId xmlns:a16="http://schemas.microsoft.com/office/drawing/2014/main" id="{F80EA902-5287-CCE9-69AE-437102A61DD2}"/>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596" name="Google Shape;596;g330b2db8419_2_73">
            <a:extLst>
              <a:ext uri="{FF2B5EF4-FFF2-40B4-BE49-F238E27FC236}">
                <a16:creationId xmlns:a16="http://schemas.microsoft.com/office/drawing/2014/main" id="{288FBEB3-AE77-4EED-5AC7-5E6B5F50B855}"/>
              </a:ext>
            </a:extLst>
          </p:cNvPr>
          <p:cNvGrpSpPr/>
          <p:nvPr/>
        </p:nvGrpSpPr>
        <p:grpSpPr>
          <a:xfrm>
            <a:off x="2622925" y="6601537"/>
            <a:ext cx="6677215" cy="70500"/>
            <a:chOff x="2589675" y="6601537"/>
            <a:chExt cx="6677215" cy="70500"/>
          </a:xfrm>
        </p:grpSpPr>
        <p:cxnSp>
          <p:nvCxnSpPr>
            <p:cNvPr id="597" name="Google Shape;597;g330b2db8419_2_73">
              <a:extLst>
                <a:ext uri="{FF2B5EF4-FFF2-40B4-BE49-F238E27FC236}">
                  <a16:creationId xmlns:a16="http://schemas.microsoft.com/office/drawing/2014/main" id="{FF285A91-552F-6450-90C4-960026F1ED33}"/>
                </a:ext>
              </a:extLst>
            </p:cNvPr>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598" name="Google Shape;598;g330b2db8419_2_73">
              <a:extLst>
                <a:ext uri="{FF2B5EF4-FFF2-40B4-BE49-F238E27FC236}">
                  <a16:creationId xmlns:a16="http://schemas.microsoft.com/office/drawing/2014/main" id="{5011EF7B-A1C1-F930-F69F-D67E8714E239}"/>
                </a:ext>
              </a:extLst>
            </p:cNvPr>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599" name="Google Shape;599;g330b2db8419_2_73">
            <a:extLst>
              <a:ext uri="{FF2B5EF4-FFF2-40B4-BE49-F238E27FC236}">
                <a16:creationId xmlns:a16="http://schemas.microsoft.com/office/drawing/2014/main" id="{16FB2D2A-83B3-2F92-C687-4B4BBDFD199E}"/>
              </a:ext>
            </a:extLst>
          </p:cNvPr>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pic>
        <p:nvPicPr>
          <p:cNvPr id="2" name="Picture 1" descr="A diagram of a diagram of a document&#10;&#10;AI-generated content may be incorrect.">
            <a:extLst>
              <a:ext uri="{FF2B5EF4-FFF2-40B4-BE49-F238E27FC236}">
                <a16:creationId xmlns:a16="http://schemas.microsoft.com/office/drawing/2014/main" id="{7036048E-3586-BCC9-6EB0-EA6EB9948197}"/>
              </a:ext>
            </a:extLst>
          </p:cNvPr>
          <p:cNvPicPr>
            <a:picLocks noChangeAspect="1"/>
          </p:cNvPicPr>
          <p:nvPr/>
        </p:nvPicPr>
        <p:blipFill>
          <a:blip r:embed="rId4"/>
          <a:stretch>
            <a:fillRect/>
          </a:stretch>
        </p:blipFill>
        <p:spPr>
          <a:xfrm>
            <a:off x="6482470" y="979347"/>
            <a:ext cx="5646002" cy="2959302"/>
          </a:xfrm>
          <a:prstGeom prst="rect">
            <a:avLst/>
          </a:prstGeom>
        </p:spPr>
      </p:pic>
      <p:sp>
        <p:nvSpPr>
          <p:cNvPr id="4" name="Google Shape;267;p23">
            <a:extLst>
              <a:ext uri="{FF2B5EF4-FFF2-40B4-BE49-F238E27FC236}">
                <a16:creationId xmlns:a16="http://schemas.microsoft.com/office/drawing/2014/main" id="{D1C83B56-22E1-9FE3-0390-7D96937281ED}"/>
              </a:ext>
            </a:extLst>
          </p:cNvPr>
          <p:cNvSpPr txBox="1"/>
          <p:nvPr/>
        </p:nvSpPr>
        <p:spPr>
          <a:xfrm>
            <a:off x="270900" y="1062025"/>
            <a:ext cx="11538300" cy="5539500"/>
          </a:xfrm>
          <a:prstGeom prst="rect">
            <a:avLst/>
          </a:prstGeom>
          <a:noFill/>
          <a:ln>
            <a:noFill/>
          </a:ln>
        </p:spPr>
        <p:txBody>
          <a:bodyPr spcFirstLastPara="1" wrap="square" lIns="91425" tIns="91425" rIns="91425" bIns="91425" anchor="t" anchorCtr="0">
            <a:noAutofit/>
          </a:bodyPr>
          <a:lstStyle/>
          <a:p>
            <a:pPr marL="0" lvl="0" indent="0" algn="l">
              <a:spcBef>
                <a:spcPts val="0"/>
              </a:spcBef>
              <a:spcAft>
                <a:spcPts val="0"/>
              </a:spcAft>
              <a:buNone/>
            </a:pPr>
            <a:r>
              <a:rPr lang="en-US" sz="2300" b="1" dirty="0">
                <a:solidFill>
                  <a:schemeClr val="dk1"/>
                </a:solidFill>
                <a:latin typeface="Times New Roman"/>
                <a:cs typeface="Times New Roman"/>
                <a:sym typeface="Times New Roman"/>
              </a:rPr>
              <a:t>Similarities</a:t>
            </a:r>
            <a:endParaRPr lang="en-US" dirty="0">
              <a:solidFill>
                <a:schemeClr val="dk1"/>
              </a:solidFill>
            </a:endParaRPr>
          </a:p>
          <a:p>
            <a:pPr marL="457200" indent="-330200">
              <a:lnSpc>
                <a:spcPct val="114999"/>
              </a:lnSpc>
              <a:spcBef>
                <a:spcPts val="1200"/>
              </a:spcBef>
              <a:buClr>
                <a:schemeClr val="dk1"/>
              </a:buClr>
              <a:buSzPts val="1600"/>
              <a:buFont typeface="Times New Roman"/>
              <a:buChar char="●"/>
            </a:pPr>
            <a:r>
              <a:rPr lang="en-US" sz="2300" dirty="0">
                <a:solidFill>
                  <a:schemeClr val="dk1"/>
                </a:solidFill>
                <a:latin typeface="Times New Roman"/>
                <a:ea typeface="Times New Roman"/>
                <a:cs typeface="Times New Roman"/>
              </a:rPr>
              <a:t>Separate encoders for input and documents.</a:t>
            </a:r>
          </a:p>
          <a:p>
            <a:pPr marL="457200" indent="-330200">
              <a:lnSpc>
                <a:spcPct val="114999"/>
              </a:lnSpc>
              <a:spcBef>
                <a:spcPts val="1200"/>
              </a:spcBef>
              <a:buSzPts val="1600"/>
              <a:buFont typeface="Times New Roman"/>
              <a:buChar char="●"/>
            </a:pPr>
            <a:r>
              <a:rPr lang="en-US" sz="2300" dirty="0">
                <a:solidFill>
                  <a:schemeClr val="dk1"/>
                </a:solidFill>
                <a:latin typeface="Times New Roman"/>
                <a:ea typeface="Times New Roman"/>
                <a:cs typeface="Times New Roman"/>
              </a:rPr>
              <a:t>Transparency on knowledge source.</a:t>
            </a:r>
            <a:endParaRPr lang="en-US" sz="2300" dirty="0">
              <a:solidFill>
                <a:schemeClr val="dk1"/>
              </a:solidFill>
              <a:latin typeface="Times New Roman"/>
              <a:ea typeface="Times New Roman"/>
              <a:cs typeface="Times New Roman"/>
              <a:sym typeface="Times New Roman"/>
            </a:endParaRPr>
          </a:p>
          <a:p>
            <a:pPr marL="457200" indent="-330200">
              <a:lnSpc>
                <a:spcPct val="114999"/>
              </a:lnSpc>
              <a:spcBef>
                <a:spcPts val="1200"/>
              </a:spcBef>
              <a:buSzPts val="1600"/>
              <a:buFont typeface="Times New Roman"/>
              <a:buChar char="●"/>
            </a:pPr>
            <a:r>
              <a:rPr lang="en-US" sz="2300" dirty="0">
                <a:solidFill>
                  <a:schemeClr val="dk1"/>
                </a:solidFill>
                <a:latin typeface="Times New Roman"/>
                <a:ea typeface="Times New Roman"/>
                <a:cs typeface="Times New Roman"/>
              </a:rPr>
              <a:t>Knowledge update without retraining.</a:t>
            </a:r>
            <a:endParaRPr lang="en-US" sz="2300" dirty="0">
              <a:solidFill>
                <a:schemeClr val="dk1"/>
              </a:solidFill>
              <a:latin typeface="Times New Roman"/>
              <a:ea typeface="Times New Roman"/>
              <a:cs typeface="Times New Roman"/>
              <a:sym typeface="Times New Roman"/>
            </a:endParaRPr>
          </a:p>
          <a:p>
            <a:pPr marL="457200" indent="-330200">
              <a:lnSpc>
                <a:spcPct val="114999"/>
              </a:lnSpc>
              <a:spcBef>
                <a:spcPts val="1200"/>
              </a:spcBef>
              <a:buSzPts val="1600"/>
              <a:buFont typeface="Times New Roman"/>
              <a:buChar char="●"/>
            </a:pPr>
            <a:endParaRPr lang="en-US" sz="2300" dirty="0">
              <a:solidFill>
                <a:schemeClr val="dk1"/>
              </a:solidFill>
              <a:latin typeface="Times New Roman"/>
              <a:ea typeface="Times New Roman"/>
              <a:cs typeface="Times New Roman"/>
              <a:sym typeface="Times New Roman"/>
            </a:endParaRPr>
          </a:p>
          <a:p>
            <a:pPr marL="0" marR="0" lvl="0" indent="0" algn="l">
              <a:lnSpc>
                <a:spcPct val="100000"/>
              </a:lnSpc>
              <a:spcBef>
                <a:spcPts val="0"/>
              </a:spcBef>
              <a:spcAft>
                <a:spcPts val="0"/>
              </a:spcAft>
              <a:buNone/>
            </a:pPr>
            <a:r>
              <a:rPr lang="en-US" sz="2300" b="1" dirty="0">
                <a:solidFill>
                  <a:schemeClr val="dk1"/>
                </a:solidFill>
                <a:latin typeface="Times New Roman"/>
                <a:cs typeface="Times New Roman"/>
                <a:sym typeface="Times New Roman"/>
              </a:rPr>
              <a:t>Differences</a:t>
            </a:r>
            <a:endParaRPr dirty="0">
              <a:solidFill>
                <a:schemeClr val="dk1"/>
              </a:solidFill>
            </a:endParaRPr>
          </a:p>
          <a:p>
            <a:pPr marL="457200" indent="-330200">
              <a:lnSpc>
                <a:spcPct val="114999"/>
              </a:lnSpc>
              <a:spcBef>
                <a:spcPts val="1200"/>
              </a:spcBef>
              <a:buClr>
                <a:schemeClr val="dk1"/>
              </a:buClr>
              <a:buSzPts val="1600"/>
              <a:buFont typeface="Times New Roman"/>
              <a:buChar char="●"/>
            </a:pPr>
            <a:r>
              <a:rPr lang="en-US" sz="2300" dirty="0">
                <a:solidFill>
                  <a:schemeClr val="dk1"/>
                </a:solidFill>
                <a:latin typeface="Times New Roman"/>
                <a:ea typeface="Times New Roman"/>
                <a:cs typeface="Times New Roman"/>
              </a:rPr>
              <a:t>REALM is end-to-end, retriever is jointly optimized with the language model.</a:t>
            </a:r>
          </a:p>
          <a:p>
            <a:pPr marL="457200" indent="-330200">
              <a:lnSpc>
                <a:spcPct val="114999"/>
              </a:lnSpc>
              <a:spcBef>
                <a:spcPts val="1200"/>
              </a:spcBef>
              <a:buClr>
                <a:schemeClr val="dk1"/>
              </a:buClr>
              <a:buSzPts val="1600"/>
              <a:buFont typeface="Times New Roman"/>
              <a:buChar char="●"/>
            </a:pPr>
            <a:r>
              <a:rPr lang="en-US" sz="2300" dirty="0">
                <a:solidFill>
                  <a:schemeClr val="dk1"/>
                </a:solidFill>
                <a:latin typeface="Times New Roman"/>
                <a:ea typeface="Times New Roman"/>
                <a:cs typeface="Times New Roman"/>
              </a:rPr>
              <a:t>RAG's retriever is trained separately.</a:t>
            </a:r>
          </a:p>
        </p:txBody>
      </p:sp>
    </p:spTree>
    <p:extLst>
      <p:ext uri="{BB962C8B-B14F-4D97-AF65-F5344CB8AC3E}">
        <p14:creationId xmlns:p14="http://schemas.microsoft.com/office/powerpoint/2010/main" val="4052021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5"/>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26" name="Google Shape;126;p15"/>
          <p:cNvSpPr txBox="1"/>
          <p:nvPr/>
        </p:nvSpPr>
        <p:spPr>
          <a:xfrm>
            <a:off x="114162" y="145685"/>
            <a:ext cx="10910100"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0" i="0" u="none" strike="noStrike" cap="none">
                <a:solidFill>
                  <a:schemeClr val="lt1"/>
                </a:solidFill>
                <a:latin typeface="Times New Roman"/>
                <a:ea typeface="Times New Roman"/>
                <a:cs typeface="Times New Roman"/>
                <a:sym typeface="Times New Roman"/>
              </a:rPr>
              <a:t>Architecture Overview</a:t>
            </a:r>
            <a:endParaRPr sz="1400" b="0" i="0" u="none" strike="noStrike" cap="none">
              <a:solidFill>
                <a:schemeClr val="lt1"/>
              </a:solidFill>
              <a:latin typeface="Times New Roman"/>
              <a:ea typeface="Times New Roman"/>
              <a:cs typeface="Times New Roman"/>
              <a:sym typeface="Times New Roman"/>
            </a:endParaRPr>
          </a:p>
        </p:txBody>
      </p:sp>
      <p:pic>
        <p:nvPicPr>
          <p:cNvPr id="127" name="Google Shape;127;p15"/>
          <p:cNvPicPr preferRelativeResize="0"/>
          <p:nvPr/>
        </p:nvPicPr>
        <p:blipFill rotWithShape="1">
          <a:blip r:embed="rId3">
            <a:alphaModFix/>
          </a:blip>
          <a:srcRect/>
          <a:stretch/>
        </p:blipFill>
        <p:spPr>
          <a:xfrm>
            <a:off x="11557509" y="233819"/>
            <a:ext cx="271309" cy="389810"/>
          </a:xfrm>
          <a:prstGeom prst="rect">
            <a:avLst/>
          </a:prstGeom>
          <a:noFill/>
          <a:ln>
            <a:noFill/>
          </a:ln>
        </p:spPr>
      </p:pic>
      <p:sp>
        <p:nvSpPr>
          <p:cNvPr id="128" name="Google Shape;128;p15"/>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129" name="Google Shape;129;p15"/>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130" name="Google Shape;130;p15"/>
          <p:cNvGrpSpPr/>
          <p:nvPr/>
        </p:nvGrpSpPr>
        <p:grpSpPr>
          <a:xfrm>
            <a:off x="2622925" y="6601537"/>
            <a:ext cx="6677215" cy="70500"/>
            <a:chOff x="2589675" y="6601537"/>
            <a:chExt cx="6677215" cy="70500"/>
          </a:xfrm>
        </p:grpSpPr>
        <p:cxnSp>
          <p:nvCxnSpPr>
            <p:cNvPr id="131" name="Google Shape;131;p15"/>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132" name="Google Shape;132;p15"/>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133" name="Google Shape;133;p15"/>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pic>
        <p:nvPicPr>
          <p:cNvPr id="134" name="Google Shape;134;p15" descr="A diagram of a pyramid&#10;&#10;AI-generated content may be incorrect."/>
          <p:cNvPicPr preferRelativeResize="0"/>
          <p:nvPr/>
        </p:nvPicPr>
        <p:blipFill rotWithShape="1">
          <a:blip r:embed="rId4">
            <a:alphaModFix/>
          </a:blip>
          <a:srcRect/>
          <a:stretch/>
        </p:blipFill>
        <p:spPr>
          <a:xfrm>
            <a:off x="6041486" y="936597"/>
            <a:ext cx="5705069" cy="5439345"/>
          </a:xfrm>
          <a:prstGeom prst="rect">
            <a:avLst/>
          </a:prstGeom>
          <a:noFill/>
          <a:ln>
            <a:noFill/>
          </a:ln>
        </p:spPr>
      </p:pic>
      <p:sp>
        <p:nvSpPr>
          <p:cNvPr id="135" name="Google Shape;135;p15"/>
          <p:cNvSpPr txBox="1"/>
          <p:nvPr/>
        </p:nvSpPr>
        <p:spPr>
          <a:xfrm>
            <a:off x="222300" y="1113050"/>
            <a:ext cx="6072000" cy="5178300"/>
          </a:xfrm>
          <a:prstGeom prst="rect">
            <a:avLst/>
          </a:prstGeom>
          <a:noFill/>
          <a:ln>
            <a:noFill/>
          </a:ln>
        </p:spPr>
        <p:txBody>
          <a:bodyPr spcFirstLastPara="1" wrap="square" lIns="91425" tIns="45700" rIns="91425" bIns="45700" anchor="t" anchorCtr="0">
            <a:noAutofit/>
          </a:bodyPr>
          <a:lstStyle/>
          <a:p>
            <a:pPr marL="0" marR="0" lvl="0" indent="0" algn="l" rtl="0">
              <a:lnSpc>
                <a:spcPct val="114999"/>
              </a:lnSpc>
              <a:spcBef>
                <a:spcPts val="600"/>
              </a:spcBef>
              <a:spcAft>
                <a:spcPts val="0"/>
              </a:spcAft>
              <a:buNone/>
            </a:pPr>
            <a:r>
              <a:rPr lang="en-US" sz="2100" b="1">
                <a:solidFill>
                  <a:schemeClr val="dk1"/>
                </a:solidFill>
                <a:latin typeface="Times New Roman"/>
                <a:ea typeface="Times New Roman"/>
                <a:cs typeface="Times New Roman"/>
                <a:sym typeface="Times New Roman"/>
              </a:rPr>
              <a:t>Overall Goal:</a:t>
            </a:r>
            <a:endParaRPr sz="2100" b="1">
              <a:solidFill>
                <a:schemeClr val="dk1"/>
              </a:solidFill>
              <a:latin typeface="Times New Roman"/>
              <a:ea typeface="Times New Roman"/>
              <a:cs typeface="Times New Roman"/>
              <a:sym typeface="Times New Roman"/>
            </a:endParaRPr>
          </a:p>
          <a:p>
            <a:pPr marL="0" marR="0" lvl="0" indent="0" algn="l" rtl="0">
              <a:lnSpc>
                <a:spcPct val="114999"/>
              </a:lnSpc>
              <a:spcBef>
                <a:spcPts val="600"/>
              </a:spcBef>
              <a:spcAft>
                <a:spcPts val="0"/>
              </a:spcAft>
              <a:buNone/>
            </a:pPr>
            <a:r>
              <a:rPr lang="en-US" sz="2100">
                <a:solidFill>
                  <a:schemeClr val="dk1"/>
                </a:solidFill>
                <a:latin typeface="Times New Roman"/>
                <a:ea typeface="Times New Roman"/>
                <a:cs typeface="Times New Roman"/>
                <a:sym typeface="Times New Roman"/>
              </a:rPr>
              <a:t>Learn a distribution p(y|x) </a:t>
            </a:r>
            <a:endParaRPr sz="2100">
              <a:solidFill>
                <a:schemeClr val="dk1"/>
              </a:solidFill>
              <a:latin typeface="Times New Roman"/>
              <a:ea typeface="Times New Roman"/>
              <a:cs typeface="Times New Roman"/>
              <a:sym typeface="Times New Roman"/>
            </a:endParaRPr>
          </a:p>
          <a:p>
            <a:pPr marL="285750" marR="0" lvl="0" indent="-266700" algn="l" rtl="0">
              <a:lnSpc>
                <a:spcPct val="114999"/>
              </a:lnSpc>
              <a:spcBef>
                <a:spcPts val="600"/>
              </a:spcBef>
              <a:spcAft>
                <a:spcPts val="0"/>
              </a:spcAft>
              <a:buSzPts val="2100"/>
              <a:buChar char="•"/>
            </a:pPr>
            <a:r>
              <a:rPr lang="en-US" sz="2100">
                <a:solidFill>
                  <a:schemeClr val="dk1"/>
                </a:solidFill>
                <a:latin typeface="Times New Roman"/>
                <a:ea typeface="Times New Roman"/>
                <a:cs typeface="Times New Roman"/>
                <a:sym typeface="Times New Roman"/>
              </a:rPr>
              <a:t>Pre-training: x = masked text, y = missing tokens</a:t>
            </a:r>
            <a:endParaRPr sz="2100">
              <a:solidFill>
                <a:schemeClr val="dk1"/>
              </a:solidFill>
              <a:latin typeface="Times New Roman"/>
              <a:ea typeface="Times New Roman"/>
              <a:cs typeface="Times New Roman"/>
              <a:sym typeface="Times New Roman"/>
            </a:endParaRPr>
          </a:p>
          <a:p>
            <a:pPr marL="285750" marR="0" lvl="0" indent="-266700" algn="l" rtl="0">
              <a:lnSpc>
                <a:spcPct val="114999"/>
              </a:lnSpc>
              <a:spcBef>
                <a:spcPts val="600"/>
              </a:spcBef>
              <a:spcAft>
                <a:spcPts val="0"/>
              </a:spcAft>
              <a:buSzPts val="2100"/>
              <a:buChar char="•"/>
            </a:pPr>
            <a:r>
              <a:rPr lang="en-US" sz="2100">
                <a:solidFill>
                  <a:schemeClr val="dk1"/>
                </a:solidFill>
                <a:latin typeface="Times New Roman"/>
                <a:ea typeface="Times New Roman"/>
                <a:cs typeface="Times New Roman"/>
                <a:sym typeface="Times New Roman"/>
              </a:rPr>
              <a:t>Supervised fine-tuning: x = question, y = answer</a:t>
            </a:r>
            <a:endParaRPr sz="2100">
              <a:solidFill>
                <a:schemeClr val="dk1"/>
              </a:solidFill>
              <a:latin typeface="Times New Roman"/>
              <a:ea typeface="Times New Roman"/>
              <a:cs typeface="Times New Roman"/>
              <a:sym typeface="Times New Roman"/>
            </a:endParaRPr>
          </a:p>
          <a:p>
            <a:pPr marL="0" marR="0" lvl="0" indent="0" algn="l" rtl="0">
              <a:lnSpc>
                <a:spcPct val="114999"/>
              </a:lnSpc>
              <a:spcBef>
                <a:spcPts val="600"/>
              </a:spcBef>
              <a:spcAft>
                <a:spcPts val="0"/>
              </a:spcAft>
              <a:buNone/>
            </a:pPr>
            <a:endParaRPr sz="2100">
              <a:solidFill>
                <a:schemeClr val="dk1"/>
              </a:solidFill>
              <a:latin typeface="Times New Roman"/>
              <a:ea typeface="Times New Roman"/>
              <a:cs typeface="Times New Roman"/>
              <a:sym typeface="Times New Roman"/>
            </a:endParaRPr>
          </a:p>
          <a:p>
            <a:pPr marL="0" marR="0" lvl="0" indent="0" algn="l" rtl="0">
              <a:lnSpc>
                <a:spcPct val="114999"/>
              </a:lnSpc>
              <a:spcBef>
                <a:spcPts val="600"/>
              </a:spcBef>
              <a:spcAft>
                <a:spcPts val="0"/>
              </a:spcAft>
              <a:buNone/>
            </a:pPr>
            <a:r>
              <a:rPr lang="en-US" sz="2100" b="1">
                <a:solidFill>
                  <a:schemeClr val="dk1"/>
                </a:solidFill>
                <a:latin typeface="Times New Roman"/>
                <a:ea typeface="Times New Roman"/>
                <a:cs typeface="Times New Roman"/>
                <a:sym typeface="Times New Roman"/>
              </a:rPr>
              <a:t>Two-Step Decomposition:</a:t>
            </a:r>
            <a:endParaRPr sz="2100" b="1">
              <a:solidFill>
                <a:schemeClr val="dk1"/>
              </a:solidFill>
              <a:latin typeface="Times New Roman"/>
              <a:ea typeface="Times New Roman"/>
              <a:cs typeface="Times New Roman"/>
              <a:sym typeface="Times New Roman"/>
            </a:endParaRPr>
          </a:p>
          <a:p>
            <a:pPr marL="285750" marR="0" lvl="0" indent="-266700" algn="l" rtl="0">
              <a:lnSpc>
                <a:spcPct val="114999"/>
              </a:lnSpc>
              <a:spcBef>
                <a:spcPts val="600"/>
              </a:spcBef>
              <a:spcAft>
                <a:spcPts val="0"/>
              </a:spcAft>
              <a:buSzPts val="2100"/>
              <a:buChar char="•"/>
            </a:pPr>
            <a:r>
              <a:rPr lang="en-US" sz="2100">
                <a:solidFill>
                  <a:schemeClr val="dk1"/>
                </a:solidFill>
                <a:latin typeface="Times New Roman"/>
                <a:ea typeface="Times New Roman"/>
                <a:cs typeface="Times New Roman"/>
                <a:sym typeface="Times New Roman"/>
              </a:rPr>
              <a:t>Knowledge Retriever: p(z|x)</a:t>
            </a:r>
            <a:endParaRPr sz="2100">
              <a:solidFill>
                <a:schemeClr val="dk1"/>
              </a:solidFill>
              <a:latin typeface="Times New Roman"/>
              <a:ea typeface="Times New Roman"/>
              <a:cs typeface="Times New Roman"/>
              <a:sym typeface="Times New Roman"/>
            </a:endParaRPr>
          </a:p>
          <a:p>
            <a:pPr marL="285750" marR="0" lvl="0" indent="-266700" algn="l" rtl="0">
              <a:lnSpc>
                <a:spcPct val="114999"/>
              </a:lnSpc>
              <a:spcBef>
                <a:spcPts val="600"/>
              </a:spcBef>
              <a:spcAft>
                <a:spcPts val="0"/>
              </a:spcAft>
              <a:buSzPts val="2100"/>
              <a:buChar char="•"/>
            </a:pPr>
            <a:r>
              <a:rPr lang="en-US" sz="2100">
                <a:solidFill>
                  <a:schemeClr val="dk1"/>
                </a:solidFill>
                <a:latin typeface="Times New Roman"/>
                <a:ea typeface="Times New Roman"/>
                <a:cs typeface="Times New Roman"/>
                <a:sym typeface="Times New Roman"/>
              </a:rPr>
              <a:t>Knowledge-Augmented Encoder: p(y|z, x) </a:t>
            </a:r>
            <a:endParaRPr sz="2100" b="1">
              <a:solidFill>
                <a:schemeClr val="dk1"/>
              </a:solidFill>
              <a:latin typeface="Times New Roman"/>
              <a:ea typeface="Times New Roman"/>
              <a:cs typeface="Times New Roman"/>
              <a:sym typeface="Times New Roman"/>
            </a:endParaRPr>
          </a:p>
          <a:p>
            <a:pPr marL="0" marR="0" lvl="0" indent="0" algn="l" rtl="0">
              <a:lnSpc>
                <a:spcPct val="114999"/>
              </a:lnSpc>
              <a:spcBef>
                <a:spcPts val="600"/>
              </a:spcBef>
              <a:spcAft>
                <a:spcPts val="0"/>
              </a:spcAft>
              <a:buNone/>
            </a:pPr>
            <a:endParaRPr sz="2100" b="1">
              <a:solidFill>
                <a:schemeClr val="dk1"/>
              </a:solidFill>
              <a:latin typeface="Times New Roman"/>
              <a:ea typeface="Times New Roman"/>
              <a:cs typeface="Times New Roman"/>
              <a:sym typeface="Times New Roman"/>
            </a:endParaRPr>
          </a:p>
          <a:p>
            <a:pPr marL="0" marR="0" lvl="0" indent="0" algn="l" rtl="0">
              <a:lnSpc>
                <a:spcPct val="114999"/>
              </a:lnSpc>
              <a:spcBef>
                <a:spcPts val="600"/>
              </a:spcBef>
              <a:spcAft>
                <a:spcPts val="0"/>
              </a:spcAft>
              <a:buNone/>
            </a:pPr>
            <a:r>
              <a:rPr lang="en-US" sz="2100" b="1">
                <a:solidFill>
                  <a:schemeClr val="dk1"/>
                </a:solidFill>
                <a:latin typeface="Times New Roman"/>
                <a:ea typeface="Times New Roman"/>
                <a:cs typeface="Times New Roman"/>
                <a:sym typeface="Times New Roman"/>
              </a:rPr>
              <a:t>Complete Model:</a:t>
            </a:r>
            <a:endParaRPr sz="2100" b="1">
              <a:solidFill>
                <a:schemeClr val="dk1"/>
              </a:solidFill>
              <a:latin typeface="Times New Roman"/>
              <a:ea typeface="Times New Roman"/>
              <a:cs typeface="Times New Roman"/>
              <a:sym typeface="Times New Roman"/>
            </a:endParaRPr>
          </a:p>
          <a:p>
            <a:pPr marL="0" marR="0" lvl="0" indent="0" algn="l" rtl="0">
              <a:lnSpc>
                <a:spcPct val="114999"/>
              </a:lnSpc>
              <a:spcBef>
                <a:spcPts val="600"/>
              </a:spcBef>
              <a:spcAft>
                <a:spcPts val="0"/>
              </a:spcAft>
              <a:buNone/>
            </a:pPr>
            <a:endParaRPr sz="2000" b="0" i="0" u="none" strike="noStrike" cap="none">
              <a:solidFill>
                <a:srgbClr val="000000"/>
              </a:solidFill>
              <a:latin typeface="Times New Roman"/>
              <a:ea typeface="Times New Roman"/>
              <a:cs typeface="Times New Roman"/>
              <a:sym typeface="Times New Roman"/>
            </a:endParaRPr>
          </a:p>
        </p:txBody>
      </p:sp>
      <p:pic>
        <p:nvPicPr>
          <p:cNvPr id="136" name="Google Shape;136;p15" title="[0,0,0,&quot;https://www.codecogs.com/eqnedit.php?latex=p(y%7Cx)%20%3D%20%5Csum_%7Bz%20%5Cin%20Z%7D%20p(y%7Cz%2Cx)p(z%7Cx)#0&quot;]"/>
          <p:cNvPicPr preferRelativeResize="0"/>
          <p:nvPr/>
        </p:nvPicPr>
        <p:blipFill>
          <a:blip r:embed="rId5">
            <a:alphaModFix/>
          </a:blip>
          <a:stretch>
            <a:fillRect/>
          </a:stretch>
        </p:blipFill>
        <p:spPr>
          <a:xfrm>
            <a:off x="2540413" y="5037450"/>
            <a:ext cx="3664176" cy="68584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16"/>
          <p:cNvSpPr txBox="1"/>
          <p:nvPr/>
        </p:nvSpPr>
        <p:spPr>
          <a:xfrm>
            <a:off x="231270" y="1178977"/>
            <a:ext cx="11327100" cy="5028300"/>
          </a:xfrm>
          <a:prstGeom prst="rect">
            <a:avLst/>
          </a:prstGeom>
          <a:noFill/>
          <a:ln>
            <a:noFill/>
          </a:ln>
        </p:spPr>
        <p:txBody>
          <a:bodyPr spcFirstLastPara="1" wrap="square" lIns="91425" tIns="45700" rIns="91425" bIns="45700" anchor="t" anchorCtr="0">
            <a:noAutofit/>
          </a:bodyPr>
          <a:lstStyle/>
          <a:p>
            <a:pPr marL="0" marR="0" lvl="1" indent="0" algn="l" rtl="0">
              <a:lnSpc>
                <a:spcPct val="114999"/>
              </a:lnSpc>
              <a:spcBef>
                <a:spcPts val="1200"/>
              </a:spcBef>
              <a:spcAft>
                <a:spcPts val="0"/>
              </a:spcAft>
              <a:buClr>
                <a:srgbClr val="000000"/>
              </a:buClr>
              <a:buSzPts val="2400"/>
              <a:buFont typeface="Courier New"/>
              <a:buNone/>
            </a:pPr>
            <a:r>
              <a:rPr lang="en-US" sz="2400" b="1">
                <a:solidFill>
                  <a:schemeClr val="dk1"/>
                </a:solidFill>
                <a:latin typeface="Times New Roman"/>
                <a:ea typeface="Times New Roman"/>
                <a:cs typeface="Times New Roman"/>
                <a:sym typeface="Times New Roman"/>
              </a:rPr>
              <a:t>Dense inner product model:</a:t>
            </a:r>
            <a:endParaRPr sz="2400" b="1">
              <a:solidFill>
                <a:schemeClr val="dk1"/>
              </a:solidFill>
              <a:latin typeface="Times New Roman"/>
              <a:ea typeface="Times New Roman"/>
              <a:cs typeface="Times New Roman"/>
              <a:sym typeface="Times New Roman"/>
            </a:endParaRPr>
          </a:p>
          <a:p>
            <a:pPr marL="0" marR="0" lvl="1" indent="0" algn="l" rtl="0">
              <a:lnSpc>
                <a:spcPct val="114999"/>
              </a:lnSpc>
              <a:spcBef>
                <a:spcPts val="1200"/>
              </a:spcBef>
              <a:spcAft>
                <a:spcPts val="0"/>
              </a:spcAft>
              <a:buClr>
                <a:srgbClr val="000000"/>
              </a:buClr>
              <a:buSzPts val="2400"/>
              <a:buFont typeface="Courier New"/>
              <a:buNone/>
            </a:pPr>
            <a:endParaRPr sz="2400">
              <a:solidFill>
                <a:schemeClr val="dk1"/>
              </a:solidFill>
              <a:latin typeface="Times New Roman"/>
              <a:ea typeface="Times New Roman"/>
              <a:cs typeface="Times New Roman"/>
              <a:sym typeface="Times New Roman"/>
            </a:endParaRPr>
          </a:p>
          <a:p>
            <a:pPr marL="0" marR="0" lvl="1" indent="0" algn="l" rtl="0">
              <a:lnSpc>
                <a:spcPct val="114999"/>
              </a:lnSpc>
              <a:spcBef>
                <a:spcPts val="1200"/>
              </a:spcBef>
              <a:spcAft>
                <a:spcPts val="0"/>
              </a:spcAft>
              <a:buClr>
                <a:srgbClr val="000000"/>
              </a:buClr>
              <a:buSzPts val="2400"/>
              <a:buFont typeface="Courier New"/>
              <a:buNone/>
            </a:pPr>
            <a:endParaRPr sz="2400">
              <a:solidFill>
                <a:schemeClr val="dk1"/>
              </a:solidFill>
              <a:latin typeface="Times New Roman"/>
              <a:ea typeface="Times New Roman"/>
              <a:cs typeface="Times New Roman"/>
              <a:sym typeface="Times New Roman"/>
            </a:endParaRPr>
          </a:p>
          <a:p>
            <a:pPr marL="0" marR="0" lvl="1" indent="0" algn="l" rtl="0">
              <a:lnSpc>
                <a:spcPct val="114999"/>
              </a:lnSpc>
              <a:spcBef>
                <a:spcPts val="1200"/>
              </a:spcBef>
              <a:spcAft>
                <a:spcPts val="0"/>
              </a:spcAft>
              <a:buClr>
                <a:srgbClr val="000000"/>
              </a:buClr>
              <a:buSzPts val="2400"/>
              <a:buFont typeface="Courier New"/>
              <a:buNone/>
            </a:pPr>
            <a:endParaRPr sz="2400">
              <a:solidFill>
                <a:schemeClr val="dk1"/>
              </a:solidFill>
              <a:latin typeface="Times New Roman"/>
              <a:ea typeface="Times New Roman"/>
              <a:cs typeface="Times New Roman"/>
              <a:sym typeface="Times New Roman"/>
            </a:endParaRPr>
          </a:p>
          <a:p>
            <a:pPr marL="0" marR="0" lvl="1" indent="0" algn="l" rtl="0">
              <a:lnSpc>
                <a:spcPct val="114999"/>
              </a:lnSpc>
              <a:spcBef>
                <a:spcPts val="1200"/>
              </a:spcBef>
              <a:spcAft>
                <a:spcPts val="0"/>
              </a:spcAft>
              <a:buClr>
                <a:srgbClr val="000000"/>
              </a:buClr>
              <a:buSzPts val="2400"/>
              <a:buFont typeface="Courier New"/>
              <a:buNone/>
            </a:pPr>
            <a:endParaRPr sz="2400" b="1">
              <a:solidFill>
                <a:schemeClr val="dk1"/>
              </a:solidFill>
              <a:latin typeface="Times New Roman"/>
              <a:ea typeface="Times New Roman"/>
              <a:cs typeface="Times New Roman"/>
              <a:sym typeface="Times New Roman"/>
            </a:endParaRPr>
          </a:p>
          <a:p>
            <a:pPr marL="0" marR="0" lvl="1" indent="0" algn="l" rtl="0">
              <a:lnSpc>
                <a:spcPct val="114999"/>
              </a:lnSpc>
              <a:spcBef>
                <a:spcPts val="1200"/>
              </a:spcBef>
              <a:spcAft>
                <a:spcPts val="0"/>
              </a:spcAft>
              <a:buClr>
                <a:srgbClr val="000000"/>
              </a:buClr>
              <a:buSzPts val="2400"/>
              <a:buFont typeface="Courier New"/>
              <a:buNone/>
            </a:pPr>
            <a:r>
              <a:rPr lang="en-US" sz="2400" b="1">
                <a:solidFill>
                  <a:schemeClr val="dk1"/>
                </a:solidFill>
                <a:latin typeface="Times New Roman"/>
                <a:ea typeface="Times New Roman"/>
                <a:cs typeface="Times New Roman"/>
                <a:sym typeface="Times New Roman"/>
              </a:rPr>
              <a:t>BERT-Based Embeddings:</a:t>
            </a:r>
            <a:endParaRPr sz="2400" b="1">
              <a:solidFill>
                <a:schemeClr val="dk1"/>
              </a:solidFill>
              <a:latin typeface="Times New Roman"/>
              <a:ea typeface="Times New Roman"/>
              <a:cs typeface="Times New Roman"/>
              <a:sym typeface="Times New Roman"/>
            </a:endParaRPr>
          </a:p>
          <a:p>
            <a:pPr marL="457200" marR="0" lvl="0" indent="-381000" algn="l" rtl="0">
              <a:lnSpc>
                <a:spcPct val="114999"/>
              </a:lnSpc>
              <a:spcBef>
                <a:spcPts val="120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Input embedding: </a:t>
            </a:r>
            <a:endParaRPr sz="2400">
              <a:solidFill>
                <a:schemeClr val="dk1"/>
              </a:solidFill>
              <a:latin typeface="Times New Roman"/>
              <a:ea typeface="Times New Roman"/>
              <a:cs typeface="Times New Roman"/>
              <a:sym typeface="Times New Roman"/>
            </a:endParaRPr>
          </a:p>
          <a:p>
            <a:pPr marL="457200" marR="0" lvl="0" indent="-381000" algn="l" rtl="0">
              <a:lnSpc>
                <a:spcPct val="114999"/>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Document embedding: </a:t>
            </a:r>
            <a:endParaRPr sz="2400">
              <a:solidFill>
                <a:schemeClr val="dk1"/>
              </a:solidFill>
              <a:latin typeface="Times New Roman"/>
              <a:ea typeface="Times New Roman"/>
              <a:cs typeface="Times New Roman"/>
              <a:sym typeface="Times New Roman"/>
            </a:endParaRPr>
          </a:p>
        </p:txBody>
      </p:sp>
      <p:sp>
        <p:nvSpPr>
          <p:cNvPr id="142" name="Google Shape;142;p16"/>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43" name="Google Shape;143;p16"/>
          <p:cNvSpPr txBox="1"/>
          <p:nvPr/>
        </p:nvSpPr>
        <p:spPr>
          <a:xfrm>
            <a:off x="114162" y="145685"/>
            <a:ext cx="109101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a:solidFill>
                  <a:schemeClr val="lt1"/>
                </a:solidFill>
                <a:latin typeface="Times New Roman"/>
                <a:ea typeface="Times New Roman"/>
                <a:cs typeface="Times New Roman"/>
                <a:sym typeface="Times New Roman"/>
              </a:rPr>
              <a:t>Knowledge Retriever</a:t>
            </a:r>
            <a:endParaRPr sz="1400" b="0" i="0" u="none" strike="noStrike" cap="none">
              <a:solidFill>
                <a:srgbClr val="000000"/>
              </a:solidFill>
              <a:latin typeface="Arial"/>
              <a:ea typeface="Arial"/>
              <a:cs typeface="Arial"/>
              <a:sym typeface="Arial"/>
            </a:endParaRPr>
          </a:p>
        </p:txBody>
      </p:sp>
      <p:pic>
        <p:nvPicPr>
          <p:cNvPr id="144" name="Google Shape;144;p16"/>
          <p:cNvPicPr preferRelativeResize="0"/>
          <p:nvPr/>
        </p:nvPicPr>
        <p:blipFill rotWithShape="1">
          <a:blip r:embed="rId3">
            <a:alphaModFix/>
          </a:blip>
          <a:srcRect/>
          <a:stretch/>
        </p:blipFill>
        <p:spPr>
          <a:xfrm>
            <a:off x="11557509" y="233819"/>
            <a:ext cx="271309" cy="389810"/>
          </a:xfrm>
          <a:prstGeom prst="rect">
            <a:avLst/>
          </a:prstGeom>
          <a:noFill/>
          <a:ln>
            <a:noFill/>
          </a:ln>
        </p:spPr>
      </p:pic>
      <p:sp>
        <p:nvSpPr>
          <p:cNvPr id="145" name="Google Shape;145;p16"/>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146" name="Google Shape;146;p16"/>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147" name="Google Shape;147;p16"/>
          <p:cNvGrpSpPr/>
          <p:nvPr/>
        </p:nvGrpSpPr>
        <p:grpSpPr>
          <a:xfrm>
            <a:off x="2622925" y="6601537"/>
            <a:ext cx="6677215" cy="70500"/>
            <a:chOff x="2589675" y="6601537"/>
            <a:chExt cx="6677215" cy="70500"/>
          </a:xfrm>
        </p:grpSpPr>
        <p:cxnSp>
          <p:nvCxnSpPr>
            <p:cNvPr id="148" name="Google Shape;148;p16"/>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149" name="Google Shape;149;p16"/>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150" name="Google Shape;150;p16"/>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pic>
        <p:nvPicPr>
          <p:cNvPr id="151" name="Google Shape;151;p16" title="[0,0,0,&quot;https://www.codecogs.com/eqnedit.php?latex=p(z%7Cx)%20%3D%20%5Cfrac%7B%5Cexp%20f(x%2Cz)%7D%7B%5Csum_%7Bz'%7D%20%5Cexp%20f(x%2Cz')%7D#0&quot;]"/>
          <p:cNvPicPr preferRelativeResize="0"/>
          <p:nvPr/>
        </p:nvPicPr>
        <p:blipFill>
          <a:blip r:embed="rId4">
            <a:alphaModFix/>
          </a:blip>
          <a:stretch>
            <a:fillRect/>
          </a:stretch>
        </p:blipFill>
        <p:spPr>
          <a:xfrm>
            <a:off x="822987" y="1956537"/>
            <a:ext cx="3684196" cy="764490"/>
          </a:xfrm>
          <a:prstGeom prst="rect">
            <a:avLst/>
          </a:prstGeom>
          <a:noFill/>
          <a:ln>
            <a:noFill/>
          </a:ln>
        </p:spPr>
      </p:pic>
      <p:pic>
        <p:nvPicPr>
          <p:cNvPr id="152" name="Google Shape;152;p16" title="[0,0,0,&quot;https://www.codecogs.com/eqnedit.php?latex=f(x%2Cz)%20%3D%20%5Ctext%7BEmbed%7D_%5Ctext%7Binput%7D(x)%5E%5Ctop%20%5Ctext%7BEmbed%7D_%5Ctext%7Bdoc%7D(z)#0&quot;]"/>
          <p:cNvPicPr preferRelativeResize="0"/>
          <p:nvPr/>
        </p:nvPicPr>
        <p:blipFill>
          <a:blip r:embed="rId5">
            <a:alphaModFix/>
          </a:blip>
          <a:stretch>
            <a:fillRect/>
          </a:stretch>
        </p:blipFill>
        <p:spPr>
          <a:xfrm>
            <a:off x="774149" y="2994167"/>
            <a:ext cx="6106849" cy="401595"/>
          </a:xfrm>
          <a:prstGeom prst="rect">
            <a:avLst/>
          </a:prstGeom>
          <a:noFill/>
          <a:ln>
            <a:noFill/>
          </a:ln>
        </p:spPr>
      </p:pic>
      <p:pic>
        <p:nvPicPr>
          <p:cNvPr id="153" name="Google Shape;153;p16" title="[0,0,0,&quot;https://www.codecogs.com/eqnedit.php?latex=%5Ctext%7BEmbed%7D_%5Ctext%7Binput%7D(x)%20%3D%20%5Cmathbf%7BW%7D_%5Ctext%7Binput%7D%5Ctext%7BBERT%7D_%5Ctext%7BCLS%7D(%5Ctext%7Bjoin%7D_%5Ctext%7BBERT%7D(x))#0&quot;]"/>
          <p:cNvPicPr preferRelativeResize="0"/>
          <p:nvPr/>
        </p:nvPicPr>
        <p:blipFill>
          <a:blip r:embed="rId6">
            <a:alphaModFix/>
          </a:blip>
          <a:stretch>
            <a:fillRect/>
          </a:stretch>
        </p:blipFill>
        <p:spPr>
          <a:xfrm>
            <a:off x="3764542" y="4928720"/>
            <a:ext cx="4887024" cy="254000"/>
          </a:xfrm>
          <a:prstGeom prst="rect">
            <a:avLst/>
          </a:prstGeom>
          <a:noFill/>
          <a:ln>
            <a:noFill/>
          </a:ln>
        </p:spPr>
      </p:pic>
      <p:pic>
        <p:nvPicPr>
          <p:cNvPr id="154" name="Google Shape;154;p16" title="[0,0,0,&quot;https://www.codecogs.com/eqnedit.php?latex=%5Ctext%7BEmbed%7D_%5Ctext%7Bdoc%7D(z)%20%3D%20%5Cmathbf%7BW%7D_%5Ctext%7Bdoc%7D%5Ctext%7BBERT%7D_%5Ctext%7BCLS%7D(%5Ctext%7Bjoin%7D_%5Ctext%7BBERT%7D(z_%5Ctext%7Btitle%7D%2C%20z_%5Ctext%7Bbody%7D))#0&quot;]"/>
          <p:cNvPicPr preferRelativeResize="0"/>
          <p:nvPr/>
        </p:nvPicPr>
        <p:blipFill>
          <a:blip r:embed="rId7">
            <a:alphaModFix/>
          </a:blip>
          <a:stretch>
            <a:fillRect/>
          </a:stretch>
        </p:blipFill>
        <p:spPr>
          <a:xfrm>
            <a:off x="3764542" y="5377012"/>
            <a:ext cx="5465098" cy="254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7"/>
          <p:cNvSpPr txBox="1"/>
          <p:nvPr/>
        </p:nvSpPr>
        <p:spPr>
          <a:xfrm>
            <a:off x="6268239" y="2815475"/>
            <a:ext cx="5695200" cy="3234000"/>
          </a:xfrm>
          <a:prstGeom prst="rect">
            <a:avLst/>
          </a:prstGeom>
          <a:noFill/>
          <a:ln>
            <a:noFill/>
          </a:ln>
        </p:spPr>
        <p:txBody>
          <a:bodyPr spcFirstLastPara="1" wrap="square" lIns="91425" tIns="91425" rIns="91425" bIns="91425" anchor="t" anchorCtr="0">
            <a:noAutofit/>
          </a:bodyPr>
          <a:lstStyle/>
          <a:p>
            <a:pPr marL="0" lvl="0" indent="0" algn="l" rtl="0">
              <a:lnSpc>
                <a:spcPct val="114999"/>
              </a:lnSpc>
              <a:spcBef>
                <a:spcPts val="1200"/>
              </a:spcBef>
              <a:spcAft>
                <a:spcPts val="600"/>
              </a:spcAft>
              <a:buNone/>
            </a:pPr>
            <a:r>
              <a:rPr lang="en-US" sz="2400" b="1">
                <a:solidFill>
                  <a:schemeClr val="dk1"/>
                </a:solidFill>
                <a:latin typeface="Times New Roman"/>
                <a:ea typeface="Times New Roman"/>
                <a:cs typeface="Times New Roman"/>
                <a:sym typeface="Times New Roman"/>
              </a:rPr>
              <a:t>Fine-tuning (Open-QA):</a:t>
            </a:r>
            <a:endParaRPr sz="2800" b="1">
              <a:solidFill>
                <a:schemeClr val="dk1"/>
              </a:solidFill>
            </a:endParaRPr>
          </a:p>
        </p:txBody>
      </p:sp>
      <p:sp>
        <p:nvSpPr>
          <p:cNvPr id="161" name="Google Shape;161;p17"/>
          <p:cNvSpPr txBox="1"/>
          <p:nvPr/>
        </p:nvSpPr>
        <p:spPr>
          <a:xfrm>
            <a:off x="228561" y="2815475"/>
            <a:ext cx="3354889" cy="746745"/>
          </a:xfrm>
          <a:prstGeom prst="rect">
            <a:avLst/>
          </a:prstGeom>
          <a:noFill/>
          <a:ln>
            <a:noFill/>
          </a:ln>
        </p:spPr>
        <p:txBody>
          <a:bodyPr spcFirstLastPara="1" wrap="square" lIns="91425" tIns="91425" rIns="91425" bIns="91425" anchor="t" anchorCtr="0">
            <a:noAutofit/>
          </a:bodyPr>
          <a:lstStyle/>
          <a:p>
            <a:pPr marL="0" lvl="0" indent="0" algn="l" rtl="0">
              <a:lnSpc>
                <a:spcPct val="114999"/>
              </a:lnSpc>
              <a:spcBef>
                <a:spcPts val="1200"/>
              </a:spcBef>
              <a:spcAft>
                <a:spcPts val="0"/>
              </a:spcAft>
              <a:buClr>
                <a:schemeClr val="dk1"/>
              </a:buClr>
              <a:buSzPts val="1100"/>
              <a:buFont typeface="Arial"/>
              <a:buNone/>
            </a:pPr>
            <a:r>
              <a:rPr lang="en-US" sz="2400" b="1" dirty="0">
                <a:solidFill>
                  <a:schemeClr val="dk1"/>
                </a:solidFill>
                <a:latin typeface="Times New Roman"/>
                <a:ea typeface="Times New Roman"/>
                <a:cs typeface="Times New Roman"/>
                <a:sym typeface="Times New Roman"/>
              </a:rPr>
              <a:t>Pre-training (MLM):</a:t>
            </a:r>
            <a:endParaRPr sz="2400" b="1" dirty="0">
              <a:solidFill>
                <a:schemeClr val="dk1"/>
              </a:solidFill>
              <a:latin typeface="Times New Roman"/>
              <a:ea typeface="Times New Roman"/>
              <a:cs typeface="Times New Roman"/>
              <a:sym typeface="Times New Roman"/>
            </a:endParaRPr>
          </a:p>
          <a:p>
            <a:pPr marL="0" lvl="0" indent="0" algn="l" rtl="0">
              <a:lnSpc>
                <a:spcPct val="114999"/>
              </a:lnSpc>
              <a:spcBef>
                <a:spcPts val="1200"/>
              </a:spcBef>
              <a:spcAft>
                <a:spcPts val="600"/>
              </a:spcAft>
              <a:buClr>
                <a:schemeClr val="dk1"/>
              </a:buClr>
              <a:buSzPts val="1100"/>
              <a:buFont typeface="Arial"/>
              <a:buNone/>
            </a:pPr>
            <a:endParaRPr sz="2800" dirty="0">
              <a:solidFill>
                <a:schemeClr val="dk1"/>
              </a:solidFill>
            </a:endParaRPr>
          </a:p>
        </p:txBody>
      </p:sp>
      <p:sp>
        <p:nvSpPr>
          <p:cNvPr id="162" name="Google Shape;162;p17"/>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63" name="Google Shape;163;p17"/>
          <p:cNvSpPr txBox="1"/>
          <p:nvPr/>
        </p:nvSpPr>
        <p:spPr>
          <a:xfrm>
            <a:off x="114162" y="145685"/>
            <a:ext cx="109101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a:solidFill>
                  <a:schemeClr val="lt1"/>
                </a:solidFill>
                <a:latin typeface="Times New Roman"/>
                <a:ea typeface="Times New Roman"/>
                <a:cs typeface="Times New Roman"/>
                <a:sym typeface="Times New Roman"/>
              </a:rPr>
              <a:t>Knowledge-Augmented Encoder</a:t>
            </a:r>
            <a:endParaRPr sz="1400" b="0" i="0" u="none" strike="noStrike" cap="none">
              <a:solidFill>
                <a:srgbClr val="000000"/>
              </a:solidFill>
              <a:latin typeface="Arial"/>
              <a:ea typeface="Arial"/>
              <a:cs typeface="Arial"/>
              <a:sym typeface="Arial"/>
            </a:endParaRPr>
          </a:p>
        </p:txBody>
      </p:sp>
      <p:pic>
        <p:nvPicPr>
          <p:cNvPr id="164" name="Google Shape;164;p17"/>
          <p:cNvPicPr preferRelativeResize="0"/>
          <p:nvPr/>
        </p:nvPicPr>
        <p:blipFill rotWithShape="1">
          <a:blip r:embed="rId3">
            <a:alphaModFix/>
          </a:blip>
          <a:srcRect/>
          <a:stretch/>
        </p:blipFill>
        <p:spPr>
          <a:xfrm>
            <a:off x="11557509" y="233819"/>
            <a:ext cx="271309" cy="389810"/>
          </a:xfrm>
          <a:prstGeom prst="rect">
            <a:avLst/>
          </a:prstGeom>
          <a:noFill/>
          <a:ln>
            <a:noFill/>
          </a:ln>
        </p:spPr>
      </p:pic>
      <p:sp>
        <p:nvSpPr>
          <p:cNvPr id="165" name="Google Shape;165;p17"/>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166" name="Google Shape;166;p17"/>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167" name="Google Shape;167;p17"/>
          <p:cNvGrpSpPr/>
          <p:nvPr/>
        </p:nvGrpSpPr>
        <p:grpSpPr>
          <a:xfrm>
            <a:off x="2622925" y="6601537"/>
            <a:ext cx="6677215" cy="70500"/>
            <a:chOff x="2589675" y="6601537"/>
            <a:chExt cx="6677215" cy="70500"/>
          </a:xfrm>
        </p:grpSpPr>
        <p:cxnSp>
          <p:nvCxnSpPr>
            <p:cNvPr id="168" name="Google Shape;168;p17"/>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169" name="Google Shape;169;p17"/>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170" name="Google Shape;170;p17"/>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pic>
        <p:nvPicPr>
          <p:cNvPr id="171" name="Google Shape;171;p17" title="[0,0,0,&quot;https://www.codecogs.com/eqnedit.php?latex=p(y%7Cz%2Cx)%20%3D%20%5Cprod_%7Bj%3D1%7D%5E%7BJ_x%7D%20p(y_j%7Cz%2Cx)#0&quot;]"/>
          <p:cNvPicPr preferRelativeResize="0"/>
          <p:nvPr/>
        </p:nvPicPr>
        <p:blipFill>
          <a:blip r:embed="rId4">
            <a:alphaModFix/>
          </a:blip>
          <a:stretch>
            <a:fillRect/>
          </a:stretch>
        </p:blipFill>
        <p:spPr>
          <a:xfrm>
            <a:off x="372354" y="3614126"/>
            <a:ext cx="2743198" cy="813868"/>
          </a:xfrm>
          <a:prstGeom prst="rect">
            <a:avLst/>
          </a:prstGeom>
          <a:noFill/>
          <a:ln>
            <a:noFill/>
          </a:ln>
        </p:spPr>
      </p:pic>
      <p:pic>
        <p:nvPicPr>
          <p:cNvPr id="172" name="Google Shape;172;p17" title="[0,0,0,&quot;https://www.codecogs.com/eqnedit.php?latex=p(y_j%7Cz%2Cx)%20%5Cpropto%20%5Cexp(w_j%5E%5Ctop%20%5Ctext%7BBERT%7D_%7B%5Ctext%7BMASK%7D(j)%7D(%5Ctext%7Bjoin%7D_%7B%5Ctext%7BBERT%7D%7D(x%2C%20z_%7B%5Ctext%7Bbody%7D%7D)))#0&quot;]"/>
          <p:cNvPicPr preferRelativeResize="0"/>
          <p:nvPr/>
        </p:nvPicPr>
        <p:blipFill>
          <a:blip r:embed="rId5">
            <a:alphaModFix/>
          </a:blip>
          <a:stretch>
            <a:fillRect/>
          </a:stretch>
        </p:blipFill>
        <p:spPr>
          <a:xfrm>
            <a:off x="372354" y="4632300"/>
            <a:ext cx="5601979" cy="309750"/>
          </a:xfrm>
          <a:prstGeom prst="rect">
            <a:avLst/>
          </a:prstGeom>
          <a:noFill/>
          <a:ln>
            <a:noFill/>
          </a:ln>
        </p:spPr>
      </p:pic>
      <p:sp>
        <p:nvSpPr>
          <p:cNvPr id="160" name="Google Shape;160;p17"/>
          <p:cNvSpPr txBox="1"/>
          <p:nvPr/>
        </p:nvSpPr>
        <p:spPr>
          <a:xfrm>
            <a:off x="231275" y="1178975"/>
            <a:ext cx="11327100" cy="5149876"/>
          </a:xfrm>
          <a:prstGeom prst="rect">
            <a:avLst/>
          </a:prstGeom>
          <a:noFill/>
          <a:ln>
            <a:noFill/>
          </a:ln>
        </p:spPr>
        <p:txBody>
          <a:bodyPr spcFirstLastPara="1" wrap="square" lIns="91425" tIns="45700" rIns="91425" bIns="45700" anchor="t" anchorCtr="0">
            <a:noAutofit/>
          </a:bodyPr>
          <a:lstStyle/>
          <a:p>
            <a:pPr marL="0" marR="0" lvl="0" indent="0" algn="l" rtl="0">
              <a:lnSpc>
                <a:spcPct val="114999"/>
              </a:lnSpc>
              <a:spcBef>
                <a:spcPts val="1200"/>
              </a:spcBef>
              <a:spcAft>
                <a:spcPts val="0"/>
              </a:spcAft>
              <a:buNone/>
            </a:pPr>
            <a:r>
              <a:rPr lang="en-US" sz="2400" b="1" dirty="0">
                <a:solidFill>
                  <a:schemeClr val="dk1"/>
                </a:solidFill>
                <a:latin typeface="Times New Roman"/>
                <a:ea typeface="Times New Roman"/>
                <a:cs typeface="Times New Roman"/>
                <a:sym typeface="Times New Roman"/>
              </a:rPr>
              <a:t>General Approach</a:t>
            </a:r>
            <a:r>
              <a:rPr lang="en-US" sz="2400" dirty="0">
                <a:solidFill>
                  <a:schemeClr val="dk1"/>
                </a:solidFill>
                <a:latin typeface="Times New Roman"/>
                <a:ea typeface="Times New Roman"/>
                <a:cs typeface="Times New Roman"/>
                <a:sym typeface="Times New Roman"/>
              </a:rPr>
              <a:t>:</a:t>
            </a:r>
            <a:endParaRPr sz="2400" dirty="0">
              <a:solidFill>
                <a:schemeClr val="dk1"/>
              </a:solidFill>
              <a:latin typeface="Times New Roman"/>
              <a:ea typeface="Times New Roman"/>
              <a:cs typeface="Times New Roman"/>
              <a:sym typeface="Times New Roman"/>
            </a:endParaRPr>
          </a:p>
          <a:p>
            <a:pPr marL="457200" marR="0" lvl="0" indent="-381000" algn="l" rtl="0">
              <a:lnSpc>
                <a:spcPct val="114999"/>
              </a:lnSpc>
              <a:spcBef>
                <a:spcPts val="1200"/>
              </a:spcBef>
              <a:spcAft>
                <a:spcPts val="0"/>
              </a:spcAft>
              <a:buClr>
                <a:schemeClr val="dk1"/>
              </a:buClr>
              <a:buSzPts val="2400"/>
              <a:buFont typeface="Times New Roman"/>
              <a:buAutoNum type="arabicPeriod"/>
            </a:pPr>
            <a:r>
              <a:rPr lang="en-US" sz="2400" dirty="0">
                <a:solidFill>
                  <a:schemeClr val="dk1"/>
                </a:solidFill>
                <a:latin typeface="Times New Roman"/>
                <a:ea typeface="Times New Roman"/>
                <a:cs typeface="Times New Roman"/>
                <a:sym typeface="Times New Roman"/>
              </a:rPr>
              <a:t>Joins input x and retrieved document z into a single sequence</a:t>
            </a:r>
            <a:endParaRPr sz="2400" dirty="0">
              <a:solidFill>
                <a:schemeClr val="dk1"/>
              </a:solidFill>
              <a:latin typeface="Times New Roman"/>
              <a:ea typeface="Times New Roman"/>
              <a:cs typeface="Times New Roman"/>
              <a:sym typeface="Times New Roman"/>
            </a:endParaRPr>
          </a:p>
          <a:p>
            <a:pPr marL="457200" marR="0" lvl="0" indent="-381000" algn="l" rtl="0">
              <a:lnSpc>
                <a:spcPct val="114999"/>
              </a:lnSpc>
              <a:spcBef>
                <a:spcPts val="0"/>
              </a:spcBef>
              <a:spcAft>
                <a:spcPts val="0"/>
              </a:spcAft>
              <a:buClr>
                <a:schemeClr val="dk1"/>
              </a:buClr>
              <a:buSzPts val="2400"/>
              <a:buFont typeface="Times New Roman"/>
              <a:buAutoNum type="arabicPeriod"/>
            </a:pPr>
            <a:r>
              <a:rPr lang="en-US" sz="2400" dirty="0">
                <a:solidFill>
                  <a:schemeClr val="dk1"/>
                </a:solidFill>
                <a:latin typeface="Times New Roman"/>
                <a:ea typeface="Times New Roman"/>
                <a:cs typeface="Times New Roman"/>
                <a:sym typeface="Times New Roman"/>
              </a:rPr>
              <a:t>Feeds into Transformer enabling rich cross-attention between input and document</a:t>
            </a:r>
            <a:endParaRPr sz="2400" dirty="0">
              <a:solidFill>
                <a:schemeClr val="dk1"/>
              </a:solidFill>
              <a:latin typeface="Times New Roman"/>
              <a:ea typeface="Times New Roman"/>
              <a:cs typeface="Times New Roman"/>
              <a:sym typeface="Times New Roman"/>
            </a:endParaRPr>
          </a:p>
          <a:p>
            <a:pPr marL="0" marR="0" lvl="0" indent="0" algn="l" rtl="0">
              <a:lnSpc>
                <a:spcPct val="114999"/>
              </a:lnSpc>
              <a:spcBef>
                <a:spcPts val="120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l" rtl="0">
              <a:lnSpc>
                <a:spcPct val="114999"/>
              </a:lnSpc>
              <a:spcBef>
                <a:spcPts val="1200"/>
              </a:spcBef>
              <a:spcAft>
                <a:spcPts val="0"/>
              </a:spcAft>
              <a:buNone/>
            </a:pPr>
            <a:endParaRPr sz="2400" dirty="0">
              <a:solidFill>
                <a:schemeClr val="dk1"/>
              </a:solidFill>
              <a:latin typeface="Times New Roman"/>
              <a:ea typeface="Times New Roman"/>
              <a:cs typeface="Times New Roman"/>
              <a:sym typeface="Times New Roman"/>
            </a:endParaRPr>
          </a:p>
          <a:p>
            <a:pPr marL="457200" marR="0" lvl="0" indent="0" algn="l" rtl="0">
              <a:lnSpc>
                <a:spcPct val="114999"/>
              </a:lnSpc>
              <a:spcBef>
                <a:spcPts val="1200"/>
              </a:spcBef>
              <a:spcAft>
                <a:spcPts val="0"/>
              </a:spcAft>
              <a:buNone/>
            </a:pPr>
            <a:endParaRPr sz="2400" dirty="0">
              <a:solidFill>
                <a:schemeClr val="dk1"/>
              </a:solidFill>
              <a:latin typeface="Times New Roman"/>
              <a:ea typeface="Times New Roman"/>
              <a:cs typeface="Times New Roman"/>
              <a:sym typeface="Times New Roman"/>
            </a:endParaRPr>
          </a:p>
          <a:p>
            <a:pPr marL="457200" marR="0" lvl="0" indent="0" algn="l" rtl="0">
              <a:lnSpc>
                <a:spcPct val="114999"/>
              </a:lnSpc>
              <a:spcBef>
                <a:spcPts val="1200"/>
              </a:spcBef>
              <a:spcAft>
                <a:spcPts val="600"/>
              </a:spcAft>
              <a:buNone/>
            </a:pPr>
            <a:endParaRPr sz="2400" dirty="0">
              <a:solidFill>
                <a:schemeClr val="dk1"/>
              </a:solidFill>
              <a:latin typeface="Times New Roman"/>
              <a:ea typeface="Times New Roman"/>
              <a:cs typeface="Times New Roman"/>
              <a:sym typeface="Times New Roman"/>
            </a:endParaRPr>
          </a:p>
        </p:txBody>
      </p:sp>
      <p:pic>
        <p:nvPicPr>
          <p:cNvPr id="173" name="Google Shape;173;p17" title="[0,0,0,&quot;https://www.codecogs.com/eqnedit.php?latex=p(y%7Cz%2Cx)%20%5Cpropto%20%5Csum_%7Bs%20%5Cin%20S(z%2Cy)%7D%20%5Cexp(%5Ctext%7BMLP%7D(%5Bh_%7B%5Ctext%7BSTART%7D(s)%7D%3B%20h_%7B%5Ctext%7BEND%7D(s)%7D%5D))#0&quot;]"/>
          <p:cNvPicPr preferRelativeResize="0"/>
          <p:nvPr/>
        </p:nvPicPr>
        <p:blipFill>
          <a:blip r:embed="rId6">
            <a:alphaModFix/>
          </a:blip>
          <a:stretch>
            <a:fillRect/>
          </a:stretch>
        </p:blipFill>
        <p:spPr>
          <a:xfrm>
            <a:off x="6383154" y="3737089"/>
            <a:ext cx="5538723" cy="622765"/>
          </a:xfrm>
          <a:prstGeom prst="rect">
            <a:avLst/>
          </a:prstGeom>
          <a:noFill/>
          <a:ln>
            <a:noFill/>
          </a:ln>
        </p:spPr>
      </p:pic>
      <p:pic>
        <p:nvPicPr>
          <p:cNvPr id="174" name="Google Shape;174;p17" title="[0,0,0,&quot;https://www.codecogs.com/eqnedit.php?latex=h_%7B%5Ctext%7BSTART%7D(s)%7D%20%3D%20%5Ctext%7BBERT%7D_%7B%5Ctext%7BSTART%7D(s)%7D(%5Ctext%7Bjoin%7D_%7B%5Ctext%7BBERT%7D%7D(x%2C%20z_%7B%5Ctext%7Bbody%7D%7D))#0&quot;]"/>
          <p:cNvPicPr preferRelativeResize="0"/>
          <p:nvPr/>
        </p:nvPicPr>
        <p:blipFill>
          <a:blip r:embed="rId7">
            <a:alphaModFix/>
          </a:blip>
          <a:stretch>
            <a:fillRect/>
          </a:stretch>
        </p:blipFill>
        <p:spPr>
          <a:xfrm>
            <a:off x="6383154" y="4614104"/>
            <a:ext cx="5538724" cy="309750"/>
          </a:xfrm>
          <a:prstGeom prst="rect">
            <a:avLst/>
          </a:prstGeom>
          <a:noFill/>
          <a:ln>
            <a:noFill/>
          </a:ln>
        </p:spPr>
      </p:pic>
      <p:pic>
        <p:nvPicPr>
          <p:cNvPr id="175" name="Google Shape;175;p17" title="[0,0,0,&quot;https://www.codecogs.com/eqnedit.php?latex=h_%7B%5Ctext%7BEND%7D(s)%7D%20%3D%20%5Ctext%7BBERT%7D_%7B%5Ctext%7BEND%7D(s)%7D(%5Ctext%7Bjoin%7D_%7B%5Ctext%7BBERT%7D%7D(x%2C%20z_%7B%5Ctext%7Bbody%7D%7D))#0&quot;]"/>
          <p:cNvPicPr preferRelativeResize="0"/>
          <p:nvPr/>
        </p:nvPicPr>
        <p:blipFill>
          <a:blip r:embed="rId8">
            <a:alphaModFix/>
          </a:blip>
          <a:stretch>
            <a:fillRect/>
          </a:stretch>
        </p:blipFill>
        <p:spPr>
          <a:xfrm>
            <a:off x="6383154" y="5234608"/>
            <a:ext cx="5077977" cy="3097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8"/>
          <p:cNvSpPr txBox="1"/>
          <p:nvPr/>
        </p:nvSpPr>
        <p:spPr>
          <a:xfrm>
            <a:off x="230395" y="1142127"/>
            <a:ext cx="11327100" cy="5028300"/>
          </a:xfrm>
          <a:prstGeom prst="rect">
            <a:avLst/>
          </a:prstGeom>
          <a:noFill/>
          <a:ln>
            <a:noFill/>
          </a:ln>
        </p:spPr>
        <p:txBody>
          <a:bodyPr spcFirstLastPara="1" wrap="square" lIns="91425" tIns="45700" rIns="91425" bIns="45700" anchor="t" anchorCtr="0">
            <a:noAutofit/>
          </a:bodyPr>
          <a:lstStyle/>
          <a:p>
            <a:pPr marL="0" marR="0" lvl="1" indent="0" algn="l" rtl="0">
              <a:lnSpc>
                <a:spcPct val="114999"/>
              </a:lnSpc>
              <a:spcBef>
                <a:spcPts val="1200"/>
              </a:spcBef>
              <a:spcAft>
                <a:spcPts val="0"/>
              </a:spcAft>
              <a:buClr>
                <a:srgbClr val="000000"/>
              </a:buClr>
              <a:buSzPts val="2400"/>
              <a:buFont typeface="Courier New"/>
              <a:buNone/>
            </a:pPr>
            <a:r>
              <a:rPr lang="en-US" sz="2400" b="1" dirty="0">
                <a:solidFill>
                  <a:schemeClr val="dk1"/>
                </a:solidFill>
                <a:latin typeface="Times New Roman"/>
                <a:ea typeface="Times New Roman"/>
                <a:cs typeface="Times New Roman"/>
                <a:sym typeface="Times New Roman"/>
              </a:rPr>
              <a:t>Training Objective:</a:t>
            </a:r>
            <a:endParaRPr sz="2400" b="1" dirty="0">
              <a:solidFill>
                <a:schemeClr val="dk1"/>
              </a:solidFill>
              <a:latin typeface="Times New Roman"/>
              <a:ea typeface="Times New Roman"/>
              <a:cs typeface="Times New Roman"/>
              <a:sym typeface="Times New Roman"/>
            </a:endParaRPr>
          </a:p>
          <a:p>
            <a:pPr marL="457200" marR="0" lvl="0" indent="-336550" algn="l" rtl="0">
              <a:lnSpc>
                <a:spcPct val="114999"/>
              </a:lnSpc>
              <a:spcBef>
                <a:spcPts val="1200"/>
              </a:spcBef>
              <a:spcAft>
                <a:spcPts val="0"/>
              </a:spcAft>
              <a:buClr>
                <a:schemeClr val="dk1"/>
              </a:buClr>
              <a:buSzPts val="1700"/>
              <a:buFont typeface="Times New Roman"/>
              <a:buChar char="●"/>
            </a:pPr>
            <a:r>
              <a:rPr lang="en-US" sz="2400" dirty="0">
                <a:solidFill>
                  <a:schemeClr val="dk1"/>
                </a:solidFill>
                <a:latin typeface="Times New Roman"/>
                <a:ea typeface="Times New Roman"/>
                <a:cs typeface="Times New Roman"/>
                <a:sym typeface="Times New Roman"/>
              </a:rPr>
              <a:t>Maximize log-likelihood: log p(</a:t>
            </a:r>
            <a:r>
              <a:rPr lang="en-US" sz="2400" dirty="0" err="1">
                <a:solidFill>
                  <a:schemeClr val="dk1"/>
                </a:solidFill>
                <a:latin typeface="Times New Roman"/>
                <a:ea typeface="Times New Roman"/>
                <a:cs typeface="Times New Roman"/>
                <a:sym typeface="Times New Roman"/>
              </a:rPr>
              <a:t>y|x</a:t>
            </a:r>
            <a:r>
              <a:rPr lang="en-US" sz="2400" dirty="0">
                <a:solidFill>
                  <a:schemeClr val="dk1"/>
                </a:solidFill>
                <a:latin typeface="Times New Roman"/>
                <a:ea typeface="Times New Roman"/>
                <a:cs typeface="Times New Roman"/>
                <a:sym typeface="Times New Roman"/>
              </a:rPr>
              <a:t>) of correct output y</a:t>
            </a:r>
            <a:endParaRPr sz="2400" dirty="0">
              <a:solidFill>
                <a:schemeClr val="dk1"/>
              </a:solidFill>
              <a:latin typeface="Times New Roman"/>
              <a:ea typeface="Times New Roman"/>
              <a:cs typeface="Times New Roman"/>
              <a:sym typeface="Times New Roman"/>
            </a:endParaRPr>
          </a:p>
          <a:p>
            <a:pPr marL="457200" marR="0" lvl="0" indent="-336550" algn="l" rtl="0">
              <a:lnSpc>
                <a:spcPct val="114999"/>
              </a:lnSpc>
              <a:spcBef>
                <a:spcPts val="0"/>
              </a:spcBef>
              <a:spcAft>
                <a:spcPts val="0"/>
              </a:spcAft>
              <a:buClr>
                <a:schemeClr val="dk1"/>
              </a:buClr>
              <a:buSzPts val="1700"/>
              <a:buFont typeface="Times New Roman"/>
              <a:buChar char="●"/>
            </a:pPr>
            <a:r>
              <a:rPr lang="en-US" sz="2400" dirty="0">
                <a:solidFill>
                  <a:schemeClr val="dk1"/>
                </a:solidFill>
                <a:latin typeface="Times New Roman"/>
                <a:ea typeface="Times New Roman"/>
                <a:cs typeface="Times New Roman"/>
                <a:sym typeface="Times New Roman"/>
              </a:rPr>
              <a:t>Optimize parameters retriever and encoder with differentiable neural networks</a:t>
            </a:r>
            <a:endParaRPr sz="2400" dirty="0">
              <a:solidFill>
                <a:schemeClr val="dk1"/>
              </a:solidFill>
              <a:latin typeface="Times New Roman"/>
              <a:ea typeface="Times New Roman"/>
              <a:cs typeface="Times New Roman"/>
              <a:sym typeface="Times New Roman"/>
            </a:endParaRPr>
          </a:p>
          <a:p>
            <a:pPr marL="0" marR="0" lvl="1" indent="0" algn="l" rtl="0">
              <a:lnSpc>
                <a:spcPct val="114999"/>
              </a:lnSpc>
              <a:spcBef>
                <a:spcPts val="1200"/>
              </a:spcBef>
              <a:spcAft>
                <a:spcPts val="0"/>
              </a:spcAft>
              <a:buClr>
                <a:srgbClr val="000000"/>
              </a:buClr>
              <a:buSzPts val="2400"/>
              <a:buFont typeface="Courier New"/>
              <a:buNone/>
            </a:pPr>
            <a:endParaRPr sz="2400" b="1" dirty="0">
              <a:solidFill>
                <a:schemeClr val="dk1"/>
              </a:solidFill>
              <a:latin typeface="Times New Roman"/>
              <a:ea typeface="Times New Roman"/>
              <a:cs typeface="Times New Roman"/>
              <a:sym typeface="Times New Roman"/>
            </a:endParaRPr>
          </a:p>
        </p:txBody>
      </p:sp>
      <p:sp>
        <p:nvSpPr>
          <p:cNvPr id="181" name="Google Shape;181;p18"/>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82" name="Google Shape;182;p18"/>
          <p:cNvSpPr txBox="1"/>
          <p:nvPr/>
        </p:nvSpPr>
        <p:spPr>
          <a:xfrm>
            <a:off x="114162" y="145685"/>
            <a:ext cx="109101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a:solidFill>
                  <a:schemeClr val="lt1"/>
                </a:solidFill>
                <a:latin typeface="Times New Roman"/>
                <a:ea typeface="Times New Roman"/>
                <a:cs typeface="Times New Roman"/>
                <a:sym typeface="Times New Roman"/>
              </a:rPr>
              <a:t>Training</a:t>
            </a:r>
            <a:endParaRPr sz="1400" b="0" i="0" u="none" strike="noStrike" cap="none">
              <a:solidFill>
                <a:srgbClr val="000000"/>
              </a:solidFill>
              <a:latin typeface="Arial"/>
              <a:ea typeface="Arial"/>
              <a:cs typeface="Arial"/>
              <a:sym typeface="Arial"/>
            </a:endParaRPr>
          </a:p>
        </p:txBody>
      </p:sp>
      <p:pic>
        <p:nvPicPr>
          <p:cNvPr id="183" name="Google Shape;183;p18"/>
          <p:cNvPicPr preferRelativeResize="0"/>
          <p:nvPr/>
        </p:nvPicPr>
        <p:blipFill rotWithShape="1">
          <a:blip r:embed="rId3">
            <a:alphaModFix/>
          </a:blip>
          <a:srcRect/>
          <a:stretch/>
        </p:blipFill>
        <p:spPr>
          <a:xfrm>
            <a:off x="11557509" y="233819"/>
            <a:ext cx="271309" cy="389810"/>
          </a:xfrm>
          <a:prstGeom prst="rect">
            <a:avLst/>
          </a:prstGeom>
          <a:noFill/>
          <a:ln>
            <a:noFill/>
          </a:ln>
        </p:spPr>
      </p:pic>
      <p:sp>
        <p:nvSpPr>
          <p:cNvPr id="184" name="Google Shape;184;p18"/>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185" name="Google Shape;185;p18"/>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186" name="Google Shape;186;p18"/>
          <p:cNvGrpSpPr/>
          <p:nvPr/>
        </p:nvGrpSpPr>
        <p:grpSpPr>
          <a:xfrm>
            <a:off x="2622925" y="6601537"/>
            <a:ext cx="6677215" cy="70500"/>
            <a:chOff x="2589675" y="6601537"/>
            <a:chExt cx="6677215" cy="70500"/>
          </a:xfrm>
        </p:grpSpPr>
        <p:cxnSp>
          <p:nvCxnSpPr>
            <p:cNvPr id="187" name="Google Shape;187;p18"/>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188" name="Google Shape;188;p18"/>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189" name="Google Shape;189;p18"/>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pic>
        <p:nvPicPr>
          <p:cNvPr id="190" name="Google Shape;190;p18" title="[0,0,0,&quot;https://www.codecogs.com/eqnedit.php?latex=p(y%7Cx)%20%3D%20%5Csum_%7Bz%20%5Cin%20Z%7D%20p(y%7Cz%2Cx)p(z%7Cx)#0&quot;]"/>
          <p:cNvPicPr preferRelativeResize="0"/>
          <p:nvPr/>
        </p:nvPicPr>
        <p:blipFill>
          <a:blip r:embed="rId4">
            <a:alphaModFix/>
          </a:blip>
          <a:stretch>
            <a:fillRect/>
          </a:stretch>
        </p:blipFill>
        <p:spPr>
          <a:xfrm>
            <a:off x="5071103" y="3685284"/>
            <a:ext cx="3612476" cy="676175"/>
          </a:xfrm>
          <a:prstGeom prst="rect">
            <a:avLst/>
          </a:prstGeom>
          <a:noFill/>
          <a:ln>
            <a:noFill/>
          </a:ln>
        </p:spPr>
      </p:pic>
      <p:sp>
        <p:nvSpPr>
          <p:cNvPr id="3" name="TextBox 2">
            <a:extLst>
              <a:ext uri="{FF2B5EF4-FFF2-40B4-BE49-F238E27FC236}">
                <a16:creationId xmlns:a16="http://schemas.microsoft.com/office/drawing/2014/main" id="{C29ADEE3-A99F-E7BF-FC66-0FB6C2EC7F25}"/>
              </a:ext>
            </a:extLst>
          </p:cNvPr>
          <p:cNvSpPr txBox="1"/>
          <p:nvPr/>
        </p:nvSpPr>
        <p:spPr>
          <a:xfrm>
            <a:off x="230394" y="4480824"/>
            <a:ext cx="11142455" cy="1061637"/>
          </a:xfrm>
          <a:prstGeom prst="rect">
            <a:avLst/>
          </a:prstGeom>
          <a:noFill/>
        </p:spPr>
        <p:txBody>
          <a:bodyPr wrap="square">
            <a:spAutoFit/>
          </a:bodyPr>
          <a:lstStyle/>
          <a:p>
            <a:pPr marL="0" marR="0" lvl="1" indent="0" algn="l" rtl="0">
              <a:lnSpc>
                <a:spcPct val="114999"/>
              </a:lnSpc>
              <a:spcBef>
                <a:spcPts val="1200"/>
              </a:spcBef>
              <a:spcAft>
                <a:spcPts val="0"/>
              </a:spcAft>
              <a:buClr>
                <a:srgbClr val="000000"/>
              </a:buClr>
              <a:buSzPts val="2400"/>
              <a:buFont typeface="Courier New"/>
              <a:buNone/>
            </a:pPr>
            <a:r>
              <a:rPr lang="en-US" sz="2400" b="1" dirty="0">
                <a:solidFill>
                  <a:schemeClr val="dk1"/>
                </a:solidFill>
                <a:latin typeface="Times New Roman"/>
                <a:ea typeface="Times New Roman"/>
                <a:cs typeface="Times New Roman"/>
                <a:sym typeface="Times New Roman"/>
              </a:rPr>
              <a:t>Solution: </a:t>
            </a:r>
            <a:r>
              <a:rPr lang="en-US" sz="2400" dirty="0">
                <a:solidFill>
                  <a:schemeClr val="dk1"/>
                </a:solidFill>
                <a:latin typeface="Times New Roman"/>
                <a:ea typeface="Times New Roman"/>
                <a:cs typeface="Times New Roman"/>
                <a:sym typeface="Times New Roman"/>
              </a:rPr>
              <a:t>Approximate sum using only top-k documents with highest p(</a:t>
            </a:r>
            <a:r>
              <a:rPr lang="en-US" sz="2400" dirty="0" err="1">
                <a:solidFill>
                  <a:schemeClr val="dk1"/>
                </a:solidFill>
                <a:latin typeface="Times New Roman"/>
                <a:ea typeface="Times New Roman"/>
                <a:cs typeface="Times New Roman"/>
                <a:sym typeface="Times New Roman"/>
              </a:rPr>
              <a:t>z|x</a:t>
            </a:r>
            <a:r>
              <a:rPr lang="en-US" sz="2400" dirty="0">
                <a:solidFill>
                  <a:schemeClr val="dk1"/>
                </a:solidFill>
                <a:latin typeface="Times New Roman"/>
                <a:ea typeface="Times New Roman"/>
                <a:cs typeface="Times New Roman"/>
                <a:sym typeface="Times New Roman"/>
              </a:rPr>
              <a:t>)</a:t>
            </a:r>
            <a:endParaRPr lang="en-US" sz="2400" b="1" dirty="0">
              <a:solidFill>
                <a:schemeClr val="dk1"/>
              </a:solidFill>
              <a:latin typeface="Times New Roman"/>
              <a:ea typeface="Times New Roman"/>
              <a:cs typeface="Times New Roman"/>
              <a:sym typeface="Times New Roman"/>
            </a:endParaRPr>
          </a:p>
          <a:p>
            <a:pPr marL="457200" marR="0" lvl="0" indent="-336550" algn="l" rtl="0">
              <a:lnSpc>
                <a:spcPct val="114999"/>
              </a:lnSpc>
              <a:spcBef>
                <a:spcPts val="1200"/>
              </a:spcBef>
              <a:spcAft>
                <a:spcPts val="0"/>
              </a:spcAft>
              <a:buClr>
                <a:schemeClr val="dk1"/>
              </a:buClr>
              <a:buSzPts val="1700"/>
              <a:buFont typeface="Times New Roman"/>
              <a:buChar char="●"/>
            </a:pPr>
            <a:r>
              <a:rPr lang="en-US" sz="2400" dirty="0">
                <a:solidFill>
                  <a:schemeClr val="dk1"/>
                </a:solidFill>
                <a:latin typeface="Times New Roman"/>
                <a:ea typeface="Times New Roman"/>
                <a:cs typeface="Times New Roman"/>
                <a:sym typeface="Times New Roman"/>
              </a:rPr>
              <a:t>Use Maximum Inner Product Search (MIPS) for efficient top-k search</a:t>
            </a:r>
          </a:p>
        </p:txBody>
      </p:sp>
      <p:sp>
        <p:nvSpPr>
          <p:cNvPr id="5" name="TextBox 4">
            <a:extLst>
              <a:ext uri="{FF2B5EF4-FFF2-40B4-BE49-F238E27FC236}">
                <a16:creationId xmlns:a16="http://schemas.microsoft.com/office/drawing/2014/main" id="{9F960252-2F45-B4D0-E979-588948346F9B}"/>
              </a:ext>
            </a:extLst>
          </p:cNvPr>
          <p:cNvSpPr txBox="1"/>
          <p:nvPr/>
        </p:nvSpPr>
        <p:spPr>
          <a:xfrm>
            <a:off x="230394" y="3065233"/>
            <a:ext cx="6122194" cy="1061637"/>
          </a:xfrm>
          <a:prstGeom prst="rect">
            <a:avLst/>
          </a:prstGeom>
          <a:noFill/>
        </p:spPr>
        <p:txBody>
          <a:bodyPr wrap="square">
            <a:spAutoFit/>
          </a:bodyPr>
          <a:lstStyle/>
          <a:p>
            <a:pPr marL="0" marR="0" lvl="1" indent="0" algn="l" rtl="0">
              <a:lnSpc>
                <a:spcPct val="114999"/>
              </a:lnSpc>
              <a:spcBef>
                <a:spcPts val="1200"/>
              </a:spcBef>
              <a:spcAft>
                <a:spcPts val="0"/>
              </a:spcAft>
              <a:buClr>
                <a:srgbClr val="000000"/>
              </a:buClr>
              <a:buSzPts val="2400"/>
              <a:buFont typeface="Courier New"/>
              <a:buNone/>
            </a:pPr>
            <a:r>
              <a:rPr lang="en-US" sz="2400" b="1" dirty="0">
                <a:solidFill>
                  <a:schemeClr val="dk1"/>
                </a:solidFill>
                <a:latin typeface="Times New Roman"/>
                <a:ea typeface="Times New Roman"/>
                <a:cs typeface="Times New Roman"/>
                <a:sym typeface="Times New Roman"/>
              </a:rPr>
              <a:t>Computational Challenge:</a:t>
            </a:r>
          </a:p>
          <a:p>
            <a:pPr marL="457200" marR="0" lvl="0" indent="-336550" algn="l" rtl="0">
              <a:lnSpc>
                <a:spcPct val="114999"/>
              </a:lnSpc>
              <a:spcBef>
                <a:spcPts val="1200"/>
              </a:spcBef>
              <a:spcAft>
                <a:spcPts val="0"/>
              </a:spcAft>
              <a:buClr>
                <a:schemeClr val="dk1"/>
              </a:buClr>
              <a:buSzPts val="1700"/>
              <a:buFont typeface="Times New Roman"/>
              <a:buChar char="●"/>
            </a:pPr>
            <a:r>
              <a:rPr lang="en-US" sz="2400" dirty="0">
                <a:solidFill>
                  <a:schemeClr val="dk1"/>
                </a:solidFill>
                <a:latin typeface="Times New Roman"/>
                <a:ea typeface="Times New Roman"/>
                <a:cs typeface="Times New Roman"/>
                <a:sym typeface="Times New Roman"/>
              </a:rPr>
              <a:t>Expensive for massive corpus z: </a:t>
            </a:r>
            <a:endParaRPr lang="en-US" sz="2400" b="1" dirty="0">
              <a:solidFill>
                <a:schemeClr val="dk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19"/>
          <p:cNvSpPr txBox="1"/>
          <p:nvPr/>
        </p:nvSpPr>
        <p:spPr>
          <a:xfrm>
            <a:off x="162550" y="1142125"/>
            <a:ext cx="6240600" cy="5126700"/>
          </a:xfrm>
          <a:prstGeom prst="rect">
            <a:avLst/>
          </a:prstGeom>
          <a:noFill/>
          <a:ln>
            <a:noFill/>
          </a:ln>
        </p:spPr>
        <p:txBody>
          <a:bodyPr spcFirstLastPara="1" wrap="square" lIns="91425" tIns="45700" rIns="91425" bIns="45700" anchor="t" anchorCtr="0">
            <a:noAutofit/>
          </a:bodyPr>
          <a:lstStyle/>
          <a:p>
            <a:pPr marL="0" marR="0" lvl="0" indent="0" algn="l" rtl="0">
              <a:lnSpc>
                <a:spcPct val="114999"/>
              </a:lnSpc>
              <a:spcBef>
                <a:spcPts val="1200"/>
              </a:spcBef>
              <a:spcAft>
                <a:spcPts val="0"/>
              </a:spcAft>
              <a:buNone/>
            </a:pPr>
            <a:r>
              <a:rPr lang="en-US" sz="2400" b="1">
                <a:solidFill>
                  <a:schemeClr val="dk1"/>
                </a:solidFill>
                <a:latin typeface="Times New Roman"/>
                <a:ea typeface="Times New Roman"/>
                <a:cs typeface="Times New Roman"/>
                <a:sym typeface="Times New Roman"/>
              </a:rPr>
              <a:t>Challenges:</a:t>
            </a:r>
            <a:endParaRPr sz="2400" b="1">
              <a:solidFill>
                <a:schemeClr val="dk1"/>
              </a:solidFill>
              <a:latin typeface="Times New Roman"/>
              <a:ea typeface="Times New Roman"/>
              <a:cs typeface="Times New Roman"/>
              <a:sym typeface="Times New Roman"/>
            </a:endParaRPr>
          </a:p>
          <a:p>
            <a:pPr marL="457200" marR="0" lvl="0" indent="-349250" algn="l" rtl="0">
              <a:lnSpc>
                <a:spcPct val="114999"/>
              </a:lnSpc>
              <a:spcBef>
                <a:spcPts val="1200"/>
              </a:spcBef>
              <a:spcAft>
                <a:spcPts val="0"/>
              </a:spcAft>
              <a:buClr>
                <a:schemeClr val="dk1"/>
              </a:buClr>
              <a:buSzPts val="1900"/>
              <a:buFont typeface="Times New Roman"/>
              <a:buChar char="●"/>
            </a:pPr>
            <a:r>
              <a:rPr lang="en-US" sz="2400">
                <a:solidFill>
                  <a:schemeClr val="dk1"/>
                </a:solidFill>
                <a:latin typeface="Times New Roman"/>
                <a:ea typeface="Times New Roman"/>
                <a:cs typeface="Times New Roman"/>
                <a:sym typeface="Times New Roman"/>
              </a:rPr>
              <a:t>MIPS requires pre-computing embeddings for all documents and build index</a:t>
            </a:r>
            <a:endParaRPr sz="2400">
              <a:solidFill>
                <a:schemeClr val="dk1"/>
              </a:solidFill>
              <a:latin typeface="Times New Roman"/>
              <a:ea typeface="Times New Roman"/>
              <a:cs typeface="Times New Roman"/>
              <a:sym typeface="Times New Roman"/>
            </a:endParaRPr>
          </a:p>
          <a:p>
            <a:pPr marL="457200" marR="0" lvl="0" indent="-349250" algn="l" rtl="0">
              <a:lnSpc>
                <a:spcPct val="114999"/>
              </a:lnSpc>
              <a:spcBef>
                <a:spcPts val="0"/>
              </a:spcBef>
              <a:spcAft>
                <a:spcPts val="0"/>
              </a:spcAft>
              <a:buClr>
                <a:schemeClr val="dk1"/>
              </a:buClr>
              <a:buSzPts val="1900"/>
              <a:buFont typeface="Times New Roman"/>
              <a:buChar char="●"/>
            </a:pPr>
            <a:r>
              <a:rPr lang="en-US" sz="2400">
                <a:solidFill>
                  <a:schemeClr val="dk1"/>
                </a:solidFill>
                <a:latin typeface="Times New Roman"/>
                <a:ea typeface="Times New Roman"/>
                <a:cs typeface="Times New Roman"/>
                <a:sym typeface="Times New Roman"/>
              </a:rPr>
              <a:t>Index becomes stale when updating</a:t>
            </a:r>
            <a:endParaRPr sz="2400">
              <a:solidFill>
                <a:schemeClr val="dk1"/>
              </a:solidFill>
              <a:latin typeface="Times New Roman"/>
              <a:ea typeface="Times New Roman"/>
              <a:cs typeface="Times New Roman"/>
              <a:sym typeface="Times New Roman"/>
            </a:endParaRPr>
          </a:p>
          <a:p>
            <a:pPr marL="0" marR="0" lvl="0" indent="0" algn="l" rtl="0">
              <a:lnSpc>
                <a:spcPct val="114999"/>
              </a:lnSpc>
              <a:spcBef>
                <a:spcPts val="1200"/>
              </a:spcBef>
              <a:spcAft>
                <a:spcPts val="0"/>
              </a:spcAft>
              <a:buNone/>
            </a:pPr>
            <a:r>
              <a:rPr lang="en-US" sz="2400" b="1">
                <a:solidFill>
                  <a:schemeClr val="dk1"/>
                </a:solidFill>
                <a:latin typeface="Times New Roman"/>
                <a:ea typeface="Times New Roman"/>
                <a:cs typeface="Times New Roman"/>
                <a:sym typeface="Times New Roman"/>
              </a:rPr>
              <a:t>Solution:</a:t>
            </a:r>
            <a:endParaRPr sz="2400" b="1">
              <a:solidFill>
                <a:schemeClr val="dk1"/>
              </a:solidFill>
              <a:latin typeface="Times New Roman"/>
              <a:ea typeface="Times New Roman"/>
              <a:cs typeface="Times New Roman"/>
              <a:sym typeface="Times New Roman"/>
            </a:endParaRPr>
          </a:p>
          <a:p>
            <a:pPr marL="457200" lvl="0" indent="-349250" algn="l" rtl="0">
              <a:lnSpc>
                <a:spcPct val="114999"/>
              </a:lnSpc>
              <a:spcBef>
                <a:spcPts val="1200"/>
              </a:spcBef>
              <a:spcAft>
                <a:spcPts val="0"/>
              </a:spcAft>
              <a:buClr>
                <a:schemeClr val="dk1"/>
              </a:buClr>
              <a:buSzPts val="1900"/>
              <a:buFont typeface="Times New Roman"/>
              <a:buChar char="●"/>
            </a:pPr>
            <a:r>
              <a:rPr lang="en-US" sz="2400">
                <a:solidFill>
                  <a:schemeClr val="dk1"/>
                </a:solidFill>
                <a:latin typeface="Times New Roman"/>
                <a:ea typeface="Times New Roman"/>
                <a:cs typeface="Times New Roman"/>
                <a:sym typeface="Times New Roman"/>
              </a:rPr>
              <a:t>Index refreshed every ~500 steps</a:t>
            </a:r>
            <a:endParaRPr sz="2400">
              <a:solidFill>
                <a:schemeClr val="dk1"/>
              </a:solidFill>
              <a:latin typeface="Times New Roman"/>
              <a:ea typeface="Times New Roman"/>
              <a:cs typeface="Times New Roman"/>
              <a:sym typeface="Times New Roman"/>
            </a:endParaRPr>
          </a:p>
          <a:p>
            <a:pPr marL="457200" marR="0" lvl="0" indent="-349250" algn="l" rtl="0">
              <a:lnSpc>
                <a:spcPct val="114999"/>
              </a:lnSpc>
              <a:spcBef>
                <a:spcPts val="0"/>
              </a:spcBef>
              <a:spcAft>
                <a:spcPts val="0"/>
              </a:spcAft>
              <a:buClr>
                <a:schemeClr val="dk1"/>
              </a:buClr>
              <a:buSzPts val="1900"/>
              <a:buFont typeface="Times New Roman"/>
              <a:buChar char="●"/>
            </a:pPr>
            <a:r>
              <a:rPr lang="en-US" sz="2400">
                <a:solidFill>
                  <a:schemeClr val="dk1"/>
                </a:solidFill>
                <a:latin typeface="Times New Roman"/>
                <a:ea typeface="Times New Roman"/>
                <a:cs typeface="Times New Roman"/>
                <a:sym typeface="Times New Roman"/>
              </a:rPr>
              <a:t>Main trainer: continues with fresh parameters (θ)</a:t>
            </a:r>
            <a:endParaRPr sz="2400">
              <a:solidFill>
                <a:schemeClr val="dk1"/>
              </a:solidFill>
              <a:latin typeface="Times New Roman"/>
              <a:ea typeface="Times New Roman"/>
              <a:cs typeface="Times New Roman"/>
              <a:sym typeface="Times New Roman"/>
            </a:endParaRPr>
          </a:p>
          <a:p>
            <a:pPr marL="457200" marR="0" lvl="0" indent="-349250" algn="l" rtl="0">
              <a:lnSpc>
                <a:spcPct val="114999"/>
              </a:lnSpc>
              <a:spcBef>
                <a:spcPts val="0"/>
              </a:spcBef>
              <a:spcAft>
                <a:spcPts val="0"/>
              </a:spcAft>
              <a:buClr>
                <a:schemeClr val="dk1"/>
              </a:buClr>
              <a:buSzPts val="1900"/>
              <a:buFont typeface="Times New Roman"/>
              <a:buChar char="●"/>
            </a:pPr>
            <a:r>
              <a:rPr lang="en-US" sz="2400">
                <a:solidFill>
                  <a:schemeClr val="dk1"/>
                </a:solidFill>
                <a:latin typeface="Times New Roman"/>
                <a:ea typeface="Times New Roman"/>
                <a:cs typeface="Times New Roman"/>
                <a:sym typeface="Times New Roman"/>
              </a:rPr>
              <a:t>Index builder: builds index with slightly stale parameters (θ')</a:t>
            </a:r>
            <a:endParaRPr sz="2400">
              <a:solidFill>
                <a:schemeClr val="dk1"/>
              </a:solidFill>
              <a:latin typeface="Times New Roman"/>
              <a:ea typeface="Times New Roman"/>
              <a:cs typeface="Times New Roman"/>
              <a:sym typeface="Times New Roman"/>
            </a:endParaRPr>
          </a:p>
        </p:txBody>
      </p:sp>
      <p:sp>
        <p:nvSpPr>
          <p:cNvPr id="196" name="Google Shape;196;p19"/>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97" name="Google Shape;197;p19"/>
          <p:cNvSpPr txBox="1"/>
          <p:nvPr/>
        </p:nvSpPr>
        <p:spPr>
          <a:xfrm>
            <a:off x="114162" y="145685"/>
            <a:ext cx="109101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a:solidFill>
                  <a:schemeClr val="lt1"/>
                </a:solidFill>
                <a:latin typeface="Times New Roman"/>
                <a:ea typeface="Times New Roman"/>
                <a:cs typeface="Times New Roman"/>
                <a:sym typeface="Times New Roman"/>
              </a:rPr>
              <a:t>Training - MIPS Indexing</a:t>
            </a:r>
            <a:endParaRPr sz="1400" b="0" i="0" u="none" strike="noStrike" cap="none">
              <a:solidFill>
                <a:srgbClr val="000000"/>
              </a:solidFill>
              <a:latin typeface="Arial"/>
              <a:ea typeface="Arial"/>
              <a:cs typeface="Arial"/>
              <a:sym typeface="Arial"/>
            </a:endParaRPr>
          </a:p>
        </p:txBody>
      </p:sp>
      <p:pic>
        <p:nvPicPr>
          <p:cNvPr id="198" name="Google Shape;198;p19"/>
          <p:cNvPicPr preferRelativeResize="0"/>
          <p:nvPr/>
        </p:nvPicPr>
        <p:blipFill rotWithShape="1">
          <a:blip r:embed="rId3">
            <a:alphaModFix/>
          </a:blip>
          <a:srcRect/>
          <a:stretch/>
        </p:blipFill>
        <p:spPr>
          <a:xfrm>
            <a:off x="11557509" y="233819"/>
            <a:ext cx="271309" cy="389810"/>
          </a:xfrm>
          <a:prstGeom prst="rect">
            <a:avLst/>
          </a:prstGeom>
          <a:noFill/>
          <a:ln>
            <a:noFill/>
          </a:ln>
        </p:spPr>
      </p:pic>
      <p:sp>
        <p:nvSpPr>
          <p:cNvPr id="199" name="Google Shape;199;p19"/>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200" name="Google Shape;200;p19"/>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201" name="Google Shape;201;p19"/>
          <p:cNvGrpSpPr/>
          <p:nvPr/>
        </p:nvGrpSpPr>
        <p:grpSpPr>
          <a:xfrm>
            <a:off x="2622925" y="6601537"/>
            <a:ext cx="6677215" cy="70500"/>
            <a:chOff x="2589675" y="6601537"/>
            <a:chExt cx="6677215" cy="70500"/>
          </a:xfrm>
        </p:grpSpPr>
        <p:cxnSp>
          <p:nvCxnSpPr>
            <p:cNvPr id="202" name="Google Shape;202;p19"/>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203" name="Google Shape;203;p19"/>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204" name="Google Shape;204;p19"/>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pic>
        <p:nvPicPr>
          <p:cNvPr id="205" name="Google Shape;205;p19"/>
          <p:cNvPicPr preferRelativeResize="0"/>
          <p:nvPr/>
        </p:nvPicPr>
        <p:blipFill>
          <a:blip r:embed="rId4">
            <a:alphaModFix/>
          </a:blip>
          <a:stretch>
            <a:fillRect/>
          </a:stretch>
        </p:blipFill>
        <p:spPr>
          <a:xfrm>
            <a:off x="5951900" y="1528595"/>
            <a:ext cx="5876925" cy="1895475"/>
          </a:xfrm>
          <a:prstGeom prst="rect">
            <a:avLst/>
          </a:prstGeom>
          <a:noFill/>
          <a:ln>
            <a:noFill/>
          </a:ln>
        </p:spPr>
      </p:pic>
      <p:sp>
        <p:nvSpPr>
          <p:cNvPr id="206" name="Google Shape;206;p19"/>
          <p:cNvSpPr txBox="1"/>
          <p:nvPr/>
        </p:nvSpPr>
        <p:spPr>
          <a:xfrm>
            <a:off x="6835625" y="3863750"/>
            <a:ext cx="4993200" cy="1669200"/>
          </a:xfrm>
          <a:prstGeom prst="rect">
            <a:avLst/>
          </a:prstGeom>
          <a:noFill/>
          <a:ln>
            <a:noFill/>
          </a:ln>
        </p:spPr>
        <p:txBody>
          <a:bodyPr spcFirstLastPara="1" wrap="square" lIns="91425" tIns="45700" rIns="91425" bIns="45700" anchor="t" anchorCtr="0">
            <a:noAutofit/>
          </a:bodyPr>
          <a:lstStyle/>
          <a:p>
            <a:pPr marL="457200" marR="0" lvl="0" indent="-349250" algn="l" rtl="0">
              <a:lnSpc>
                <a:spcPct val="114999"/>
              </a:lnSpc>
              <a:spcBef>
                <a:spcPts val="1200"/>
              </a:spcBef>
              <a:spcAft>
                <a:spcPts val="0"/>
              </a:spcAft>
              <a:buClr>
                <a:schemeClr val="dk1"/>
              </a:buClr>
              <a:buSzPts val="1900"/>
              <a:buFont typeface="Times New Roman"/>
              <a:buChar char="●"/>
            </a:pPr>
            <a:r>
              <a:rPr lang="en-US" sz="2400">
                <a:solidFill>
                  <a:schemeClr val="dk1"/>
                </a:solidFill>
                <a:latin typeface="Times New Roman"/>
                <a:ea typeface="Times New Roman"/>
                <a:cs typeface="Times New Roman"/>
                <a:sym typeface="Times New Roman"/>
              </a:rPr>
              <a:t>Used only during pre-training</a:t>
            </a:r>
            <a:endParaRPr sz="2400">
              <a:solidFill>
                <a:schemeClr val="dk1"/>
              </a:solidFill>
              <a:latin typeface="Times New Roman"/>
              <a:ea typeface="Times New Roman"/>
              <a:cs typeface="Times New Roman"/>
              <a:sym typeface="Times New Roman"/>
            </a:endParaRPr>
          </a:p>
          <a:p>
            <a:pPr marL="457200" marR="0" lvl="0" indent="-349250" algn="l" rtl="0">
              <a:lnSpc>
                <a:spcPct val="114999"/>
              </a:lnSpc>
              <a:spcBef>
                <a:spcPts val="0"/>
              </a:spcBef>
              <a:spcAft>
                <a:spcPts val="0"/>
              </a:spcAft>
              <a:buClr>
                <a:schemeClr val="dk1"/>
              </a:buClr>
              <a:buSzPts val="1900"/>
              <a:buFont typeface="Times New Roman"/>
              <a:buChar char="●"/>
            </a:pPr>
            <a:r>
              <a:rPr lang="en-US" sz="2400">
                <a:solidFill>
                  <a:schemeClr val="dk1"/>
                </a:solidFill>
                <a:latin typeface="Times New Roman"/>
                <a:ea typeface="Times New Roman"/>
                <a:cs typeface="Times New Roman"/>
                <a:sym typeface="Times New Roman"/>
              </a:rPr>
              <a:t>Fine-tuning: Index built once with pre-trained parameters</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0"/>
          <p:cNvSpPr txBox="1"/>
          <p:nvPr/>
        </p:nvSpPr>
        <p:spPr>
          <a:xfrm>
            <a:off x="162550" y="1142125"/>
            <a:ext cx="10910100" cy="5126700"/>
          </a:xfrm>
          <a:prstGeom prst="rect">
            <a:avLst/>
          </a:prstGeom>
          <a:noFill/>
          <a:ln>
            <a:noFill/>
          </a:ln>
        </p:spPr>
        <p:txBody>
          <a:bodyPr spcFirstLastPara="1" wrap="square" lIns="91425" tIns="45700" rIns="91425" bIns="45700" anchor="t" anchorCtr="0">
            <a:noAutofit/>
          </a:bodyPr>
          <a:lstStyle/>
          <a:p>
            <a:pPr marL="0" marR="0" lvl="0" indent="0" algn="l" rtl="0">
              <a:lnSpc>
                <a:spcPct val="114999"/>
              </a:lnSpc>
              <a:spcBef>
                <a:spcPts val="1200"/>
              </a:spcBef>
              <a:spcAft>
                <a:spcPts val="0"/>
              </a:spcAft>
              <a:buNone/>
            </a:pPr>
            <a:r>
              <a:rPr lang="en-US" sz="2400" b="1" dirty="0">
                <a:solidFill>
                  <a:schemeClr val="dk1"/>
                </a:solidFill>
                <a:latin typeface="Times New Roman"/>
                <a:ea typeface="Times New Roman"/>
                <a:cs typeface="Times New Roman"/>
                <a:sym typeface="Times New Roman"/>
              </a:rPr>
              <a:t>Gradient Formula</a:t>
            </a:r>
            <a:endParaRPr sz="2400" b="1" dirty="0">
              <a:solidFill>
                <a:schemeClr val="dk1"/>
              </a:solidFill>
              <a:latin typeface="Times New Roman"/>
              <a:ea typeface="Times New Roman"/>
              <a:cs typeface="Times New Roman"/>
              <a:sym typeface="Times New Roman"/>
            </a:endParaRPr>
          </a:p>
          <a:p>
            <a:pPr marL="0" marR="0" lvl="0" indent="0" algn="l" rtl="0">
              <a:lnSpc>
                <a:spcPct val="114999"/>
              </a:lnSpc>
              <a:spcBef>
                <a:spcPts val="1200"/>
              </a:spcBef>
              <a:spcAft>
                <a:spcPts val="0"/>
              </a:spcAft>
              <a:buNone/>
            </a:pPr>
            <a:r>
              <a:rPr lang="en-US" sz="2400" b="1" dirty="0">
                <a:solidFill>
                  <a:schemeClr val="dk1"/>
                </a:solidFill>
                <a:latin typeface="Times New Roman"/>
                <a:ea typeface="Times New Roman"/>
                <a:cs typeface="Times New Roman"/>
                <a:sym typeface="Times New Roman"/>
              </a:rPr>
              <a:t> </a:t>
            </a:r>
            <a:endParaRPr sz="2400" b="1" dirty="0">
              <a:solidFill>
                <a:schemeClr val="dk1"/>
              </a:solidFill>
              <a:latin typeface="Times New Roman"/>
              <a:ea typeface="Times New Roman"/>
              <a:cs typeface="Times New Roman"/>
              <a:sym typeface="Times New Roman"/>
            </a:endParaRPr>
          </a:p>
          <a:p>
            <a:pPr marL="0" marR="0" lvl="0" indent="0" algn="l" rtl="0">
              <a:lnSpc>
                <a:spcPct val="114999"/>
              </a:lnSpc>
              <a:spcBef>
                <a:spcPts val="1200"/>
              </a:spcBef>
              <a:spcAft>
                <a:spcPts val="0"/>
              </a:spcAft>
              <a:buNone/>
            </a:pPr>
            <a:endParaRPr sz="2400" b="1">
              <a:solidFill>
                <a:schemeClr val="dk1"/>
              </a:solidFill>
              <a:latin typeface="Times New Roman"/>
              <a:ea typeface="Times New Roman"/>
              <a:cs typeface="Times New Roman"/>
              <a:sym typeface="Times New Roman"/>
            </a:endParaRPr>
          </a:p>
          <a:p>
            <a:pPr marL="0" marR="0" lvl="0" indent="0" algn="l" rtl="0">
              <a:lnSpc>
                <a:spcPct val="114999"/>
              </a:lnSpc>
              <a:spcBef>
                <a:spcPts val="1200"/>
              </a:spcBef>
              <a:spcAft>
                <a:spcPts val="0"/>
              </a:spcAft>
              <a:buNone/>
            </a:pPr>
            <a:endParaRPr sz="2400" b="1">
              <a:solidFill>
                <a:schemeClr val="dk1"/>
              </a:solidFill>
              <a:latin typeface="Times New Roman"/>
              <a:ea typeface="Times New Roman"/>
              <a:cs typeface="Times New Roman"/>
              <a:sym typeface="Times New Roman"/>
            </a:endParaRPr>
          </a:p>
          <a:p>
            <a:pPr marL="0" marR="0" lvl="0" indent="0" algn="l" rtl="0">
              <a:lnSpc>
                <a:spcPct val="114999"/>
              </a:lnSpc>
              <a:spcBef>
                <a:spcPts val="1200"/>
              </a:spcBef>
              <a:spcAft>
                <a:spcPts val="0"/>
              </a:spcAft>
              <a:buNone/>
            </a:pPr>
            <a:endParaRPr sz="2400" b="1">
              <a:solidFill>
                <a:schemeClr val="dk1"/>
              </a:solidFill>
              <a:latin typeface="Times New Roman"/>
              <a:ea typeface="Times New Roman"/>
              <a:cs typeface="Times New Roman"/>
              <a:sym typeface="Times New Roman"/>
            </a:endParaRPr>
          </a:p>
          <a:p>
            <a:pPr marL="0" marR="0" lvl="0" indent="0" algn="l" rtl="0">
              <a:lnSpc>
                <a:spcPct val="114999"/>
              </a:lnSpc>
              <a:spcBef>
                <a:spcPts val="1200"/>
              </a:spcBef>
              <a:spcAft>
                <a:spcPts val="0"/>
              </a:spcAft>
              <a:buNone/>
            </a:pPr>
            <a:r>
              <a:rPr lang="en-US" sz="2400" b="1" dirty="0">
                <a:solidFill>
                  <a:schemeClr val="dk1"/>
                </a:solidFill>
                <a:latin typeface="Times New Roman"/>
                <a:ea typeface="Times New Roman"/>
                <a:cs typeface="Times New Roman"/>
                <a:sym typeface="Times New Roman"/>
              </a:rPr>
              <a:t>Learning Mechanism</a:t>
            </a:r>
            <a:endParaRPr sz="2400" b="1" dirty="0">
              <a:solidFill>
                <a:schemeClr val="dk1"/>
              </a:solidFill>
              <a:latin typeface="Times New Roman"/>
              <a:ea typeface="Times New Roman"/>
              <a:cs typeface="Times New Roman"/>
              <a:sym typeface="Times New Roman"/>
            </a:endParaRPr>
          </a:p>
          <a:p>
            <a:pPr marL="457200" indent="-349250">
              <a:lnSpc>
                <a:spcPct val="114999"/>
              </a:lnSpc>
              <a:spcBef>
                <a:spcPts val="1200"/>
              </a:spcBef>
              <a:buClr>
                <a:schemeClr val="dk1"/>
              </a:buClr>
              <a:buSzPts val="1900"/>
              <a:buFont typeface="Times New Roman"/>
              <a:buChar char="●"/>
            </a:pPr>
            <a:r>
              <a:rPr lang="en-US" sz="2400" dirty="0">
                <a:solidFill>
                  <a:schemeClr val="dk1"/>
                </a:solidFill>
                <a:latin typeface="Times New Roman"/>
                <a:ea typeface="Times New Roman"/>
                <a:cs typeface="Times New Roman"/>
                <a:sym typeface="Times New Roman"/>
              </a:rPr>
              <a:t>When r(z) &gt; 0: Gradient increases retrieval score f(</a:t>
            </a:r>
            <a:r>
              <a:rPr lang="en-US" sz="2400" dirty="0" err="1">
                <a:solidFill>
                  <a:schemeClr val="dk1"/>
                </a:solidFill>
                <a:latin typeface="Times New Roman"/>
                <a:ea typeface="Times New Roman"/>
                <a:cs typeface="Times New Roman"/>
                <a:sym typeface="Times New Roman"/>
              </a:rPr>
              <a:t>x,z</a:t>
            </a:r>
            <a:r>
              <a:rPr lang="en-US" sz="2400" dirty="0">
                <a:solidFill>
                  <a:schemeClr val="dk1"/>
                </a:solidFill>
                <a:latin typeface="Times New Roman"/>
                <a:ea typeface="Times New Roman"/>
                <a:cs typeface="Times New Roman"/>
                <a:sym typeface="Times New Roman"/>
              </a:rPr>
              <a:t>)</a:t>
            </a:r>
            <a:endParaRPr sz="2400" dirty="0">
              <a:solidFill>
                <a:schemeClr val="dk1"/>
              </a:solidFill>
              <a:latin typeface="Times New Roman"/>
              <a:ea typeface="Times New Roman"/>
              <a:cs typeface="Times New Roman"/>
              <a:sym typeface="Times New Roman"/>
            </a:endParaRPr>
          </a:p>
          <a:p>
            <a:pPr marL="457200" indent="-349250">
              <a:lnSpc>
                <a:spcPct val="114999"/>
              </a:lnSpc>
              <a:buClr>
                <a:schemeClr val="dk1"/>
              </a:buClr>
              <a:buSzPts val="1900"/>
              <a:buFont typeface="Times New Roman"/>
              <a:buChar char="●"/>
            </a:pPr>
            <a:r>
              <a:rPr lang="en-US" sz="2400" dirty="0">
                <a:solidFill>
                  <a:schemeClr val="dk1"/>
                </a:solidFill>
                <a:latin typeface="Times New Roman"/>
                <a:ea typeface="Times New Roman"/>
                <a:cs typeface="Times New Roman"/>
                <a:sym typeface="Times New Roman"/>
              </a:rPr>
              <a:t>r(z) is positive when: p(</a:t>
            </a:r>
            <a:r>
              <a:rPr lang="en-US" sz="2400" dirty="0" err="1">
                <a:solidFill>
                  <a:schemeClr val="dk1"/>
                </a:solidFill>
                <a:latin typeface="Times New Roman"/>
                <a:ea typeface="Times New Roman"/>
                <a:cs typeface="Times New Roman"/>
                <a:sym typeface="Times New Roman"/>
              </a:rPr>
              <a:t>y|z</a:t>
            </a:r>
            <a:r>
              <a:rPr lang="en-US" sz="2400" dirty="0">
                <a:solidFill>
                  <a:schemeClr val="dk1"/>
                </a:solidFill>
                <a:latin typeface="Times New Roman"/>
                <a:ea typeface="Times New Roman"/>
                <a:cs typeface="Times New Roman"/>
                <a:sym typeface="Times New Roman"/>
              </a:rPr>
              <a:t>, x) &gt; p(</a:t>
            </a:r>
            <a:r>
              <a:rPr lang="en-US" sz="2400" dirty="0" err="1">
                <a:solidFill>
                  <a:schemeClr val="dk1"/>
                </a:solidFill>
                <a:latin typeface="Times New Roman"/>
                <a:ea typeface="Times New Roman"/>
                <a:cs typeface="Times New Roman"/>
                <a:sym typeface="Times New Roman"/>
              </a:rPr>
              <a:t>y|x</a:t>
            </a:r>
            <a:r>
              <a:rPr lang="en-US" sz="2400" dirty="0">
                <a:solidFill>
                  <a:schemeClr val="dk1"/>
                </a:solidFill>
                <a:latin typeface="Times New Roman"/>
                <a:ea typeface="Times New Roman"/>
                <a:cs typeface="Times New Roman"/>
                <a:sym typeface="Times New Roman"/>
              </a:rPr>
              <a:t>)</a:t>
            </a:r>
            <a:endParaRPr sz="2400" dirty="0">
              <a:solidFill>
                <a:schemeClr val="dk1"/>
              </a:solidFill>
              <a:latin typeface="Times New Roman"/>
              <a:ea typeface="Times New Roman"/>
              <a:cs typeface="Times New Roman"/>
              <a:sym typeface="Times New Roman"/>
            </a:endParaRPr>
          </a:p>
          <a:p>
            <a:pPr marL="457200" marR="0" lvl="0" indent="-349250" algn="l" rtl="0">
              <a:lnSpc>
                <a:spcPct val="114999"/>
              </a:lnSpc>
              <a:spcBef>
                <a:spcPts val="0"/>
              </a:spcBef>
              <a:spcAft>
                <a:spcPts val="0"/>
              </a:spcAft>
              <a:buClr>
                <a:schemeClr val="dk1"/>
              </a:buClr>
              <a:buSzPts val="1900"/>
              <a:buFont typeface="Times New Roman"/>
              <a:buChar char="●"/>
            </a:pPr>
            <a:r>
              <a:rPr lang="en-US" sz="2400" dirty="0">
                <a:solidFill>
                  <a:schemeClr val="dk1"/>
                </a:solidFill>
                <a:latin typeface="Times New Roman"/>
                <a:ea typeface="Times New Roman"/>
                <a:cs typeface="Times New Roman"/>
                <a:sym typeface="Times New Roman"/>
              </a:rPr>
              <a:t>Document z is rewarded when it helps the model perform better than expected</a:t>
            </a:r>
            <a:endParaRPr sz="2400" dirty="0">
              <a:solidFill>
                <a:schemeClr val="dk1"/>
              </a:solidFill>
              <a:latin typeface="Times New Roman"/>
              <a:ea typeface="Times New Roman"/>
              <a:cs typeface="Times New Roman"/>
              <a:sym typeface="Times New Roman"/>
            </a:endParaRPr>
          </a:p>
        </p:txBody>
      </p:sp>
      <p:sp>
        <p:nvSpPr>
          <p:cNvPr id="212" name="Google Shape;212;p20"/>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213" name="Google Shape;213;p20"/>
          <p:cNvSpPr txBox="1"/>
          <p:nvPr/>
        </p:nvSpPr>
        <p:spPr>
          <a:xfrm>
            <a:off x="114162" y="145685"/>
            <a:ext cx="109101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dirty="0">
                <a:solidFill>
                  <a:schemeClr val="lt1"/>
                </a:solidFill>
                <a:latin typeface="Times New Roman"/>
                <a:ea typeface="Times New Roman"/>
                <a:cs typeface="Times New Roman"/>
                <a:sym typeface="Times New Roman"/>
              </a:rPr>
              <a:t>What does the retriever learn?</a:t>
            </a:r>
            <a:endParaRPr sz="1400" b="0" i="0" u="none" strike="noStrike" cap="none" dirty="0">
              <a:solidFill>
                <a:schemeClr val="lt1"/>
              </a:solidFill>
              <a:latin typeface="Arial"/>
              <a:ea typeface="Arial"/>
              <a:cs typeface="Arial"/>
              <a:sym typeface="Arial"/>
            </a:endParaRPr>
          </a:p>
        </p:txBody>
      </p:sp>
      <p:pic>
        <p:nvPicPr>
          <p:cNvPr id="214" name="Google Shape;214;p20"/>
          <p:cNvPicPr preferRelativeResize="0"/>
          <p:nvPr/>
        </p:nvPicPr>
        <p:blipFill rotWithShape="1">
          <a:blip r:embed="rId3">
            <a:alphaModFix/>
          </a:blip>
          <a:srcRect/>
          <a:stretch/>
        </p:blipFill>
        <p:spPr>
          <a:xfrm>
            <a:off x="11557509" y="233819"/>
            <a:ext cx="271309" cy="389810"/>
          </a:xfrm>
          <a:prstGeom prst="rect">
            <a:avLst/>
          </a:prstGeom>
          <a:noFill/>
          <a:ln>
            <a:noFill/>
          </a:ln>
        </p:spPr>
      </p:pic>
      <p:sp>
        <p:nvSpPr>
          <p:cNvPr id="215" name="Google Shape;215;p20"/>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216" name="Google Shape;216;p20"/>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217" name="Google Shape;217;p20"/>
          <p:cNvGrpSpPr/>
          <p:nvPr/>
        </p:nvGrpSpPr>
        <p:grpSpPr>
          <a:xfrm>
            <a:off x="2622925" y="6601537"/>
            <a:ext cx="6677215" cy="70500"/>
            <a:chOff x="2589675" y="6601537"/>
            <a:chExt cx="6677215" cy="70500"/>
          </a:xfrm>
        </p:grpSpPr>
        <p:cxnSp>
          <p:nvCxnSpPr>
            <p:cNvPr id="218" name="Google Shape;218;p20"/>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219" name="Google Shape;219;p20"/>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220" name="Google Shape;220;p20"/>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pic>
        <p:nvPicPr>
          <p:cNvPr id="221" name="Google Shape;221;p20" title="[0,0,0,&quot;https://www.codecogs.com/eqnedit.php?latex=%5Cnabla%20%5Clog%20p(y%7Cx)%20%3D%20%5Csum_%7Bz%5Cin%20Z%7D%20r(z)%5Cnabla%20f(x%2Cz)#0&quot;]"/>
          <p:cNvPicPr preferRelativeResize="0"/>
          <p:nvPr/>
        </p:nvPicPr>
        <p:blipFill>
          <a:blip r:embed="rId4">
            <a:alphaModFix/>
          </a:blip>
          <a:stretch>
            <a:fillRect/>
          </a:stretch>
        </p:blipFill>
        <p:spPr>
          <a:xfrm>
            <a:off x="376800" y="1872825"/>
            <a:ext cx="4405225" cy="722325"/>
          </a:xfrm>
          <a:prstGeom prst="rect">
            <a:avLst/>
          </a:prstGeom>
          <a:noFill/>
          <a:ln>
            <a:noFill/>
          </a:ln>
        </p:spPr>
      </p:pic>
      <p:pic>
        <p:nvPicPr>
          <p:cNvPr id="222" name="Google Shape;222;p20" title="[0,0,0,&quot;https://www.codecogs.com/eqnedit.php?latex=r(z)%20%3D%20%5Cleft%5B%5Cfrac%7Bp(y%7Cz%2Cx)%7D%7Bp(y%7Cx)%7D%20-%201%5Cright%5Dp(z%7Cx)#0&quot;]"/>
          <p:cNvPicPr preferRelativeResize="0"/>
          <p:nvPr/>
        </p:nvPicPr>
        <p:blipFill>
          <a:blip r:embed="rId5">
            <a:alphaModFix/>
          </a:blip>
          <a:stretch>
            <a:fillRect/>
          </a:stretch>
        </p:blipFill>
        <p:spPr>
          <a:xfrm>
            <a:off x="376800" y="2890100"/>
            <a:ext cx="3937661" cy="7767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21"/>
          <p:cNvSpPr txBox="1"/>
          <p:nvPr/>
        </p:nvSpPr>
        <p:spPr>
          <a:xfrm>
            <a:off x="162550" y="1142125"/>
            <a:ext cx="4496100" cy="4010700"/>
          </a:xfrm>
          <a:prstGeom prst="rect">
            <a:avLst/>
          </a:prstGeom>
          <a:noFill/>
          <a:ln>
            <a:noFill/>
          </a:ln>
        </p:spPr>
        <p:txBody>
          <a:bodyPr spcFirstLastPara="1" wrap="square" lIns="91425" tIns="45700" rIns="91425" bIns="45700" anchor="t" anchorCtr="0">
            <a:noAutofit/>
          </a:bodyPr>
          <a:lstStyle/>
          <a:p>
            <a:pPr marL="0" marR="0" lvl="0" indent="0" algn="l" rtl="0">
              <a:lnSpc>
                <a:spcPct val="114999"/>
              </a:lnSpc>
              <a:spcBef>
                <a:spcPts val="1200"/>
              </a:spcBef>
              <a:spcAft>
                <a:spcPts val="0"/>
              </a:spcAft>
              <a:buNone/>
            </a:pPr>
            <a:r>
              <a:rPr lang="en-US" sz="2400" b="1" dirty="0">
                <a:solidFill>
                  <a:schemeClr val="dk1"/>
                </a:solidFill>
                <a:latin typeface="Times New Roman"/>
                <a:ea typeface="Times New Roman"/>
                <a:cs typeface="Times New Roman"/>
                <a:sym typeface="Times New Roman"/>
              </a:rPr>
              <a:t>Salient span masking (SSM)</a:t>
            </a:r>
            <a:endParaRPr sz="2400" b="1" dirty="0">
              <a:solidFill>
                <a:schemeClr val="dk1"/>
              </a:solidFill>
              <a:latin typeface="Times New Roman"/>
              <a:ea typeface="Times New Roman"/>
              <a:cs typeface="Times New Roman"/>
              <a:sym typeface="Times New Roman"/>
            </a:endParaRPr>
          </a:p>
          <a:p>
            <a:pPr marL="457200" marR="0" lvl="0" indent="-336550" algn="l" rtl="0">
              <a:lnSpc>
                <a:spcPct val="114999"/>
              </a:lnSpc>
              <a:spcBef>
                <a:spcPts val="1200"/>
              </a:spcBef>
              <a:spcAft>
                <a:spcPts val="0"/>
              </a:spcAft>
              <a:buClr>
                <a:schemeClr val="dk1"/>
              </a:buClr>
              <a:buSzPts val="1700"/>
              <a:buFont typeface="Times New Roman"/>
              <a:buChar char="●"/>
            </a:pPr>
            <a:r>
              <a:rPr lang="en-US" sz="2400" dirty="0">
                <a:solidFill>
                  <a:schemeClr val="dk1"/>
                </a:solidFill>
                <a:latin typeface="Times New Roman"/>
                <a:ea typeface="Times New Roman"/>
                <a:cs typeface="Times New Roman"/>
                <a:sym typeface="Times New Roman"/>
              </a:rPr>
              <a:t>Mask key entities instead of random tokens</a:t>
            </a:r>
            <a:endParaRPr sz="2400" dirty="0">
              <a:solidFill>
                <a:schemeClr val="dk1"/>
              </a:solidFill>
              <a:latin typeface="Times New Roman"/>
              <a:ea typeface="Times New Roman"/>
              <a:cs typeface="Times New Roman"/>
              <a:sym typeface="Times New Roman"/>
            </a:endParaRPr>
          </a:p>
          <a:p>
            <a:pPr marL="0" marR="0" lvl="0" indent="0" algn="l" rtl="0">
              <a:lnSpc>
                <a:spcPct val="114999"/>
              </a:lnSpc>
              <a:spcBef>
                <a:spcPts val="1200"/>
              </a:spcBef>
              <a:spcAft>
                <a:spcPts val="0"/>
              </a:spcAft>
              <a:buNone/>
            </a:pPr>
            <a:endParaRPr lang="en-CN" sz="2400" b="1" dirty="0">
              <a:solidFill>
                <a:schemeClr val="dk1"/>
              </a:solidFill>
              <a:latin typeface="Times New Roman"/>
              <a:ea typeface="Times New Roman"/>
              <a:cs typeface="Times New Roman"/>
              <a:sym typeface="Times New Roman"/>
            </a:endParaRPr>
          </a:p>
        </p:txBody>
      </p:sp>
      <p:sp>
        <p:nvSpPr>
          <p:cNvPr id="228" name="Google Shape;228;p21"/>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229" name="Google Shape;229;p21"/>
          <p:cNvSpPr txBox="1"/>
          <p:nvPr/>
        </p:nvSpPr>
        <p:spPr>
          <a:xfrm>
            <a:off x="114162" y="145685"/>
            <a:ext cx="109101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a:solidFill>
                  <a:schemeClr val="lt1"/>
                </a:solidFill>
                <a:latin typeface="Times New Roman"/>
                <a:ea typeface="Times New Roman"/>
                <a:cs typeface="Times New Roman"/>
                <a:sym typeface="Times New Roman"/>
              </a:rPr>
              <a:t>Injecting inductive biases into pre-training</a:t>
            </a:r>
            <a:endParaRPr sz="1400" b="0" i="0" u="none" strike="noStrike" cap="none">
              <a:solidFill>
                <a:srgbClr val="000000"/>
              </a:solidFill>
              <a:latin typeface="Arial"/>
              <a:ea typeface="Arial"/>
              <a:cs typeface="Arial"/>
              <a:sym typeface="Arial"/>
            </a:endParaRPr>
          </a:p>
        </p:txBody>
      </p:sp>
      <p:pic>
        <p:nvPicPr>
          <p:cNvPr id="230" name="Google Shape;230;p21"/>
          <p:cNvPicPr preferRelativeResize="0"/>
          <p:nvPr/>
        </p:nvPicPr>
        <p:blipFill rotWithShape="1">
          <a:blip r:embed="rId3">
            <a:alphaModFix/>
          </a:blip>
          <a:srcRect/>
          <a:stretch/>
        </p:blipFill>
        <p:spPr>
          <a:xfrm>
            <a:off x="11557509" y="233819"/>
            <a:ext cx="271309" cy="389810"/>
          </a:xfrm>
          <a:prstGeom prst="rect">
            <a:avLst/>
          </a:prstGeom>
          <a:noFill/>
          <a:ln>
            <a:noFill/>
          </a:ln>
        </p:spPr>
      </p:pic>
      <p:sp>
        <p:nvSpPr>
          <p:cNvPr id="231" name="Google Shape;231;p21"/>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232" name="Google Shape;232;p21"/>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233" name="Google Shape;233;p21"/>
          <p:cNvGrpSpPr/>
          <p:nvPr/>
        </p:nvGrpSpPr>
        <p:grpSpPr>
          <a:xfrm>
            <a:off x="2622925" y="6601537"/>
            <a:ext cx="6677215" cy="70500"/>
            <a:chOff x="2589675" y="6601537"/>
            <a:chExt cx="6677215" cy="70500"/>
          </a:xfrm>
        </p:grpSpPr>
        <p:cxnSp>
          <p:nvCxnSpPr>
            <p:cNvPr id="234" name="Google Shape;234;p21"/>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235" name="Google Shape;235;p21"/>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236" name="Google Shape;236;p21"/>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
        <p:nvSpPr>
          <p:cNvPr id="237" name="Google Shape;237;p21"/>
          <p:cNvSpPr txBox="1"/>
          <p:nvPr/>
        </p:nvSpPr>
        <p:spPr>
          <a:xfrm>
            <a:off x="4875125" y="1125925"/>
            <a:ext cx="7051500" cy="5060700"/>
          </a:xfrm>
          <a:prstGeom prst="rect">
            <a:avLst/>
          </a:prstGeom>
          <a:noFill/>
          <a:ln>
            <a:noFill/>
          </a:ln>
        </p:spPr>
        <p:txBody>
          <a:bodyPr spcFirstLastPara="1" wrap="square" lIns="91425" tIns="45700" rIns="91425" bIns="45700" anchor="t" anchorCtr="0">
            <a:noAutofit/>
          </a:bodyPr>
          <a:lstStyle/>
          <a:p>
            <a:pPr marL="0" marR="0" lvl="0" indent="0" algn="l" rtl="0">
              <a:lnSpc>
                <a:spcPct val="114999"/>
              </a:lnSpc>
              <a:spcBef>
                <a:spcPts val="1200"/>
              </a:spcBef>
              <a:spcAft>
                <a:spcPts val="0"/>
              </a:spcAft>
              <a:buNone/>
            </a:pPr>
            <a:r>
              <a:rPr lang="en-US" sz="2400" b="1" dirty="0">
                <a:solidFill>
                  <a:schemeClr val="dk1"/>
                </a:solidFill>
                <a:latin typeface="Times New Roman"/>
                <a:ea typeface="Times New Roman"/>
                <a:cs typeface="Times New Roman"/>
                <a:sym typeface="Times New Roman"/>
              </a:rPr>
              <a:t>Avoiding information leakage</a:t>
            </a:r>
            <a:endParaRPr sz="2400" b="1" dirty="0">
              <a:solidFill>
                <a:schemeClr val="dk1"/>
              </a:solidFill>
              <a:latin typeface="Times New Roman"/>
              <a:ea typeface="Times New Roman"/>
              <a:cs typeface="Times New Roman"/>
              <a:sym typeface="Times New Roman"/>
            </a:endParaRPr>
          </a:p>
          <a:p>
            <a:pPr marL="457200" marR="0" lvl="0" indent="-336550" algn="l" rtl="0">
              <a:lnSpc>
                <a:spcPct val="114999"/>
              </a:lnSpc>
              <a:spcBef>
                <a:spcPts val="1200"/>
              </a:spcBef>
              <a:spcAft>
                <a:spcPts val="0"/>
              </a:spcAft>
              <a:buClr>
                <a:schemeClr val="dk1"/>
              </a:buClr>
              <a:buSzPts val="1700"/>
              <a:buFont typeface="Times New Roman"/>
              <a:buChar char="●"/>
            </a:pPr>
            <a:r>
              <a:rPr lang="en-US" sz="2400" dirty="0">
                <a:solidFill>
                  <a:schemeClr val="dk1"/>
                </a:solidFill>
                <a:latin typeface="Times New Roman"/>
                <a:ea typeface="Times New Roman"/>
                <a:cs typeface="Times New Roman"/>
                <a:sym typeface="Times New Roman"/>
              </a:rPr>
              <a:t>When training data overlaps with retrieval corpus, avoid directly retrieving the original text of sample</a:t>
            </a:r>
            <a:endParaRPr sz="2400" dirty="0">
              <a:solidFill>
                <a:schemeClr val="dk1"/>
              </a:solidFill>
              <a:latin typeface="Times New Roman"/>
              <a:ea typeface="Times New Roman"/>
              <a:cs typeface="Times New Roman"/>
              <a:sym typeface="Times New Roman"/>
            </a:endParaRPr>
          </a:p>
          <a:p>
            <a:pPr marL="0" marR="0" lvl="0" indent="0" algn="l" rtl="0">
              <a:lnSpc>
                <a:spcPct val="114999"/>
              </a:lnSpc>
              <a:spcBef>
                <a:spcPts val="1200"/>
              </a:spcBef>
              <a:spcAft>
                <a:spcPts val="0"/>
              </a:spcAft>
              <a:buNone/>
            </a:pPr>
            <a:endParaRPr sz="2400" b="1" dirty="0">
              <a:solidFill>
                <a:schemeClr val="dk1"/>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028E9456-1B9B-3EA9-9B9C-CB0494750DA9}"/>
              </a:ext>
            </a:extLst>
          </p:cNvPr>
          <p:cNvSpPr txBox="1"/>
          <p:nvPr/>
        </p:nvSpPr>
        <p:spPr>
          <a:xfrm>
            <a:off x="189493" y="3300767"/>
            <a:ext cx="4496100" cy="1486369"/>
          </a:xfrm>
          <a:prstGeom prst="rect">
            <a:avLst/>
          </a:prstGeom>
          <a:noFill/>
        </p:spPr>
        <p:txBody>
          <a:bodyPr wrap="square">
            <a:spAutoFit/>
          </a:bodyPr>
          <a:lstStyle/>
          <a:p>
            <a:pPr marL="0" marR="0" lvl="0" indent="0" algn="l" rtl="0">
              <a:lnSpc>
                <a:spcPct val="114999"/>
              </a:lnSpc>
              <a:spcBef>
                <a:spcPts val="1200"/>
              </a:spcBef>
              <a:spcAft>
                <a:spcPts val="0"/>
              </a:spcAft>
              <a:buNone/>
            </a:pPr>
            <a:r>
              <a:rPr lang="en-US" sz="2400" b="1" dirty="0">
                <a:solidFill>
                  <a:schemeClr val="dk1"/>
                </a:solidFill>
                <a:latin typeface="Times New Roman"/>
                <a:ea typeface="Times New Roman"/>
                <a:cs typeface="Times New Roman"/>
                <a:sym typeface="Times New Roman"/>
              </a:rPr>
              <a:t>Null document</a:t>
            </a:r>
          </a:p>
          <a:p>
            <a:pPr marL="457200" marR="0" lvl="0" indent="-336550" algn="l" rtl="0">
              <a:lnSpc>
                <a:spcPct val="114999"/>
              </a:lnSpc>
              <a:spcBef>
                <a:spcPts val="1200"/>
              </a:spcBef>
              <a:spcAft>
                <a:spcPts val="0"/>
              </a:spcAft>
              <a:buClr>
                <a:schemeClr val="dk1"/>
              </a:buClr>
              <a:buSzPts val="1700"/>
              <a:buFont typeface="Times New Roman"/>
              <a:buChar char="●"/>
            </a:pPr>
            <a:r>
              <a:rPr lang="en-US" sz="2400" dirty="0">
                <a:solidFill>
                  <a:schemeClr val="dk1"/>
                </a:solidFill>
                <a:latin typeface="Times New Roman"/>
                <a:ea typeface="Times New Roman"/>
                <a:cs typeface="Times New Roman"/>
                <a:sym typeface="Times New Roman"/>
              </a:rPr>
              <a:t>Some samples don't require external document support</a:t>
            </a:r>
          </a:p>
        </p:txBody>
      </p:sp>
      <p:sp>
        <p:nvSpPr>
          <p:cNvPr id="7" name="TextBox 6">
            <a:extLst>
              <a:ext uri="{FF2B5EF4-FFF2-40B4-BE49-F238E27FC236}">
                <a16:creationId xmlns:a16="http://schemas.microsoft.com/office/drawing/2014/main" id="{7391B22A-3D59-7C49-BC3C-5CD38C9E661D}"/>
              </a:ext>
            </a:extLst>
          </p:cNvPr>
          <p:cNvSpPr txBox="1"/>
          <p:nvPr/>
        </p:nvSpPr>
        <p:spPr>
          <a:xfrm>
            <a:off x="4902068" y="3300767"/>
            <a:ext cx="6122194" cy="3185296"/>
          </a:xfrm>
          <a:prstGeom prst="rect">
            <a:avLst/>
          </a:prstGeom>
          <a:noFill/>
        </p:spPr>
        <p:txBody>
          <a:bodyPr wrap="square">
            <a:spAutoFit/>
          </a:bodyPr>
          <a:lstStyle/>
          <a:p>
            <a:pPr marL="0" marR="0" lvl="0" indent="0" algn="l" rtl="0">
              <a:lnSpc>
                <a:spcPct val="114999"/>
              </a:lnSpc>
              <a:spcBef>
                <a:spcPts val="1200"/>
              </a:spcBef>
              <a:spcAft>
                <a:spcPts val="0"/>
              </a:spcAft>
              <a:buNone/>
            </a:pPr>
            <a:r>
              <a:rPr lang="en-US" sz="2400" b="1" dirty="0">
                <a:solidFill>
                  <a:schemeClr val="dk1"/>
                </a:solidFill>
                <a:latin typeface="Times New Roman"/>
                <a:ea typeface="Times New Roman"/>
                <a:cs typeface="Times New Roman"/>
                <a:sym typeface="Times New Roman"/>
              </a:rPr>
              <a:t>Retriever initialization and cold-start problem</a:t>
            </a:r>
          </a:p>
          <a:p>
            <a:pPr marL="457200" marR="0" lvl="0" indent="-336550" algn="l" rtl="0">
              <a:lnSpc>
                <a:spcPct val="114999"/>
              </a:lnSpc>
              <a:spcBef>
                <a:spcPts val="1200"/>
              </a:spcBef>
              <a:spcAft>
                <a:spcPts val="0"/>
              </a:spcAft>
              <a:buClr>
                <a:schemeClr val="dk1"/>
              </a:buClr>
              <a:buSzPts val="1700"/>
              <a:buFont typeface="Times New Roman"/>
              <a:buChar char="●"/>
            </a:pPr>
            <a:r>
              <a:rPr lang="en-US" sz="2400" dirty="0">
                <a:solidFill>
                  <a:schemeClr val="dk1"/>
                </a:solidFill>
                <a:latin typeface="Times New Roman"/>
                <a:ea typeface="Times New Roman"/>
                <a:cs typeface="Times New Roman"/>
                <a:sym typeface="Times New Roman"/>
              </a:rPr>
              <a:t>Random initialization of retriever results in irrelevant documents - preventing effective gradients</a:t>
            </a:r>
          </a:p>
          <a:p>
            <a:pPr marL="457200" marR="0" lvl="0" indent="-336550" algn="l" rtl="0">
              <a:lnSpc>
                <a:spcPct val="114999"/>
              </a:lnSpc>
              <a:spcBef>
                <a:spcPts val="0"/>
              </a:spcBef>
              <a:spcAft>
                <a:spcPts val="0"/>
              </a:spcAft>
              <a:buClr>
                <a:schemeClr val="dk1"/>
              </a:buClr>
              <a:buSzPts val="1700"/>
              <a:buFont typeface="Times New Roman"/>
              <a:buChar char="●"/>
            </a:pPr>
            <a:r>
              <a:rPr lang="en-US" sz="2400" dirty="0">
                <a:solidFill>
                  <a:schemeClr val="dk1"/>
                </a:solidFill>
                <a:latin typeface="Times New Roman"/>
                <a:ea typeface="Times New Roman"/>
                <a:cs typeface="Times New Roman"/>
                <a:sym typeface="Times New Roman"/>
              </a:rPr>
              <a:t>Use Inverse Cloze Test task to initialize and pre-train the retriever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 grpId="0"/>
      <p:bldP spid="5" grpId="0"/>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22"/>
          <p:cNvSpPr txBox="1"/>
          <p:nvPr/>
        </p:nvSpPr>
        <p:spPr>
          <a:xfrm>
            <a:off x="230400" y="5248289"/>
            <a:ext cx="11327100" cy="692700"/>
          </a:xfrm>
          <a:prstGeom prst="rect">
            <a:avLst/>
          </a:prstGeom>
          <a:noFill/>
          <a:ln>
            <a:noFill/>
          </a:ln>
        </p:spPr>
        <p:txBody>
          <a:bodyPr spcFirstLastPara="1" wrap="square" lIns="91425" tIns="45700" rIns="91425" bIns="45700" anchor="t" anchorCtr="0">
            <a:noAutofit/>
          </a:bodyPr>
          <a:lstStyle/>
          <a:p>
            <a:pPr marL="0" marR="0" lvl="1" indent="0" algn="l" rtl="0">
              <a:lnSpc>
                <a:spcPct val="114999"/>
              </a:lnSpc>
              <a:spcBef>
                <a:spcPts val="1200"/>
              </a:spcBef>
              <a:spcAft>
                <a:spcPts val="600"/>
              </a:spcAft>
              <a:buClr>
                <a:srgbClr val="000000"/>
              </a:buClr>
              <a:buSzPts val="2400"/>
              <a:buFont typeface="Courier New"/>
              <a:buNone/>
            </a:pPr>
            <a:endParaRPr sz="2400">
              <a:solidFill>
                <a:schemeClr val="dk1"/>
              </a:solidFill>
              <a:latin typeface="Times New Roman"/>
              <a:ea typeface="Times New Roman"/>
              <a:cs typeface="Times New Roman"/>
              <a:sym typeface="Times New Roman"/>
            </a:endParaRPr>
          </a:p>
        </p:txBody>
      </p:sp>
      <p:sp>
        <p:nvSpPr>
          <p:cNvPr id="243" name="Google Shape;243;p22"/>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244" name="Google Shape;244;p22"/>
          <p:cNvSpPr txBox="1"/>
          <p:nvPr/>
        </p:nvSpPr>
        <p:spPr>
          <a:xfrm>
            <a:off x="114162" y="145685"/>
            <a:ext cx="109101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a:solidFill>
                  <a:schemeClr val="lt1"/>
                </a:solidFill>
                <a:latin typeface="Times New Roman"/>
                <a:ea typeface="Times New Roman"/>
                <a:cs typeface="Times New Roman"/>
                <a:sym typeface="Times New Roman"/>
              </a:rPr>
              <a:t>Evaluation</a:t>
            </a:r>
            <a:endParaRPr sz="1400" b="0" i="0" u="none" strike="noStrike" cap="none">
              <a:solidFill>
                <a:srgbClr val="000000"/>
              </a:solidFill>
              <a:latin typeface="Arial"/>
              <a:ea typeface="Arial"/>
              <a:cs typeface="Arial"/>
              <a:sym typeface="Arial"/>
            </a:endParaRPr>
          </a:p>
        </p:txBody>
      </p:sp>
      <p:pic>
        <p:nvPicPr>
          <p:cNvPr id="245" name="Google Shape;245;p22"/>
          <p:cNvPicPr preferRelativeResize="0"/>
          <p:nvPr/>
        </p:nvPicPr>
        <p:blipFill rotWithShape="1">
          <a:blip r:embed="rId3">
            <a:alphaModFix/>
          </a:blip>
          <a:srcRect/>
          <a:stretch/>
        </p:blipFill>
        <p:spPr>
          <a:xfrm>
            <a:off x="11557509" y="233819"/>
            <a:ext cx="271309" cy="389810"/>
          </a:xfrm>
          <a:prstGeom prst="rect">
            <a:avLst/>
          </a:prstGeom>
          <a:noFill/>
          <a:ln>
            <a:noFill/>
          </a:ln>
        </p:spPr>
      </p:pic>
      <p:sp>
        <p:nvSpPr>
          <p:cNvPr id="246" name="Google Shape;246;p22"/>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247" name="Google Shape;247;p22"/>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248" name="Google Shape;248;p22"/>
          <p:cNvGrpSpPr/>
          <p:nvPr/>
        </p:nvGrpSpPr>
        <p:grpSpPr>
          <a:xfrm>
            <a:off x="2622925" y="6601537"/>
            <a:ext cx="6677215" cy="70500"/>
            <a:chOff x="2589675" y="6601537"/>
            <a:chExt cx="6677215" cy="70500"/>
          </a:xfrm>
        </p:grpSpPr>
        <p:cxnSp>
          <p:nvCxnSpPr>
            <p:cNvPr id="249" name="Google Shape;249;p22"/>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250" name="Google Shape;250;p22"/>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251" name="Google Shape;251;p22"/>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pic>
        <p:nvPicPr>
          <p:cNvPr id="252" name="Google Shape;252;p22"/>
          <p:cNvPicPr preferRelativeResize="0"/>
          <p:nvPr/>
        </p:nvPicPr>
        <p:blipFill>
          <a:blip r:embed="rId4">
            <a:alphaModFix/>
          </a:blip>
          <a:stretch>
            <a:fillRect/>
          </a:stretch>
        </p:blipFill>
        <p:spPr>
          <a:xfrm>
            <a:off x="238020" y="1065499"/>
            <a:ext cx="11063393" cy="3913865"/>
          </a:xfrm>
          <a:prstGeom prst="rect">
            <a:avLst/>
          </a:prstGeom>
          <a:noFill/>
          <a:ln>
            <a:noFill/>
          </a:ln>
        </p:spPr>
      </p:pic>
      <p:sp>
        <p:nvSpPr>
          <p:cNvPr id="2" name="TextBox 1">
            <a:extLst>
              <a:ext uri="{FF2B5EF4-FFF2-40B4-BE49-F238E27FC236}">
                <a16:creationId xmlns:a16="http://schemas.microsoft.com/office/drawing/2014/main" id="{D98E85F6-D7B2-F06D-CD2F-CFF8F5A7A6CD}"/>
              </a:ext>
            </a:extLst>
          </p:cNvPr>
          <p:cNvSpPr txBox="1"/>
          <p:nvPr/>
        </p:nvSpPr>
        <p:spPr>
          <a:xfrm>
            <a:off x="376807" y="5025394"/>
            <a:ext cx="10142220" cy="133023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336550">
              <a:lnSpc>
                <a:spcPct val="114999"/>
              </a:lnSpc>
              <a:spcBef>
                <a:spcPts val="1200"/>
              </a:spcBef>
              <a:buClr>
                <a:schemeClr val="dk1"/>
              </a:buClr>
              <a:buSzPts val="1700"/>
              <a:buFont typeface="Times New Roman"/>
              <a:buChar char="●"/>
            </a:pPr>
            <a:r>
              <a:rPr lang="en-US" sz="1800">
                <a:solidFill>
                  <a:schemeClr val="dk1"/>
                </a:solidFill>
                <a:latin typeface="Times New Roman"/>
                <a:cs typeface="Times New Roman"/>
              </a:rPr>
              <a:t>Outperforms T5-11B while being 30× smaller</a:t>
            </a:r>
          </a:p>
          <a:p>
            <a:pPr marL="457200" indent="-336550">
              <a:lnSpc>
                <a:spcPct val="114999"/>
              </a:lnSpc>
              <a:spcBef>
                <a:spcPts val="1200"/>
              </a:spcBef>
              <a:buClr>
                <a:schemeClr val="dk1"/>
              </a:buClr>
              <a:buSzPts val="1700"/>
              <a:buFont typeface="Times New Roman"/>
              <a:buChar char="●"/>
            </a:pPr>
            <a:r>
              <a:rPr lang="en-US" sz="1800">
                <a:solidFill>
                  <a:schemeClr val="dk1"/>
                </a:solidFill>
                <a:latin typeface="Times New Roman"/>
                <a:cs typeface="Times New Roman"/>
              </a:rPr>
              <a:t>Improvement over ORQA comes solely from better pre-training methods</a:t>
            </a:r>
          </a:p>
          <a:p>
            <a:pPr marL="457200" indent="-336550">
              <a:lnSpc>
                <a:spcPct val="114999"/>
              </a:lnSpc>
              <a:spcBef>
                <a:spcPts val="1200"/>
              </a:spcBef>
              <a:buClr>
                <a:schemeClr val="dk1"/>
              </a:buClr>
              <a:buSzPts val="1700"/>
              <a:buFont typeface="Times New Roman"/>
              <a:buChar char="●"/>
            </a:pPr>
            <a:r>
              <a:rPr lang="en-US" sz="1800">
                <a:solidFill>
                  <a:schemeClr val="dk1"/>
                </a:solidFill>
                <a:latin typeface="Times New Roman"/>
                <a:cs typeface="Times New Roman"/>
              </a:rPr>
              <a:t>Achieves best performance with only 5 documents versus competitors' 20-80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23"/>
          <p:cNvSpPr txBox="1"/>
          <p:nvPr/>
        </p:nvSpPr>
        <p:spPr>
          <a:xfrm>
            <a:off x="230400" y="5248289"/>
            <a:ext cx="11327100" cy="692700"/>
          </a:xfrm>
          <a:prstGeom prst="rect">
            <a:avLst/>
          </a:prstGeom>
          <a:noFill/>
          <a:ln>
            <a:noFill/>
          </a:ln>
        </p:spPr>
        <p:txBody>
          <a:bodyPr spcFirstLastPara="1" wrap="square" lIns="91425" tIns="45700" rIns="91425" bIns="45700" anchor="t" anchorCtr="0">
            <a:noAutofit/>
          </a:bodyPr>
          <a:lstStyle/>
          <a:p>
            <a:pPr marL="0" marR="0" lvl="1" indent="0" algn="l" rtl="0">
              <a:lnSpc>
                <a:spcPct val="114999"/>
              </a:lnSpc>
              <a:spcBef>
                <a:spcPts val="1200"/>
              </a:spcBef>
              <a:spcAft>
                <a:spcPts val="600"/>
              </a:spcAft>
              <a:buClr>
                <a:srgbClr val="000000"/>
              </a:buClr>
              <a:buSzPts val="2400"/>
              <a:buFont typeface="Courier New"/>
              <a:buNone/>
            </a:pPr>
            <a:endParaRPr sz="2400">
              <a:solidFill>
                <a:schemeClr val="dk1"/>
              </a:solidFill>
              <a:latin typeface="Times New Roman"/>
              <a:ea typeface="Times New Roman"/>
              <a:cs typeface="Times New Roman"/>
              <a:sym typeface="Times New Roman"/>
            </a:endParaRPr>
          </a:p>
        </p:txBody>
      </p:sp>
      <p:sp>
        <p:nvSpPr>
          <p:cNvPr id="258" name="Google Shape;258;p23"/>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259" name="Google Shape;259;p23"/>
          <p:cNvSpPr txBox="1"/>
          <p:nvPr/>
        </p:nvSpPr>
        <p:spPr>
          <a:xfrm>
            <a:off x="114162" y="145685"/>
            <a:ext cx="109101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a:solidFill>
                  <a:schemeClr val="lt1"/>
                </a:solidFill>
                <a:latin typeface="Times New Roman"/>
                <a:ea typeface="Times New Roman"/>
                <a:cs typeface="Times New Roman"/>
                <a:sym typeface="Times New Roman"/>
              </a:rPr>
              <a:t>Advantages, Disadvantages &amp; Future Directions</a:t>
            </a:r>
            <a:endParaRPr sz="1400" b="0" i="0" u="none" strike="noStrike" cap="none">
              <a:solidFill>
                <a:srgbClr val="000000"/>
              </a:solidFill>
              <a:latin typeface="Arial"/>
              <a:ea typeface="Arial"/>
              <a:cs typeface="Arial"/>
              <a:sym typeface="Arial"/>
            </a:endParaRPr>
          </a:p>
        </p:txBody>
      </p:sp>
      <p:pic>
        <p:nvPicPr>
          <p:cNvPr id="260" name="Google Shape;260;p23"/>
          <p:cNvPicPr preferRelativeResize="0"/>
          <p:nvPr/>
        </p:nvPicPr>
        <p:blipFill rotWithShape="1">
          <a:blip r:embed="rId3">
            <a:alphaModFix/>
          </a:blip>
          <a:srcRect/>
          <a:stretch/>
        </p:blipFill>
        <p:spPr>
          <a:xfrm>
            <a:off x="11557509" y="233819"/>
            <a:ext cx="271309" cy="389810"/>
          </a:xfrm>
          <a:prstGeom prst="rect">
            <a:avLst/>
          </a:prstGeom>
          <a:noFill/>
          <a:ln>
            <a:noFill/>
          </a:ln>
        </p:spPr>
      </p:pic>
      <p:sp>
        <p:nvSpPr>
          <p:cNvPr id="261" name="Google Shape;261;p23"/>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262" name="Google Shape;262;p23"/>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263" name="Google Shape;263;p23"/>
          <p:cNvGrpSpPr/>
          <p:nvPr/>
        </p:nvGrpSpPr>
        <p:grpSpPr>
          <a:xfrm>
            <a:off x="2622925" y="6601537"/>
            <a:ext cx="6677215" cy="70500"/>
            <a:chOff x="2589675" y="6601537"/>
            <a:chExt cx="6677215" cy="70500"/>
          </a:xfrm>
        </p:grpSpPr>
        <p:cxnSp>
          <p:nvCxnSpPr>
            <p:cNvPr id="264" name="Google Shape;264;p23"/>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265" name="Google Shape;265;p23"/>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266" name="Google Shape;266;p23"/>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
        <p:nvSpPr>
          <p:cNvPr id="267" name="Google Shape;267;p23"/>
          <p:cNvSpPr txBox="1"/>
          <p:nvPr/>
        </p:nvSpPr>
        <p:spPr>
          <a:xfrm>
            <a:off x="270900" y="1062025"/>
            <a:ext cx="11538300" cy="5539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300" b="1" dirty="0">
                <a:solidFill>
                  <a:schemeClr val="dk1"/>
                </a:solidFill>
                <a:latin typeface="Times New Roman"/>
                <a:ea typeface="Times New Roman"/>
                <a:cs typeface="Times New Roman"/>
                <a:sym typeface="Times New Roman"/>
              </a:rPr>
              <a:t>Advantages</a:t>
            </a:r>
            <a:endParaRPr sz="2300" b="1" dirty="0">
              <a:solidFill>
                <a:schemeClr val="dk1"/>
              </a:solidFill>
              <a:latin typeface="Times New Roman"/>
              <a:ea typeface="Times New Roman"/>
              <a:cs typeface="Times New Roman"/>
              <a:sym typeface="Times New Roman"/>
            </a:endParaRPr>
          </a:p>
          <a:p>
            <a:pPr marL="457200" marR="0" lvl="0" indent="-330200" algn="l" rtl="0">
              <a:lnSpc>
                <a:spcPct val="114999"/>
              </a:lnSpc>
              <a:spcBef>
                <a:spcPts val="1200"/>
              </a:spcBef>
              <a:spcAft>
                <a:spcPts val="0"/>
              </a:spcAft>
              <a:buClr>
                <a:schemeClr val="dk1"/>
              </a:buClr>
              <a:buSzPts val="1600"/>
              <a:buFont typeface="Times New Roman"/>
              <a:buChar char="●"/>
            </a:pPr>
            <a:r>
              <a:rPr lang="en-US" sz="2300" dirty="0">
                <a:solidFill>
                  <a:schemeClr val="dk1"/>
                </a:solidFill>
                <a:latin typeface="Times New Roman"/>
                <a:ea typeface="Times New Roman"/>
                <a:cs typeface="Times New Roman"/>
                <a:sym typeface="Times New Roman"/>
              </a:rPr>
              <a:t>Knowledge stored in external corpus rather than model parameters</a:t>
            </a:r>
            <a:endParaRPr sz="2300" dirty="0">
              <a:solidFill>
                <a:schemeClr val="dk1"/>
              </a:solidFill>
              <a:latin typeface="Times New Roman"/>
              <a:ea typeface="Times New Roman"/>
              <a:cs typeface="Times New Roman"/>
              <a:sym typeface="Times New Roman"/>
            </a:endParaRPr>
          </a:p>
          <a:p>
            <a:pPr marL="457200" marR="0" lvl="0" indent="-330200" algn="l" rtl="0">
              <a:lnSpc>
                <a:spcPct val="114999"/>
              </a:lnSpc>
              <a:spcBef>
                <a:spcPts val="0"/>
              </a:spcBef>
              <a:spcAft>
                <a:spcPts val="0"/>
              </a:spcAft>
              <a:buClr>
                <a:schemeClr val="dk1"/>
              </a:buClr>
              <a:buSzPts val="1600"/>
              <a:buFont typeface="Times New Roman"/>
              <a:buChar char="●"/>
            </a:pPr>
            <a:r>
              <a:rPr lang="en-US" sz="2300" dirty="0">
                <a:solidFill>
                  <a:schemeClr val="dk1"/>
                </a:solidFill>
                <a:latin typeface="Times New Roman"/>
                <a:ea typeface="Times New Roman"/>
                <a:cs typeface="Times New Roman"/>
                <a:sym typeface="Times New Roman"/>
              </a:rPr>
              <a:t>Makes knowledge transparent and interpretable</a:t>
            </a:r>
            <a:endParaRPr sz="2300" dirty="0">
              <a:solidFill>
                <a:schemeClr val="dk1"/>
              </a:solidFill>
              <a:latin typeface="Times New Roman"/>
              <a:ea typeface="Times New Roman"/>
              <a:cs typeface="Times New Roman"/>
              <a:sym typeface="Times New Roman"/>
            </a:endParaRPr>
          </a:p>
          <a:p>
            <a:pPr marL="457200" marR="0" lvl="0" indent="-330200" algn="l" rtl="0">
              <a:lnSpc>
                <a:spcPct val="114999"/>
              </a:lnSpc>
              <a:spcBef>
                <a:spcPts val="0"/>
              </a:spcBef>
              <a:spcAft>
                <a:spcPts val="0"/>
              </a:spcAft>
              <a:buClr>
                <a:schemeClr val="dk1"/>
              </a:buClr>
              <a:buSzPts val="1600"/>
              <a:buFont typeface="Times New Roman"/>
              <a:buChar char="●"/>
            </a:pPr>
            <a:r>
              <a:rPr lang="en-US" sz="2300" dirty="0">
                <a:solidFill>
                  <a:schemeClr val="dk1"/>
                </a:solidFill>
                <a:latin typeface="Times New Roman"/>
                <a:ea typeface="Times New Roman"/>
                <a:cs typeface="Times New Roman"/>
                <a:sym typeface="Times New Roman"/>
              </a:rPr>
              <a:t>Enables modular updates without complete retraining</a:t>
            </a:r>
            <a:endParaRPr sz="2200" dirty="0">
              <a:solidFill>
                <a:schemeClr val="dk1"/>
              </a:solidFill>
              <a:latin typeface="Times New Roman"/>
              <a:ea typeface="Times New Roman"/>
              <a:cs typeface="Times New Roman"/>
              <a:sym typeface="Times New Roman"/>
            </a:endParaRPr>
          </a:p>
          <a:p>
            <a:pPr marL="0" marR="0" lvl="0" indent="0" algn="l" rtl="0">
              <a:lnSpc>
                <a:spcPct val="100000"/>
              </a:lnSpc>
              <a:spcBef>
                <a:spcPts val="600"/>
              </a:spcBef>
              <a:spcAft>
                <a:spcPts val="0"/>
              </a:spcAft>
              <a:buNone/>
            </a:pPr>
            <a:endParaRPr sz="2300" b="1">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2300" b="1" dirty="0">
                <a:solidFill>
                  <a:schemeClr val="dk1"/>
                </a:solidFill>
                <a:latin typeface="Times New Roman"/>
                <a:ea typeface="Times New Roman"/>
                <a:cs typeface="Times New Roman"/>
                <a:sym typeface="Times New Roman"/>
              </a:rPr>
              <a:t>Disadvantages  </a:t>
            </a:r>
            <a:endParaRPr sz="2300" b="1" dirty="0">
              <a:solidFill>
                <a:schemeClr val="dk1"/>
              </a:solidFill>
              <a:latin typeface="Times New Roman"/>
              <a:ea typeface="Times New Roman"/>
              <a:cs typeface="Times New Roman"/>
              <a:sym typeface="Times New Roman"/>
            </a:endParaRPr>
          </a:p>
          <a:p>
            <a:pPr marL="457200" marR="0" lvl="0" indent="-330200" algn="l" rtl="0">
              <a:lnSpc>
                <a:spcPct val="114999"/>
              </a:lnSpc>
              <a:spcBef>
                <a:spcPts val="1200"/>
              </a:spcBef>
              <a:spcAft>
                <a:spcPts val="0"/>
              </a:spcAft>
              <a:buClr>
                <a:schemeClr val="dk1"/>
              </a:buClr>
              <a:buSzPts val="1600"/>
              <a:buFont typeface="Times New Roman"/>
              <a:buChar char="●"/>
            </a:pPr>
            <a:r>
              <a:rPr lang="en-US" sz="2300" dirty="0">
                <a:solidFill>
                  <a:schemeClr val="dk1"/>
                </a:solidFill>
                <a:latin typeface="Times New Roman"/>
                <a:ea typeface="Times New Roman"/>
                <a:cs typeface="Times New Roman"/>
                <a:sym typeface="Times New Roman"/>
              </a:rPr>
              <a:t>Performance degrades with irrelevant documents</a:t>
            </a:r>
            <a:endParaRPr sz="2300" dirty="0">
              <a:solidFill>
                <a:schemeClr val="dk1"/>
              </a:solidFill>
              <a:latin typeface="Times New Roman"/>
              <a:ea typeface="Times New Roman"/>
              <a:cs typeface="Times New Roman"/>
              <a:sym typeface="Times New Roman"/>
            </a:endParaRPr>
          </a:p>
          <a:p>
            <a:pPr marL="457200" marR="0" lvl="0" indent="-330200" algn="l" rtl="0">
              <a:lnSpc>
                <a:spcPct val="114999"/>
              </a:lnSpc>
              <a:spcBef>
                <a:spcPts val="0"/>
              </a:spcBef>
              <a:spcAft>
                <a:spcPts val="0"/>
              </a:spcAft>
              <a:buClr>
                <a:schemeClr val="dk1"/>
              </a:buClr>
              <a:buSzPts val="1600"/>
              <a:buFont typeface="Times New Roman"/>
              <a:buChar char="●"/>
            </a:pPr>
            <a:r>
              <a:rPr lang="en-US" sz="2300" dirty="0">
                <a:solidFill>
                  <a:schemeClr val="dk1"/>
                </a:solidFill>
                <a:latin typeface="Times New Roman"/>
                <a:ea typeface="Times New Roman"/>
                <a:cs typeface="Times New Roman"/>
                <a:sym typeface="Times New Roman"/>
              </a:rPr>
              <a:t>Comparing document and input text in single vector space limits semantic matching accuracy</a:t>
            </a:r>
            <a:endParaRPr sz="2200" dirty="0">
              <a:solidFill>
                <a:schemeClr val="dk1"/>
              </a:solidFill>
              <a:latin typeface="Times New Roman"/>
              <a:ea typeface="Times New Roman"/>
              <a:cs typeface="Times New Roman"/>
              <a:sym typeface="Times New Roman"/>
            </a:endParaRPr>
          </a:p>
          <a:p>
            <a:pPr marL="0" lvl="0" indent="0" algn="l" rtl="0">
              <a:spcBef>
                <a:spcPts val="600"/>
              </a:spcBef>
              <a:spcAft>
                <a:spcPts val="0"/>
              </a:spcAft>
              <a:buNone/>
            </a:pPr>
            <a:endParaRPr sz="2200" b="1">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US" sz="2200" b="1" dirty="0">
                <a:solidFill>
                  <a:schemeClr val="dk1"/>
                </a:solidFill>
                <a:latin typeface="Times New Roman"/>
                <a:ea typeface="Times New Roman"/>
                <a:cs typeface="Times New Roman"/>
                <a:sym typeface="Times New Roman"/>
              </a:rPr>
              <a:t>Future Directions</a:t>
            </a:r>
            <a:endParaRPr sz="2200" b="1" dirty="0">
              <a:solidFill>
                <a:schemeClr val="dk1"/>
              </a:solidFill>
              <a:latin typeface="Times New Roman"/>
              <a:ea typeface="Times New Roman"/>
              <a:cs typeface="Times New Roman"/>
              <a:sym typeface="Times New Roman"/>
            </a:endParaRPr>
          </a:p>
          <a:p>
            <a:pPr marL="457200" indent="-330200">
              <a:lnSpc>
                <a:spcPct val="114999"/>
              </a:lnSpc>
              <a:spcBef>
                <a:spcPts val="1200"/>
              </a:spcBef>
              <a:buClr>
                <a:schemeClr val="dk1"/>
              </a:buClr>
              <a:buSzPts val="1600"/>
              <a:buFont typeface="Times New Roman"/>
              <a:buChar char="●"/>
            </a:pPr>
            <a:r>
              <a:rPr lang="en-US" sz="2300" dirty="0">
                <a:solidFill>
                  <a:schemeClr val="dk1"/>
                </a:solidFill>
                <a:latin typeface="Times New Roman"/>
                <a:ea typeface="Times New Roman"/>
                <a:cs typeface="Times New Roman"/>
                <a:sym typeface="Times New Roman"/>
              </a:rPr>
              <a:t>Deploy multi-vector retrieval methods like </a:t>
            </a:r>
            <a:r>
              <a:rPr lang="en-US" sz="2300" dirty="0" err="1">
                <a:solidFill>
                  <a:schemeClr val="dk1"/>
                </a:solidFill>
                <a:latin typeface="Times New Roman"/>
                <a:ea typeface="Times New Roman"/>
                <a:cs typeface="Times New Roman"/>
                <a:sym typeface="Times New Roman"/>
              </a:rPr>
              <a:t>ColBERT</a:t>
            </a:r>
            <a:r>
              <a:rPr lang="en-US" sz="2300" dirty="0">
                <a:solidFill>
                  <a:schemeClr val="dk1"/>
                </a:solidFill>
                <a:latin typeface="Times New Roman"/>
                <a:ea typeface="Times New Roman"/>
                <a:cs typeface="Times New Roman"/>
                <a:sym typeface="Times New Roman"/>
              </a:rPr>
              <a:t>, XTR, Warp</a:t>
            </a:r>
            <a:endParaRPr sz="22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sp>
        <p:nvSpPr>
          <p:cNvPr id="590" name="Google Shape;590;g330b2db8419_2_73"/>
          <p:cNvSpPr txBox="1"/>
          <p:nvPr/>
        </p:nvSpPr>
        <p:spPr>
          <a:xfrm>
            <a:off x="263575" y="1836010"/>
            <a:ext cx="11327100" cy="4906500"/>
          </a:xfrm>
          <a:prstGeom prst="rect">
            <a:avLst/>
          </a:prstGeom>
          <a:noFill/>
          <a:ln>
            <a:noFill/>
          </a:ln>
        </p:spPr>
        <p:txBody>
          <a:bodyPr spcFirstLastPara="1" wrap="square" lIns="91425" tIns="45700" rIns="91425" bIns="45700" anchor="t" anchorCtr="0">
            <a:noAutofit/>
          </a:bodyPr>
          <a:lstStyle/>
          <a:p>
            <a:pPr lvl="0" algn="ctr">
              <a:lnSpc>
                <a:spcPct val="115000"/>
              </a:lnSpc>
              <a:spcBef>
                <a:spcPts val="600"/>
              </a:spcBef>
              <a:spcAft>
                <a:spcPts val="600"/>
              </a:spcAft>
            </a:pPr>
            <a:r>
              <a:rPr lang="en-US" altLang="zh-CN" sz="3200" dirty="0" err="1">
                <a:latin typeface="Times New Roman" panose="02020603050405020304" pitchFamily="18" charset="0"/>
                <a:cs typeface="Times New Roman" panose="02020603050405020304" pitchFamily="18" charset="0"/>
              </a:rPr>
              <a:t>CacheBlend</a:t>
            </a:r>
            <a:r>
              <a:rPr lang="en-US" altLang="zh-CN" sz="3200" dirty="0">
                <a:latin typeface="Times New Roman" panose="02020603050405020304" pitchFamily="18" charset="0"/>
                <a:cs typeface="Times New Roman" panose="02020603050405020304" pitchFamily="18" charset="0"/>
              </a:rPr>
              <a:t>: </a:t>
            </a:r>
          </a:p>
          <a:p>
            <a:pPr lvl="0" algn="ctr">
              <a:lnSpc>
                <a:spcPct val="115000"/>
              </a:lnSpc>
              <a:spcBef>
                <a:spcPts val="600"/>
              </a:spcBef>
              <a:spcAft>
                <a:spcPts val="600"/>
              </a:spcAft>
            </a:pPr>
            <a:r>
              <a:rPr lang="en-US" altLang="zh-CN" sz="3200" dirty="0">
                <a:latin typeface="Times New Roman" panose="02020603050405020304" pitchFamily="18" charset="0"/>
                <a:cs typeface="Times New Roman" panose="02020603050405020304" pitchFamily="18" charset="0"/>
              </a:rPr>
              <a:t>Fast Large Language Model Serving for RAG with Cached Knowledge Fusion</a:t>
            </a:r>
            <a:endParaRPr lang="en-US" sz="3200" dirty="0">
              <a:solidFill>
                <a:schemeClr val="dk1"/>
              </a:solidFill>
              <a:latin typeface="Times New Roman" panose="02020603050405020304" pitchFamily="18" charset="0"/>
              <a:ea typeface="Roboto"/>
              <a:cs typeface="Times New Roman" panose="02020603050405020304" pitchFamily="18" charset="0"/>
              <a:sym typeface="Roboto"/>
            </a:endParaRPr>
          </a:p>
          <a:p>
            <a:pPr lvl="0" algn="ctr">
              <a:lnSpc>
                <a:spcPct val="115000"/>
              </a:lnSpc>
              <a:spcBef>
                <a:spcPts val="600"/>
              </a:spcBef>
              <a:spcAft>
                <a:spcPts val="600"/>
              </a:spcAft>
            </a:pPr>
            <a:r>
              <a:rPr lang="en-US" sz="3200" dirty="0">
                <a:solidFill>
                  <a:schemeClr val="dk1"/>
                </a:solidFill>
                <a:latin typeface="Times New Roman" panose="02020603050405020304" pitchFamily="18" charset="0"/>
                <a:ea typeface="Roboto"/>
                <a:cs typeface="Times New Roman" panose="02020603050405020304" pitchFamily="18" charset="0"/>
                <a:sym typeface="Roboto"/>
              </a:rPr>
              <a:t> </a:t>
            </a:r>
            <a:r>
              <a:rPr lang="en-US" sz="2000" dirty="0">
                <a:solidFill>
                  <a:schemeClr val="dk1"/>
                </a:solidFill>
                <a:latin typeface="Times New Roman" panose="02020603050405020304" pitchFamily="18" charset="0"/>
                <a:ea typeface="Roboto"/>
                <a:cs typeface="Times New Roman" panose="02020603050405020304" pitchFamily="18" charset="0"/>
                <a:sym typeface="Roboto"/>
              </a:rPr>
              <a:t>Jiayi Yao, </a:t>
            </a:r>
            <a:r>
              <a:rPr lang="en-US" sz="2000" dirty="0" err="1">
                <a:solidFill>
                  <a:schemeClr val="dk1"/>
                </a:solidFill>
                <a:latin typeface="Times New Roman" panose="02020603050405020304" pitchFamily="18" charset="0"/>
                <a:ea typeface="Roboto"/>
                <a:cs typeface="Times New Roman" panose="02020603050405020304" pitchFamily="18" charset="0"/>
                <a:sym typeface="Roboto"/>
              </a:rPr>
              <a:t>Hanchen</a:t>
            </a:r>
            <a:r>
              <a:rPr lang="en-US" sz="2000" dirty="0">
                <a:solidFill>
                  <a:schemeClr val="dk1"/>
                </a:solidFill>
                <a:latin typeface="Times New Roman" panose="02020603050405020304" pitchFamily="18" charset="0"/>
                <a:ea typeface="Roboto"/>
                <a:cs typeface="Times New Roman" panose="02020603050405020304" pitchFamily="18" charset="0"/>
                <a:sym typeface="Roboto"/>
              </a:rPr>
              <a:t> Li, Yuhan Liu, Siddhant Ray, </a:t>
            </a:r>
            <a:r>
              <a:rPr lang="en-US" sz="2000" dirty="0" err="1">
                <a:solidFill>
                  <a:schemeClr val="dk1"/>
                </a:solidFill>
                <a:latin typeface="Times New Roman" panose="02020603050405020304" pitchFamily="18" charset="0"/>
                <a:ea typeface="Roboto"/>
                <a:cs typeface="Times New Roman" panose="02020603050405020304" pitchFamily="18" charset="0"/>
                <a:sym typeface="Roboto"/>
              </a:rPr>
              <a:t>Yihua</a:t>
            </a:r>
            <a:r>
              <a:rPr lang="en-US" sz="2000" dirty="0">
                <a:solidFill>
                  <a:schemeClr val="dk1"/>
                </a:solidFill>
                <a:latin typeface="Times New Roman" panose="02020603050405020304" pitchFamily="18" charset="0"/>
                <a:ea typeface="Roboto"/>
                <a:cs typeface="Times New Roman" panose="02020603050405020304" pitchFamily="18" charset="0"/>
                <a:sym typeface="Roboto"/>
              </a:rPr>
              <a:t> Cheng, </a:t>
            </a:r>
            <a:r>
              <a:rPr lang="en-US" sz="2000" dirty="0" err="1">
                <a:solidFill>
                  <a:schemeClr val="dk1"/>
                </a:solidFill>
                <a:latin typeface="Times New Roman" panose="02020603050405020304" pitchFamily="18" charset="0"/>
                <a:ea typeface="Roboto"/>
                <a:cs typeface="Times New Roman" panose="02020603050405020304" pitchFamily="18" charset="0"/>
                <a:sym typeface="Roboto"/>
              </a:rPr>
              <a:t>Qizheng</a:t>
            </a:r>
            <a:r>
              <a:rPr lang="en-US" sz="2000" dirty="0">
                <a:solidFill>
                  <a:schemeClr val="dk1"/>
                </a:solidFill>
                <a:latin typeface="Times New Roman" panose="02020603050405020304" pitchFamily="18" charset="0"/>
                <a:ea typeface="Roboto"/>
                <a:cs typeface="Times New Roman" panose="02020603050405020304" pitchFamily="18" charset="0"/>
                <a:sym typeface="Roboto"/>
              </a:rPr>
              <a:t> Zhang, </a:t>
            </a:r>
            <a:r>
              <a:rPr lang="en-US" sz="2000" dirty="0" err="1">
                <a:solidFill>
                  <a:schemeClr val="dk1"/>
                </a:solidFill>
                <a:latin typeface="Times New Roman" panose="02020603050405020304" pitchFamily="18" charset="0"/>
                <a:ea typeface="Roboto"/>
                <a:cs typeface="Times New Roman" panose="02020603050405020304" pitchFamily="18" charset="0"/>
                <a:sym typeface="Roboto"/>
              </a:rPr>
              <a:t>Kuntai</a:t>
            </a:r>
            <a:r>
              <a:rPr lang="en-US" sz="2000" dirty="0">
                <a:solidFill>
                  <a:schemeClr val="dk1"/>
                </a:solidFill>
                <a:latin typeface="Times New Roman" panose="02020603050405020304" pitchFamily="18" charset="0"/>
                <a:ea typeface="Roboto"/>
                <a:cs typeface="Times New Roman" panose="02020603050405020304" pitchFamily="18" charset="0"/>
                <a:sym typeface="Roboto"/>
              </a:rPr>
              <a:t> Du, Shan Lu,</a:t>
            </a:r>
          </a:p>
          <a:p>
            <a:pPr lvl="0" algn="ctr">
              <a:lnSpc>
                <a:spcPct val="115000"/>
              </a:lnSpc>
              <a:spcBef>
                <a:spcPts val="600"/>
              </a:spcBef>
              <a:spcAft>
                <a:spcPts val="600"/>
              </a:spcAft>
            </a:pPr>
            <a:r>
              <a:rPr lang="en-US" sz="2000" dirty="0">
                <a:solidFill>
                  <a:schemeClr val="dk1"/>
                </a:solidFill>
                <a:latin typeface="Times New Roman" panose="02020603050405020304" pitchFamily="18" charset="0"/>
                <a:ea typeface="Roboto"/>
                <a:cs typeface="Times New Roman" panose="02020603050405020304" pitchFamily="18" charset="0"/>
                <a:sym typeface="Roboto"/>
              </a:rPr>
              <a:t> </a:t>
            </a:r>
            <a:r>
              <a:rPr lang="en-US" sz="2000" dirty="0" err="1">
                <a:solidFill>
                  <a:schemeClr val="dk1"/>
                </a:solidFill>
                <a:latin typeface="Times New Roman" panose="02020603050405020304" pitchFamily="18" charset="0"/>
                <a:ea typeface="Roboto"/>
                <a:cs typeface="Times New Roman" panose="02020603050405020304" pitchFamily="18" charset="0"/>
                <a:sym typeface="Roboto"/>
              </a:rPr>
              <a:t>Junchen</a:t>
            </a:r>
            <a:r>
              <a:rPr lang="en-US" sz="2000" dirty="0">
                <a:solidFill>
                  <a:schemeClr val="dk1"/>
                </a:solidFill>
                <a:latin typeface="Times New Roman" panose="02020603050405020304" pitchFamily="18" charset="0"/>
                <a:ea typeface="Roboto"/>
                <a:cs typeface="Times New Roman" panose="02020603050405020304" pitchFamily="18" charset="0"/>
                <a:sym typeface="Roboto"/>
              </a:rPr>
              <a:t> Jiang</a:t>
            </a:r>
          </a:p>
          <a:p>
            <a:pPr lvl="0" algn="ctr">
              <a:lnSpc>
                <a:spcPct val="115000"/>
              </a:lnSpc>
              <a:spcBef>
                <a:spcPts val="600"/>
              </a:spcBef>
              <a:spcAft>
                <a:spcPts val="600"/>
              </a:spcAft>
            </a:pPr>
            <a:r>
              <a:rPr lang="en-US" sz="3200" dirty="0">
                <a:solidFill>
                  <a:schemeClr val="dk1"/>
                </a:solidFill>
                <a:latin typeface="Times New Roman" panose="02020603050405020304" pitchFamily="18" charset="0"/>
                <a:ea typeface="Roboto"/>
                <a:cs typeface="Times New Roman" panose="02020603050405020304" pitchFamily="18" charset="0"/>
                <a:sym typeface="Roboto"/>
              </a:rPr>
              <a:t> </a:t>
            </a:r>
            <a:r>
              <a:rPr lang="en-US" sz="2000" dirty="0">
                <a:solidFill>
                  <a:schemeClr val="dk1"/>
                </a:solidFill>
                <a:latin typeface="Times New Roman" panose="02020603050405020304" pitchFamily="18" charset="0"/>
                <a:ea typeface="Roboto"/>
                <a:cs typeface="Times New Roman" panose="02020603050405020304" pitchFamily="18" charset="0"/>
                <a:sym typeface="Roboto"/>
              </a:rPr>
              <a:t>University of Chicago</a:t>
            </a:r>
            <a:endParaRPr sz="2000" dirty="0">
              <a:solidFill>
                <a:schemeClr val="dk1"/>
              </a:solidFill>
              <a:latin typeface="Times New Roman" panose="02020603050405020304" pitchFamily="18" charset="0"/>
              <a:ea typeface="Roboto"/>
              <a:cs typeface="Times New Roman" panose="02020603050405020304" pitchFamily="18" charset="0"/>
              <a:sym typeface="Roboto"/>
            </a:endParaRPr>
          </a:p>
        </p:txBody>
      </p:sp>
      <p:sp>
        <p:nvSpPr>
          <p:cNvPr id="591" name="Google Shape;591;g330b2db8419_2_73"/>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pic>
        <p:nvPicPr>
          <p:cNvPr id="593" name="Google Shape;593;g330b2db8419_2_73"/>
          <p:cNvPicPr preferRelativeResize="0"/>
          <p:nvPr/>
        </p:nvPicPr>
        <p:blipFill rotWithShape="1">
          <a:blip r:embed="rId3">
            <a:alphaModFix/>
          </a:blip>
          <a:srcRect/>
          <a:stretch/>
        </p:blipFill>
        <p:spPr>
          <a:xfrm>
            <a:off x="11557509" y="233819"/>
            <a:ext cx="271309" cy="389810"/>
          </a:xfrm>
          <a:prstGeom prst="rect">
            <a:avLst/>
          </a:prstGeom>
          <a:noFill/>
          <a:ln>
            <a:noFill/>
          </a:ln>
        </p:spPr>
      </p:pic>
      <p:sp>
        <p:nvSpPr>
          <p:cNvPr id="594" name="Google Shape;594;g330b2db8419_2_73"/>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595" name="Google Shape;595;g330b2db8419_2_73"/>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596" name="Google Shape;596;g330b2db8419_2_73"/>
          <p:cNvGrpSpPr/>
          <p:nvPr/>
        </p:nvGrpSpPr>
        <p:grpSpPr>
          <a:xfrm>
            <a:off x="2622925" y="6601537"/>
            <a:ext cx="6677215" cy="70500"/>
            <a:chOff x="2589675" y="6601537"/>
            <a:chExt cx="6677215" cy="70500"/>
          </a:xfrm>
        </p:grpSpPr>
        <p:cxnSp>
          <p:nvCxnSpPr>
            <p:cNvPr id="597" name="Google Shape;597;g330b2db8419_2_73"/>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598" name="Google Shape;598;g330b2db8419_2_73"/>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599" name="Google Shape;599;g330b2db8419_2_73"/>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89">
          <a:extLst>
            <a:ext uri="{FF2B5EF4-FFF2-40B4-BE49-F238E27FC236}">
              <a16:creationId xmlns:a16="http://schemas.microsoft.com/office/drawing/2014/main" id="{E640E40E-5063-F68E-129D-009FEE1516CA}"/>
            </a:ext>
          </a:extLst>
        </p:cNvPr>
        <p:cNvGrpSpPr/>
        <p:nvPr/>
      </p:nvGrpSpPr>
      <p:grpSpPr>
        <a:xfrm>
          <a:off x="0" y="0"/>
          <a:ext cx="0" cy="0"/>
          <a:chOff x="0" y="0"/>
          <a:chExt cx="0" cy="0"/>
        </a:xfrm>
      </p:grpSpPr>
      <p:sp>
        <p:nvSpPr>
          <p:cNvPr id="590" name="Google Shape;590;g330b2db8419_2_73">
            <a:extLst>
              <a:ext uri="{FF2B5EF4-FFF2-40B4-BE49-F238E27FC236}">
                <a16:creationId xmlns:a16="http://schemas.microsoft.com/office/drawing/2014/main" id="{39B6F993-719C-D32A-A5C4-3C9AD2C8D9A9}"/>
              </a:ext>
            </a:extLst>
          </p:cNvPr>
          <p:cNvSpPr txBox="1"/>
          <p:nvPr/>
        </p:nvSpPr>
        <p:spPr>
          <a:xfrm>
            <a:off x="114162" y="4899898"/>
            <a:ext cx="11327100" cy="1812417"/>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600"/>
              </a:spcBef>
              <a:spcAft>
                <a:spcPts val="600"/>
              </a:spcAft>
              <a:buNone/>
            </a:pPr>
            <a:r>
              <a:rPr lang="en-US" sz="2400" b="1" dirty="0"/>
              <a:t>Prefilling</a:t>
            </a:r>
            <a:r>
              <a:rPr lang="en-US" sz="2400" dirty="0"/>
              <a:t> is the initial phase in transformer-based LLM inference where the model processes the entire input sequence to compute the </a:t>
            </a:r>
            <a:r>
              <a:rPr lang="en-US" sz="2400" b="1" dirty="0"/>
              <a:t>key-value (KV) cache</a:t>
            </a:r>
            <a:r>
              <a:rPr lang="en-US" sz="2400" dirty="0"/>
              <a:t> for all input tokens </a:t>
            </a:r>
            <a:r>
              <a:rPr lang="en-US" sz="2400" b="1" dirty="0"/>
              <a:t>before generating any output token</a:t>
            </a:r>
            <a:r>
              <a:rPr lang="en-US" sz="2400" dirty="0"/>
              <a:t>.</a:t>
            </a:r>
            <a:endParaRPr sz="1800" dirty="0">
              <a:solidFill>
                <a:schemeClr val="dk1"/>
              </a:solidFill>
              <a:latin typeface="Times New Roman" panose="02020603050405020304" pitchFamily="18" charset="0"/>
              <a:ea typeface="Roboto"/>
              <a:cs typeface="Times New Roman" panose="02020603050405020304" pitchFamily="18" charset="0"/>
              <a:sym typeface="Roboto"/>
            </a:endParaRPr>
          </a:p>
        </p:txBody>
      </p:sp>
      <p:sp>
        <p:nvSpPr>
          <p:cNvPr id="591" name="Google Shape;591;g330b2db8419_2_73">
            <a:extLst>
              <a:ext uri="{FF2B5EF4-FFF2-40B4-BE49-F238E27FC236}">
                <a16:creationId xmlns:a16="http://schemas.microsoft.com/office/drawing/2014/main" id="{562F5CB8-9FBF-AFCA-36D7-EC9C4F70C6EF}"/>
              </a:ext>
            </a:extLst>
          </p:cNvPr>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592" name="Google Shape;592;g330b2db8419_2_73">
            <a:extLst>
              <a:ext uri="{FF2B5EF4-FFF2-40B4-BE49-F238E27FC236}">
                <a16:creationId xmlns:a16="http://schemas.microsoft.com/office/drawing/2014/main" id="{4B9815D4-E53D-6854-9FF1-89AB0E3E7F20}"/>
              </a:ext>
            </a:extLst>
          </p:cNvPr>
          <p:cNvSpPr txBox="1"/>
          <p:nvPr/>
        </p:nvSpPr>
        <p:spPr>
          <a:xfrm>
            <a:off x="114162" y="145685"/>
            <a:ext cx="10910100"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US" altLang="zh-CN" sz="3200" dirty="0">
                <a:solidFill>
                  <a:schemeClr val="lt1"/>
                </a:solidFill>
                <a:latin typeface="Times New Roman" panose="02020603050405020304" pitchFamily="18" charset="0"/>
                <a:cs typeface="Times New Roman" panose="02020603050405020304" pitchFamily="18" charset="0"/>
              </a:rPr>
              <a:t>Background</a:t>
            </a:r>
            <a:r>
              <a:rPr lang="en-US" sz="3200" dirty="0">
                <a:solidFill>
                  <a:schemeClr val="lt1"/>
                </a:solidFill>
                <a:latin typeface="Times New Roman" panose="02020603050405020304" pitchFamily="18" charset="0"/>
                <a:cs typeface="Times New Roman" panose="02020603050405020304" pitchFamily="18" charset="0"/>
              </a:rPr>
              <a:t>: LLM Inference &amp; Prefill</a:t>
            </a:r>
            <a:endParaRPr sz="3200" b="0" i="0" u="none" strike="noStrike" cap="none" dirty="0">
              <a:solidFill>
                <a:schemeClr val="lt1"/>
              </a:solidFill>
              <a:latin typeface="Times New Roman" panose="02020603050405020304" pitchFamily="18" charset="0"/>
              <a:cs typeface="Times New Roman" panose="02020603050405020304" pitchFamily="18" charset="0"/>
              <a:sym typeface="Arial"/>
            </a:endParaRPr>
          </a:p>
        </p:txBody>
      </p:sp>
      <p:pic>
        <p:nvPicPr>
          <p:cNvPr id="593" name="Google Shape;593;g330b2db8419_2_73">
            <a:extLst>
              <a:ext uri="{FF2B5EF4-FFF2-40B4-BE49-F238E27FC236}">
                <a16:creationId xmlns:a16="http://schemas.microsoft.com/office/drawing/2014/main" id="{C6462860-3471-F1E8-44A4-56CD376D1561}"/>
              </a:ext>
            </a:extLst>
          </p:cNvPr>
          <p:cNvPicPr preferRelativeResize="0"/>
          <p:nvPr/>
        </p:nvPicPr>
        <p:blipFill rotWithShape="1">
          <a:blip r:embed="rId3">
            <a:alphaModFix/>
          </a:blip>
          <a:srcRect/>
          <a:stretch/>
        </p:blipFill>
        <p:spPr>
          <a:xfrm>
            <a:off x="11557509" y="233819"/>
            <a:ext cx="271309" cy="389810"/>
          </a:xfrm>
          <a:prstGeom prst="rect">
            <a:avLst/>
          </a:prstGeom>
          <a:noFill/>
          <a:ln>
            <a:noFill/>
          </a:ln>
        </p:spPr>
      </p:pic>
      <p:sp>
        <p:nvSpPr>
          <p:cNvPr id="594" name="Google Shape;594;g330b2db8419_2_73">
            <a:extLst>
              <a:ext uri="{FF2B5EF4-FFF2-40B4-BE49-F238E27FC236}">
                <a16:creationId xmlns:a16="http://schemas.microsoft.com/office/drawing/2014/main" id="{D1FF6810-F3E8-3239-7270-DF344DF29965}"/>
              </a:ext>
            </a:extLst>
          </p:cNvPr>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595" name="Google Shape;595;g330b2db8419_2_73">
            <a:extLst>
              <a:ext uri="{FF2B5EF4-FFF2-40B4-BE49-F238E27FC236}">
                <a16:creationId xmlns:a16="http://schemas.microsoft.com/office/drawing/2014/main" id="{87FBEBCD-A985-987D-F263-6EDF5EF52410}"/>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596" name="Google Shape;596;g330b2db8419_2_73">
            <a:extLst>
              <a:ext uri="{FF2B5EF4-FFF2-40B4-BE49-F238E27FC236}">
                <a16:creationId xmlns:a16="http://schemas.microsoft.com/office/drawing/2014/main" id="{5A86E434-492B-AC5A-CD41-BADC649DB69F}"/>
              </a:ext>
            </a:extLst>
          </p:cNvPr>
          <p:cNvGrpSpPr/>
          <p:nvPr/>
        </p:nvGrpSpPr>
        <p:grpSpPr>
          <a:xfrm>
            <a:off x="2622925" y="6601537"/>
            <a:ext cx="6677215" cy="70500"/>
            <a:chOff x="2589675" y="6601537"/>
            <a:chExt cx="6677215" cy="70500"/>
          </a:xfrm>
        </p:grpSpPr>
        <p:cxnSp>
          <p:nvCxnSpPr>
            <p:cNvPr id="597" name="Google Shape;597;g330b2db8419_2_73">
              <a:extLst>
                <a:ext uri="{FF2B5EF4-FFF2-40B4-BE49-F238E27FC236}">
                  <a16:creationId xmlns:a16="http://schemas.microsoft.com/office/drawing/2014/main" id="{5846D558-E9C1-208A-1A67-1F3A5C6DCC22}"/>
                </a:ext>
              </a:extLst>
            </p:cNvPr>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598" name="Google Shape;598;g330b2db8419_2_73">
              <a:extLst>
                <a:ext uri="{FF2B5EF4-FFF2-40B4-BE49-F238E27FC236}">
                  <a16:creationId xmlns:a16="http://schemas.microsoft.com/office/drawing/2014/main" id="{F421B076-7189-540C-7D64-D289EC699EE4}"/>
                </a:ext>
              </a:extLst>
            </p:cNvPr>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599" name="Google Shape;599;g330b2db8419_2_73">
            <a:extLst>
              <a:ext uri="{FF2B5EF4-FFF2-40B4-BE49-F238E27FC236}">
                <a16:creationId xmlns:a16="http://schemas.microsoft.com/office/drawing/2014/main" id="{DA8902FE-F921-01C0-BF31-D1E8E436F786}"/>
              </a:ext>
            </a:extLst>
          </p:cNvPr>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pic>
        <p:nvPicPr>
          <p:cNvPr id="1026" name="Picture 2" descr="Generated image">
            <a:extLst>
              <a:ext uri="{FF2B5EF4-FFF2-40B4-BE49-F238E27FC236}">
                <a16:creationId xmlns:a16="http://schemas.microsoft.com/office/drawing/2014/main" id="{98F105AF-0203-F507-481F-E510EF1F23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4096" y="983446"/>
            <a:ext cx="5502131" cy="3668087"/>
          </a:xfrm>
          <a:prstGeom prst="rect">
            <a:avLst/>
          </a:prstGeom>
          <a:noFill/>
          <a:extLst>
            <a:ext uri="{909E8E84-426E-40DD-AFC4-6F175D3DCCD1}">
              <a14:hiddenFill xmlns:a14="http://schemas.microsoft.com/office/drawing/2010/main">
                <a:solidFill>
                  <a:srgbClr val="FFFFFF"/>
                </a:solidFill>
              </a14:hiddenFill>
            </a:ext>
          </a:extLst>
        </p:spPr>
      </p:pic>
      <p:sp>
        <p:nvSpPr>
          <p:cNvPr id="2" name="AutoShape 2" descr="Generated image">
            <a:extLst>
              <a:ext uri="{FF2B5EF4-FFF2-40B4-BE49-F238E27FC236}">
                <a16:creationId xmlns:a16="http://schemas.microsoft.com/office/drawing/2014/main" id="{FD983D17-0518-E19B-DFFE-E621AA00FB9F}"/>
              </a:ext>
            </a:extLst>
          </p:cNvPr>
          <p:cNvSpPr>
            <a:spLocks noChangeAspect="1" noChangeArrowheads="1"/>
          </p:cNvSpPr>
          <p:nvPr/>
        </p:nvSpPr>
        <p:spPr bwMode="auto">
          <a:xfrm>
            <a:off x="5943599" y="3276599"/>
            <a:ext cx="4979773" cy="497977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445897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89">
          <a:extLst>
            <a:ext uri="{FF2B5EF4-FFF2-40B4-BE49-F238E27FC236}">
              <a16:creationId xmlns:a16="http://schemas.microsoft.com/office/drawing/2014/main" id="{E2F25B1C-16C2-CA05-10A1-C344EB70794C}"/>
            </a:ext>
          </a:extLst>
        </p:cNvPr>
        <p:cNvGrpSpPr/>
        <p:nvPr/>
      </p:nvGrpSpPr>
      <p:grpSpPr>
        <a:xfrm>
          <a:off x="0" y="0"/>
          <a:ext cx="0" cy="0"/>
          <a:chOff x="0" y="0"/>
          <a:chExt cx="0" cy="0"/>
        </a:xfrm>
      </p:grpSpPr>
      <p:sp>
        <p:nvSpPr>
          <p:cNvPr id="590" name="Google Shape;590;g330b2db8419_2_73">
            <a:extLst>
              <a:ext uri="{FF2B5EF4-FFF2-40B4-BE49-F238E27FC236}">
                <a16:creationId xmlns:a16="http://schemas.microsoft.com/office/drawing/2014/main" id="{FABF97F1-49E6-B8C8-5618-BFE6125FEBB6}"/>
              </a:ext>
            </a:extLst>
          </p:cNvPr>
          <p:cNvSpPr txBox="1"/>
          <p:nvPr/>
        </p:nvSpPr>
        <p:spPr>
          <a:xfrm>
            <a:off x="231270" y="1178977"/>
            <a:ext cx="11327100" cy="4541957"/>
          </a:xfrm>
          <a:prstGeom prst="rect">
            <a:avLst/>
          </a:prstGeom>
          <a:noFill/>
          <a:ln>
            <a:noFill/>
          </a:ln>
        </p:spPr>
        <p:txBody>
          <a:bodyPr spcFirstLastPara="1" wrap="square" lIns="91425" tIns="45700" rIns="91425" bIns="45700" anchor="t" anchorCtr="0">
            <a:noAutofit/>
          </a:bodyPr>
          <a:lstStyle/>
          <a:p>
            <a:pPr marL="285750" lvl="0" indent="-285750" algn="l" rtl="0">
              <a:lnSpc>
                <a:spcPct val="115000"/>
              </a:lnSpc>
              <a:spcBef>
                <a:spcPts val="600"/>
              </a:spcBef>
              <a:spcAft>
                <a:spcPts val="600"/>
              </a:spcAft>
              <a:buFont typeface="Arial" panose="020B0604020202020204" pitchFamily="34" charset="0"/>
              <a:buChar char="•"/>
            </a:pPr>
            <a:r>
              <a:rPr lang="en-US" sz="2400" dirty="0">
                <a:solidFill>
                  <a:schemeClr val="dk1"/>
                </a:solidFill>
                <a:latin typeface="Times New Roman" panose="02020603050405020304" pitchFamily="18" charset="0"/>
                <a:ea typeface="Roboto"/>
                <a:cs typeface="Times New Roman" panose="02020603050405020304" pitchFamily="18" charset="0"/>
                <a:sym typeface="Roboto"/>
              </a:rPr>
              <a:t>Prefix Caching: R</a:t>
            </a:r>
            <a:r>
              <a:rPr lang="en-US" sz="2400" dirty="0">
                <a:latin typeface="Times New Roman" panose="02020603050405020304" pitchFamily="18" charset="0"/>
                <a:cs typeface="Times New Roman" panose="02020603050405020304" pitchFamily="18" charset="0"/>
              </a:rPr>
              <a:t>euse the KV cache only for the beginning (prefix) of the input</a:t>
            </a:r>
          </a:p>
          <a:p>
            <a:pPr lvl="0" algn="l" rtl="0">
              <a:lnSpc>
                <a:spcPct val="115000"/>
              </a:lnSpc>
              <a:spcBef>
                <a:spcPts val="600"/>
              </a:spcBef>
              <a:spcAft>
                <a:spcPts val="600"/>
              </a:spcAft>
            </a:pPr>
            <a:r>
              <a:rPr lang="en-US" sz="18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It </a:t>
            </a:r>
            <a:r>
              <a:rPr lang="en-US" sz="2000" b="1" dirty="0">
                <a:latin typeface="Times New Roman" panose="02020603050405020304" pitchFamily="18" charset="0"/>
                <a:cs typeface="Times New Roman" panose="02020603050405020304" pitchFamily="18" charset="0"/>
              </a:rPr>
              <a:t>only works when the reused chunk is at the start</a:t>
            </a:r>
            <a:r>
              <a:rPr lang="en-US" sz="2000" dirty="0">
                <a:latin typeface="Times New Roman" panose="02020603050405020304" pitchFamily="18" charset="0"/>
                <a:cs typeface="Times New Roman" panose="02020603050405020304" pitchFamily="18" charset="0"/>
              </a:rPr>
              <a:t> of the input.</a:t>
            </a:r>
          </a:p>
          <a:p>
            <a:pPr lvl="0" algn="l" rtl="0">
              <a:lnSpc>
                <a:spcPct val="115000"/>
              </a:lnSpc>
              <a:spcBef>
                <a:spcPts val="600"/>
              </a:spcBef>
              <a:spcAft>
                <a:spcPts val="600"/>
              </a:spcAft>
            </a:pPr>
            <a:endParaRPr lang="en-US" sz="1600" dirty="0">
              <a:latin typeface="Times New Roman" panose="02020603050405020304" pitchFamily="18" charset="0"/>
              <a:cs typeface="Times New Roman" panose="02020603050405020304" pitchFamily="18" charset="0"/>
            </a:endParaRPr>
          </a:p>
          <a:p>
            <a:pPr marL="285750" lvl="0" indent="-285750" algn="l" rtl="0">
              <a:lnSpc>
                <a:spcPct val="115000"/>
              </a:lnSpc>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Full KV Reuse: Reuse KV caches for any chunk in the input by adjusting positional embeddings</a:t>
            </a:r>
          </a:p>
          <a:p>
            <a:pPr>
              <a:lnSpc>
                <a:spcPct val="115000"/>
              </a:lnSpc>
              <a:spcBef>
                <a:spcPts val="600"/>
              </a:spcBef>
              <a:spcAft>
                <a:spcPts val="600"/>
              </a:spcAft>
            </a:pPr>
            <a:r>
              <a:rPr lang="en-US" sz="2000" dirty="0">
                <a:latin typeface="Times New Roman" panose="02020603050405020304" pitchFamily="18" charset="0"/>
                <a:cs typeface="Times New Roman" panose="02020603050405020304" pitchFamily="18" charset="0"/>
              </a:rPr>
              <a:t>	? It allows reuse at any position but </a:t>
            </a:r>
            <a:r>
              <a:rPr lang="en-US" sz="2000" b="1" dirty="0">
                <a:latin typeface="Times New Roman" panose="02020603050405020304" pitchFamily="18" charset="0"/>
                <a:cs typeface="Times New Roman" panose="02020603050405020304" pitchFamily="18" charset="0"/>
              </a:rPr>
              <a:t>ignores cross-attention</a:t>
            </a:r>
            <a:r>
              <a:rPr lang="en-US" sz="2000" dirty="0">
                <a:latin typeface="Times New Roman" panose="02020603050405020304" pitchFamily="18" charset="0"/>
                <a:cs typeface="Times New Roman" panose="02020603050405020304" pitchFamily="18" charset="0"/>
              </a:rPr>
              <a:t> between chunks.</a:t>
            </a:r>
            <a:endParaRPr lang="en-US" sz="2000" dirty="0">
              <a:solidFill>
                <a:schemeClr val="dk1"/>
              </a:solidFill>
              <a:latin typeface="Times New Roman" panose="02020603050405020304" pitchFamily="18" charset="0"/>
              <a:ea typeface="Roboto"/>
              <a:cs typeface="Times New Roman" panose="02020603050405020304" pitchFamily="18" charset="0"/>
              <a:sym typeface="Roboto"/>
            </a:endParaRPr>
          </a:p>
        </p:txBody>
      </p:sp>
      <p:sp>
        <p:nvSpPr>
          <p:cNvPr id="591" name="Google Shape;591;g330b2db8419_2_73">
            <a:extLst>
              <a:ext uri="{FF2B5EF4-FFF2-40B4-BE49-F238E27FC236}">
                <a16:creationId xmlns:a16="http://schemas.microsoft.com/office/drawing/2014/main" id="{D95B66B0-A2E4-8EA2-DC8B-532B6522DB4A}"/>
              </a:ext>
            </a:extLst>
          </p:cNvPr>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592" name="Google Shape;592;g330b2db8419_2_73">
            <a:extLst>
              <a:ext uri="{FF2B5EF4-FFF2-40B4-BE49-F238E27FC236}">
                <a16:creationId xmlns:a16="http://schemas.microsoft.com/office/drawing/2014/main" id="{3CB77CAA-5431-1C68-32E8-BFA5656E156D}"/>
              </a:ext>
            </a:extLst>
          </p:cNvPr>
          <p:cNvSpPr txBox="1"/>
          <p:nvPr/>
        </p:nvSpPr>
        <p:spPr>
          <a:xfrm>
            <a:off x="114162" y="145685"/>
            <a:ext cx="10910100"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US" altLang="zh-CN" sz="3200" dirty="0">
                <a:solidFill>
                  <a:schemeClr val="lt1"/>
                </a:solidFill>
                <a:latin typeface="Times New Roman" panose="02020603050405020304" pitchFamily="18" charset="0"/>
                <a:cs typeface="Times New Roman" panose="02020603050405020304" pitchFamily="18" charset="0"/>
              </a:rPr>
              <a:t>Motivation</a:t>
            </a:r>
            <a:r>
              <a:rPr lang="en-US" sz="3200" dirty="0">
                <a:solidFill>
                  <a:schemeClr val="lt1"/>
                </a:solidFill>
                <a:latin typeface="Times New Roman" panose="02020603050405020304" pitchFamily="18" charset="0"/>
                <a:cs typeface="Times New Roman" panose="02020603050405020304" pitchFamily="18" charset="0"/>
              </a:rPr>
              <a:t>: Prefix caching &amp; full KV reuse</a:t>
            </a:r>
            <a:endParaRPr sz="3200" b="0" i="0" u="none" strike="noStrike" cap="none" dirty="0">
              <a:solidFill>
                <a:schemeClr val="lt1"/>
              </a:solidFill>
              <a:latin typeface="Times New Roman" panose="02020603050405020304" pitchFamily="18" charset="0"/>
              <a:cs typeface="Times New Roman" panose="02020603050405020304" pitchFamily="18" charset="0"/>
              <a:sym typeface="Arial"/>
            </a:endParaRPr>
          </a:p>
        </p:txBody>
      </p:sp>
      <p:pic>
        <p:nvPicPr>
          <p:cNvPr id="593" name="Google Shape;593;g330b2db8419_2_73">
            <a:extLst>
              <a:ext uri="{FF2B5EF4-FFF2-40B4-BE49-F238E27FC236}">
                <a16:creationId xmlns:a16="http://schemas.microsoft.com/office/drawing/2014/main" id="{4231B9B2-CBA2-4D67-51B8-00F72606B270}"/>
              </a:ext>
            </a:extLst>
          </p:cNvPr>
          <p:cNvPicPr preferRelativeResize="0"/>
          <p:nvPr/>
        </p:nvPicPr>
        <p:blipFill rotWithShape="1">
          <a:blip r:embed="rId3">
            <a:alphaModFix/>
          </a:blip>
          <a:srcRect/>
          <a:stretch/>
        </p:blipFill>
        <p:spPr>
          <a:xfrm>
            <a:off x="11557509" y="233819"/>
            <a:ext cx="271309" cy="389810"/>
          </a:xfrm>
          <a:prstGeom prst="rect">
            <a:avLst/>
          </a:prstGeom>
          <a:noFill/>
          <a:ln>
            <a:noFill/>
          </a:ln>
        </p:spPr>
      </p:pic>
      <p:sp>
        <p:nvSpPr>
          <p:cNvPr id="594" name="Google Shape;594;g330b2db8419_2_73">
            <a:extLst>
              <a:ext uri="{FF2B5EF4-FFF2-40B4-BE49-F238E27FC236}">
                <a16:creationId xmlns:a16="http://schemas.microsoft.com/office/drawing/2014/main" id="{F7D702F7-3AF0-8B8E-248F-3F13AF5FDD98}"/>
              </a:ext>
            </a:extLst>
          </p:cNvPr>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595" name="Google Shape;595;g330b2db8419_2_73">
            <a:extLst>
              <a:ext uri="{FF2B5EF4-FFF2-40B4-BE49-F238E27FC236}">
                <a16:creationId xmlns:a16="http://schemas.microsoft.com/office/drawing/2014/main" id="{FECB795C-1798-3334-581B-E62994E085C1}"/>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596" name="Google Shape;596;g330b2db8419_2_73">
            <a:extLst>
              <a:ext uri="{FF2B5EF4-FFF2-40B4-BE49-F238E27FC236}">
                <a16:creationId xmlns:a16="http://schemas.microsoft.com/office/drawing/2014/main" id="{2C06648A-D8BD-4883-674B-8D44FC94347D}"/>
              </a:ext>
            </a:extLst>
          </p:cNvPr>
          <p:cNvGrpSpPr/>
          <p:nvPr/>
        </p:nvGrpSpPr>
        <p:grpSpPr>
          <a:xfrm>
            <a:off x="2622925" y="6601537"/>
            <a:ext cx="6677215" cy="70500"/>
            <a:chOff x="2589675" y="6601537"/>
            <a:chExt cx="6677215" cy="70500"/>
          </a:xfrm>
        </p:grpSpPr>
        <p:cxnSp>
          <p:nvCxnSpPr>
            <p:cNvPr id="597" name="Google Shape;597;g330b2db8419_2_73">
              <a:extLst>
                <a:ext uri="{FF2B5EF4-FFF2-40B4-BE49-F238E27FC236}">
                  <a16:creationId xmlns:a16="http://schemas.microsoft.com/office/drawing/2014/main" id="{5B1E7F77-CB33-8647-47FE-CE8C5780E752}"/>
                </a:ext>
              </a:extLst>
            </p:cNvPr>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598" name="Google Shape;598;g330b2db8419_2_73">
              <a:extLst>
                <a:ext uri="{FF2B5EF4-FFF2-40B4-BE49-F238E27FC236}">
                  <a16:creationId xmlns:a16="http://schemas.microsoft.com/office/drawing/2014/main" id="{3D43DCE5-5BE9-E7C6-B8B0-1F318179DB42}"/>
                </a:ext>
              </a:extLst>
            </p:cNvPr>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599" name="Google Shape;599;g330b2db8419_2_73">
            <a:extLst>
              <a:ext uri="{FF2B5EF4-FFF2-40B4-BE49-F238E27FC236}">
                <a16:creationId xmlns:a16="http://schemas.microsoft.com/office/drawing/2014/main" id="{8F64554D-7124-8340-9831-0814DBC9CD9B}"/>
              </a:ext>
            </a:extLst>
          </p:cNvPr>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extLst>
      <p:ext uri="{BB962C8B-B14F-4D97-AF65-F5344CB8AC3E}">
        <p14:creationId xmlns:p14="http://schemas.microsoft.com/office/powerpoint/2010/main" val="1381745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0">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0">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9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89">
          <a:extLst>
            <a:ext uri="{FF2B5EF4-FFF2-40B4-BE49-F238E27FC236}">
              <a16:creationId xmlns:a16="http://schemas.microsoft.com/office/drawing/2014/main" id="{B0FBF97B-C64D-ADFD-60A6-59F2FCF3D5DF}"/>
            </a:ext>
          </a:extLst>
        </p:cNvPr>
        <p:cNvGrpSpPr/>
        <p:nvPr/>
      </p:nvGrpSpPr>
      <p:grpSpPr>
        <a:xfrm>
          <a:off x="0" y="0"/>
          <a:ext cx="0" cy="0"/>
          <a:chOff x="0" y="0"/>
          <a:chExt cx="0" cy="0"/>
        </a:xfrm>
      </p:grpSpPr>
      <p:sp>
        <p:nvSpPr>
          <p:cNvPr id="590" name="Google Shape;590;g330b2db8419_2_73">
            <a:extLst>
              <a:ext uri="{FF2B5EF4-FFF2-40B4-BE49-F238E27FC236}">
                <a16:creationId xmlns:a16="http://schemas.microsoft.com/office/drawing/2014/main" id="{7019A2DF-CF01-C13C-F1C8-43AEA2083AC2}"/>
              </a:ext>
            </a:extLst>
          </p:cNvPr>
          <p:cNvSpPr txBox="1"/>
          <p:nvPr/>
        </p:nvSpPr>
        <p:spPr>
          <a:xfrm>
            <a:off x="231270" y="1178977"/>
            <a:ext cx="11327100" cy="1812417"/>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600"/>
              </a:spcBef>
              <a:spcAft>
                <a:spcPts val="600"/>
              </a:spcAft>
              <a:buNone/>
            </a:pPr>
            <a:r>
              <a:rPr lang="en-US" altLang="zh-CN" sz="1800" dirty="0">
                <a:solidFill>
                  <a:schemeClr val="dk1"/>
                </a:solidFill>
                <a:latin typeface="Times New Roman" panose="02020603050405020304" pitchFamily="18" charset="0"/>
                <a:ea typeface="Roboto"/>
                <a:cs typeface="Times New Roman" panose="02020603050405020304" pitchFamily="18" charset="0"/>
                <a:sym typeface="Roboto"/>
              </a:rPr>
              <a:t>•</a:t>
            </a:r>
            <a:r>
              <a:rPr lang="en-US" altLang="zh-CN" sz="1800" i="1" dirty="0">
                <a:solidFill>
                  <a:schemeClr val="dk1"/>
                </a:solidFill>
                <a:latin typeface="Times New Roman" panose="02020603050405020304" pitchFamily="18" charset="0"/>
                <a:ea typeface="Roboto"/>
                <a:cs typeface="Times New Roman" panose="02020603050405020304" pitchFamily="18" charset="0"/>
                <a:sym typeface="Roboto"/>
              </a:rPr>
              <a:t>Goal</a:t>
            </a:r>
            <a:r>
              <a:rPr lang="en-US" altLang="zh-CN" sz="1800" dirty="0">
                <a:solidFill>
                  <a:schemeClr val="dk1"/>
                </a:solidFill>
                <a:latin typeface="Times New Roman" panose="02020603050405020304" pitchFamily="18" charset="0"/>
                <a:ea typeface="Roboto"/>
                <a:cs typeface="Times New Roman" panose="02020603050405020304" pitchFamily="18" charset="0"/>
                <a:sym typeface="Roboto"/>
              </a:rPr>
              <a:t>: Updating the pre-computed KV cache such that the forward attention matrix has </a:t>
            </a:r>
            <a:r>
              <a:rPr lang="en-US" altLang="zh-CN" sz="1800" b="1" dirty="0">
                <a:solidFill>
                  <a:schemeClr val="dk1"/>
                </a:solidFill>
                <a:latin typeface="Times New Roman" panose="02020603050405020304" pitchFamily="18" charset="0"/>
                <a:ea typeface="Roboto"/>
                <a:cs typeface="Times New Roman" panose="02020603050405020304" pitchFamily="18" charset="0"/>
                <a:sym typeface="Roboto"/>
              </a:rPr>
              <a:t>minimum difference </a:t>
            </a:r>
            <a:r>
              <a:rPr lang="en-US" altLang="zh-CN" sz="1800" dirty="0">
                <a:solidFill>
                  <a:schemeClr val="dk1"/>
                </a:solidFill>
                <a:latin typeface="Times New Roman" panose="02020603050405020304" pitchFamily="18" charset="0"/>
                <a:ea typeface="Roboto"/>
                <a:cs typeface="Times New Roman" panose="02020603050405020304" pitchFamily="18" charset="0"/>
                <a:sym typeface="Roboto"/>
              </a:rPr>
              <a:t>with that by full KV recompute.   </a:t>
            </a:r>
          </a:p>
          <a:p>
            <a:pPr marL="0" lvl="0" indent="0" algn="l" rtl="0">
              <a:lnSpc>
                <a:spcPct val="115000"/>
              </a:lnSpc>
              <a:spcBef>
                <a:spcPts val="600"/>
              </a:spcBef>
              <a:spcAft>
                <a:spcPts val="600"/>
              </a:spcAft>
              <a:buNone/>
            </a:pPr>
            <a:r>
              <a:rPr lang="en-US" altLang="zh-CN" sz="1800" dirty="0">
                <a:solidFill>
                  <a:schemeClr val="dk1"/>
                </a:solidFill>
                <a:latin typeface="Times New Roman" panose="02020603050405020304" pitchFamily="18" charset="0"/>
                <a:ea typeface="Roboto"/>
                <a:cs typeface="Times New Roman" panose="02020603050405020304" pitchFamily="18" charset="0"/>
                <a:sym typeface="Roboto"/>
              </a:rPr>
              <a:t>•</a:t>
            </a:r>
            <a:r>
              <a:rPr lang="en-US" altLang="zh-CN" sz="1800" i="1" dirty="0">
                <a:solidFill>
                  <a:schemeClr val="dk1"/>
                </a:solidFill>
                <a:latin typeface="Times New Roman" panose="02020603050405020304" pitchFamily="18" charset="0"/>
                <a:ea typeface="Roboto"/>
                <a:cs typeface="Times New Roman" panose="02020603050405020304" pitchFamily="18" charset="0"/>
                <a:sym typeface="Roboto"/>
              </a:rPr>
              <a:t>Idea</a:t>
            </a:r>
            <a:r>
              <a:rPr lang="en-US" altLang="zh-CN" sz="1800" dirty="0">
                <a:solidFill>
                  <a:schemeClr val="dk1"/>
                </a:solidFill>
                <a:latin typeface="Times New Roman" panose="02020603050405020304" pitchFamily="18" charset="0"/>
                <a:ea typeface="Roboto"/>
                <a:cs typeface="Times New Roman" panose="02020603050405020304" pitchFamily="18" charset="0"/>
                <a:sym typeface="Roboto"/>
              </a:rPr>
              <a:t>: Recomputing the KV of a </a:t>
            </a:r>
            <a:r>
              <a:rPr lang="en-US" altLang="zh-CN" sz="1800" b="1" dirty="0">
                <a:solidFill>
                  <a:schemeClr val="dk1"/>
                </a:solidFill>
                <a:latin typeface="Times New Roman" panose="02020603050405020304" pitchFamily="18" charset="0"/>
                <a:ea typeface="Roboto"/>
                <a:cs typeface="Times New Roman" panose="02020603050405020304" pitchFamily="18" charset="0"/>
                <a:sym typeface="Roboto"/>
              </a:rPr>
              <a:t>selective subset </a:t>
            </a:r>
            <a:r>
              <a:rPr lang="en-US" altLang="zh-CN" sz="1800" dirty="0">
                <a:solidFill>
                  <a:schemeClr val="dk1"/>
                </a:solidFill>
                <a:latin typeface="Times New Roman" panose="02020603050405020304" pitchFamily="18" charset="0"/>
                <a:ea typeface="Roboto"/>
                <a:cs typeface="Times New Roman" panose="02020603050405020304" pitchFamily="18" charset="0"/>
                <a:sym typeface="Roboto"/>
              </a:rPr>
              <a:t>of tokens on each layer while reusing other tokens’ KV.</a:t>
            </a:r>
          </a:p>
          <a:p>
            <a:pPr marL="0" lvl="0" indent="0" algn="l" rtl="0">
              <a:lnSpc>
                <a:spcPct val="115000"/>
              </a:lnSpc>
              <a:spcBef>
                <a:spcPts val="600"/>
              </a:spcBef>
              <a:spcAft>
                <a:spcPts val="600"/>
              </a:spcAft>
              <a:buNone/>
            </a:pPr>
            <a:r>
              <a:rPr lang="en-US" altLang="zh-CN" sz="1800" dirty="0">
                <a:solidFill>
                  <a:schemeClr val="dk1"/>
                </a:solidFill>
                <a:latin typeface="Times New Roman" panose="02020603050405020304" pitchFamily="18" charset="0"/>
                <a:ea typeface="Roboto"/>
                <a:cs typeface="Times New Roman" panose="02020603050405020304" pitchFamily="18" charset="0"/>
                <a:sym typeface="Roboto"/>
              </a:rPr>
              <a:t>•</a:t>
            </a:r>
            <a:r>
              <a:rPr lang="en-US" altLang="zh-CN" sz="1800" i="1" dirty="0">
                <a:solidFill>
                  <a:schemeClr val="dk1"/>
                </a:solidFill>
                <a:latin typeface="Times New Roman" panose="02020603050405020304" pitchFamily="18" charset="0"/>
                <a:ea typeface="Roboto"/>
                <a:cs typeface="Times New Roman" panose="02020603050405020304" pitchFamily="18" charset="0"/>
                <a:sym typeface="Roboto"/>
              </a:rPr>
              <a:t>Terminology</a:t>
            </a:r>
            <a:r>
              <a:rPr lang="en-US" altLang="zh-CN" sz="1800" dirty="0">
                <a:solidFill>
                  <a:schemeClr val="dk1"/>
                </a:solidFill>
                <a:latin typeface="Times New Roman" panose="02020603050405020304" pitchFamily="18" charset="0"/>
                <a:ea typeface="Roboto"/>
                <a:cs typeface="Times New Roman" panose="02020603050405020304" pitchFamily="18" charset="0"/>
                <a:sym typeface="Roboto"/>
              </a:rPr>
              <a:t>: </a:t>
            </a:r>
            <a:endParaRPr sz="1800" dirty="0">
              <a:solidFill>
                <a:schemeClr val="dk1"/>
              </a:solidFill>
              <a:latin typeface="Times New Roman" panose="02020603050405020304" pitchFamily="18" charset="0"/>
              <a:ea typeface="Roboto"/>
              <a:cs typeface="Times New Roman" panose="02020603050405020304" pitchFamily="18" charset="0"/>
              <a:sym typeface="Roboto"/>
            </a:endParaRPr>
          </a:p>
        </p:txBody>
      </p:sp>
      <p:sp>
        <p:nvSpPr>
          <p:cNvPr id="591" name="Google Shape;591;g330b2db8419_2_73">
            <a:extLst>
              <a:ext uri="{FF2B5EF4-FFF2-40B4-BE49-F238E27FC236}">
                <a16:creationId xmlns:a16="http://schemas.microsoft.com/office/drawing/2014/main" id="{2DDE9FDF-C17A-CC21-91CD-F0198E4C140E}"/>
              </a:ext>
            </a:extLst>
          </p:cNvPr>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592" name="Google Shape;592;g330b2db8419_2_73">
            <a:extLst>
              <a:ext uri="{FF2B5EF4-FFF2-40B4-BE49-F238E27FC236}">
                <a16:creationId xmlns:a16="http://schemas.microsoft.com/office/drawing/2014/main" id="{6F8FA397-8CDB-6F5D-4F3A-A1BAD37BA8A1}"/>
              </a:ext>
            </a:extLst>
          </p:cNvPr>
          <p:cNvSpPr txBox="1"/>
          <p:nvPr/>
        </p:nvSpPr>
        <p:spPr>
          <a:xfrm>
            <a:off x="114162" y="145685"/>
            <a:ext cx="10910100"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US" sz="3200" dirty="0">
                <a:solidFill>
                  <a:schemeClr val="lt1"/>
                </a:solidFill>
                <a:latin typeface="Times New Roman" panose="02020603050405020304" pitchFamily="18" charset="0"/>
                <a:cs typeface="Times New Roman" panose="02020603050405020304" pitchFamily="18" charset="0"/>
              </a:rPr>
              <a:t>Method: </a:t>
            </a:r>
            <a:r>
              <a:rPr lang="en-US" sz="3200" dirty="0" err="1">
                <a:solidFill>
                  <a:schemeClr val="lt1"/>
                </a:solidFill>
                <a:latin typeface="Times New Roman" panose="02020603050405020304" pitchFamily="18" charset="0"/>
                <a:cs typeface="Times New Roman" panose="02020603050405020304" pitchFamily="18" charset="0"/>
              </a:rPr>
              <a:t>FastKVCacheFusing</a:t>
            </a:r>
            <a:endParaRPr sz="3200" b="0" i="0" u="none" strike="noStrike" cap="none" dirty="0">
              <a:solidFill>
                <a:schemeClr val="lt1"/>
              </a:solidFill>
              <a:latin typeface="Times New Roman" panose="02020603050405020304" pitchFamily="18" charset="0"/>
              <a:cs typeface="Times New Roman" panose="02020603050405020304" pitchFamily="18" charset="0"/>
              <a:sym typeface="Arial"/>
            </a:endParaRPr>
          </a:p>
        </p:txBody>
      </p:sp>
      <p:pic>
        <p:nvPicPr>
          <p:cNvPr id="593" name="Google Shape;593;g330b2db8419_2_73">
            <a:extLst>
              <a:ext uri="{FF2B5EF4-FFF2-40B4-BE49-F238E27FC236}">
                <a16:creationId xmlns:a16="http://schemas.microsoft.com/office/drawing/2014/main" id="{92F7CB89-0887-3379-AC52-CE5E0C3A50E5}"/>
              </a:ext>
            </a:extLst>
          </p:cNvPr>
          <p:cNvPicPr preferRelativeResize="0"/>
          <p:nvPr/>
        </p:nvPicPr>
        <p:blipFill rotWithShape="1">
          <a:blip r:embed="rId3">
            <a:alphaModFix/>
          </a:blip>
          <a:srcRect/>
          <a:stretch/>
        </p:blipFill>
        <p:spPr>
          <a:xfrm>
            <a:off x="11557509" y="233819"/>
            <a:ext cx="271309" cy="389810"/>
          </a:xfrm>
          <a:prstGeom prst="rect">
            <a:avLst/>
          </a:prstGeom>
          <a:noFill/>
          <a:ln>
            <a:noFill/>
          </a:ln>
        </p:spPr>
      </p:pic>
      <p:sp>
        <p:nvSpPr>
          <p:cNvPr id="594" name="Google Shape;594;g330b2db8419_2_73">
            <a:extLst>
              <a:ext uri="{FF2B5EF4-FFF2-40B4-BE49-F238E27FC236}">
                <a16:creationId xmlns:a16="http://schemas.microsoft.com/office/drawing/2014/main" id="{C4C2B5AB-8E22-57AD-EB39-782D52764E29}"/>
              </a:ext>
            </a:extLst>
          </p:cNvPr>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595" name="Google Shape;595;g330b2db8419_2_73">
            <a:extLst>
              <a:ext uri="{FF2B5EF4-FFF2-40B4-BE49-F238E27FC236}">
                <a16:creationId xmlns:a16="http://schemas.microsoft.com/office/drawing/2014/main" id="{DF538274-4486-0E3A-5D98-80B877E7064E}"/>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596" name="Google Shape;596;g330b2db8419_2_73">
            <a:extLst>
              <a:ext uri="{FF2B5EF4-FFF2-40B4-BE49-F238E27FC236}">
                <a16:creationId xmlns:a16="http://schemas.microsoft.com/office/drawing/2014/main" id="{4FA3DD26-7740-5A69-6882-FE4E9EC16504}"/>
              </a:ext>
            </a:extLst>
          </p:cNvPr>
          <p:cNvGrpSpPr/>
          <p:nvPr/>
        </p:nvGrpSpPr>
        <p:grpSpPr>
          <a:xfrm>
            <a:off x="2622925" y="6601537"/>
            <a:ext cx="6677215" cy="70500"/>
            <a:chOff x="2589675" y="6601537"/>
            <a:chExt cx="6677215" cy="70500"/>
          </a:xfrm>
        </p:grpSpPr>
        <p:cxnSp>
          <p:nvCxnSpPr>
            <p:cNvPr id="597" name="Google Shape;597;g330b2db8419_2_73">
              <a:extLst>
                <a:ext uri="{FF2B5EF4-FFF2-40B4-BE49-F238E27FC236}">
                  <a16:creationId xmlns:a16="http://schemas.microsoft.com/office/drawing/2014/main" id="{30601C6F-33A9-9C78-FE4C-2C38F736D634}"/>
                </a:ext>
              </a:extLst>
            </p:cNvPr>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598" name="Google Shape;598;g330b2db8419_2_73">
              <a:extLst>
                <a:ext uri="{FF2B5EF4-FFF2-40B4-BE49-F238E27FC236}">
                  <a16:creationId xmlns:a16="http://schemas.microsoft.com/office/drawing/2014/main" id="{782DD200-45AD-3660-6E7A-391FB69E5A35}"/>
                </a:ext>
              </a:extLst>
            </p:cNvPr>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599" name="Google Shape;599;g330b2db8419_2_73">
            <a:extLst>
              <a:ext uri="{FF2B5EF4-FFF2-40B4-BE49-F238E27FC236}">
                <a16:creationId xmlns:a16="http://schemas.microsoft.com/office/drawing/2014/main" id="{D80AAE90-CD8F-CEA2-C38B-BEB59000CC8D}"/>
              </a:ext>
            </a:extLst>
          </p:cNvPr>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pic>
        <p:nvPicPr>
          <p:cNvPr id="3" name="图片 2">
            <a:extLst>
              <a:ext uri="{FF2B5EF4-FFF2-40B4-BE49-F238E27FC236}">
                <a16:creationId xmlns:a16="http://schemas.microsoft.com/office/drawing/2014/main" id="{8B039AB6-E007-A4AD-43C5-E1E0B0E1C627}"/>
              </a:ext>
            </a:extLst>
          </p:cNvPr>
          <p:cNvPicPr>
            <a:picLocks noChangeAspect="1"/>
          </p:cNvPicPr>
          <p:nvPr/>
        </p:nvPicPr>
        <p:blipFill>
          <a:blip r:embed="rId4"/>
          <a:stretch>
            <a:fillRect/>
          </a:stretch>
        </p:blipFill>
        <p:spPr>
          <a:xfrm>
            <a:off x="1746544" y="2619260"/>
            <a:ext cx="5612093" cy="3929237"/>
          </a:xfrm>
          <a:prstGeom prst="rect">
            <a:avLst/>
          </a:prstGeom>
        </p:spPr>
      </p:pic>
    </p:spTree>
    <p:extLst>
      <p:ext uri="{BB962C8B-B14F-4D97-AF65-F5344CB8AC3E}">
        <p14:creationId xmlns:p14="http://schemas.microsoft.com/office/powerpoint/2010/main" val="418382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89">
          <a:extLst>
            <a:ext uri="{FF2B5EF4-FFF2-40B4-BE49-F238E27FC236}">
              <a16:creationId xmlns:a16="http://schemas.microsoft.com/office/drawing/2014/main" id="{62292DBF-3356-B895-FA58-0209BC59E734}"/>
            </a:ext>
          </a:extLst>
        </p:cNvPr>
        <p:cNvGrpSpPr/>
        <p:nvPr/>
      </p:nvGrpSpPr>
      <p:grpSpPr>
        <a:xfrm>
          <a:off x="0" y="0"/>
          <a:ext cx="0" cy="0"/>
          <a:chOff x="0" y="0"/>
          <a:chExt cx="0" cy="0"/>
        </a:xfrm>
      </p:grpSpPr>
      <p:sp>
        <p:nvSpPr>
          <p:cNvPr id="591" name="Google Shape;591;g330b2db8419_2_73">
            <a:extLst>
              <a:ext uri="{FF2B5EF4-FFF2-40B4-BE49-F238E27FC236}">
                <a16:creationId xmlns:a16="http://schemas.microsoft.com/office/drawing/2014/main" id="{7DB59B51-729E-7F96-28F4-514A3FFFC680}"/>
              </a:ext>
            </a:extLst>
          </p:cNvPr>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592" name="Google Shape;592;g330b2db8419_2_73">
            <a:extLst>
              <a:ext uri="{FF2B5EF4-FFF2-40B4-BE49-F238E27FC236}">
                <a16:creationId xmlns:a16="http://schemas.microsoft.com/office/drawing/2014/main" id="{B99449E2-5BCD-27B6-1921-93BC484562DE}"/>
              </a:ext>
            </a:extLst>
          </p:cNvPr>
          <p:cNvSpPr txBox="1"/>
          <p:nvPr/>
        </p:nvSpPr>
        <p:spPr>
          <a:xfrm>
            <a:off x="114162" y="145685"/>
            <a:ext cx="10910100"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US" sz="3200" dirty="0">
                <a:solidFill>
                  <a:schemeClr val="lt1"/>
                </a:solidFill>
                <a:latin typeface="Times New Roman" panose="02020603050405020304" pitchFamily="18" charset="0"/>
                <a:cs typeface="Times New Roman" panose="02020603050405020304" pitchFamily="18" charset="0"/>
              </a:rPr>
              <a:t>Method: </a:t>
            </a:r>
            <a:r>
              <a:rPr lang="en-US" sz="3200" dirty="0" err="1">
                <a:solidFill>
                  <a:schemeClr val="lt1"/>
                </a:solidFill>
                <a:latin typeface="Times New Roman" panose="02020603050405020304" pitchFamily="18" charset="0"/>
                <a:cs typeface="Times New Roman" panose="02020603050405020304" pitchFamily="18" charset="0"/>
              </a:rPr>
              <a:t>FastKVCacheFusing</a:t>
            </a:r>
            <a:endParaRPr sz="3200" b="0" i="0" u="none" strike="noStrike" cap="none" dirty="0">
              <a:solidFill>
                <a:schemeClr val="lt1"/>
              </a:solidFill>
              <a:latin typeface="Times New Roman" panose="02020603050405020304" pitchFamily="18" charset="0"/>
              <a:cs typeface="Times New Roman" panose="02020603050405020304" pitchFamily="18" charset="0"/>
              <a:sym typeface="Arial"/>
            </a:endParaRPr>
          </a:p>
        </p:txBody>
      </p:sp>
      <p:pic>
        <p:nvPicPr>
          <p:cNvPr id="593" name="Google Shape;593;g330b2db8419_2_73">
            <a:extLst>
              <a:ext uri="{FF2B5EF4-FFF2-40B4-BE49-F238E27FC236}">
                <a16:creationId xmlns:a16="http://schemas.microsoft.com/office/drawing/2014/main" id="{C0567EAB-822C-24DC-7BDD-AC0FB731C7CE}"/>
              </a:ext>
            </a:extLst>
          </p:cNvPr>
          <p:cNvPicPr preferRelativeResize="0"/>
          <p:nvPr/>
        </p:nvPicPr>
        <p:blipFill rotWithShape="1">
          <a:blip r:embed="rId3">
            <a:alphaModFix/>
          </a:blip>
          <a:srcRect/>
          <a:stretch/>
        </p:blipFill>
        <p:spPr>
          <a:xfrm>
            <a:off x="11557509" y="233819"/>
            <a:ext cx="271309" cy="389810"/>
          </a:xfrm>
          <a:prstGeom prst="rect">
            <a:avLst/>
          </a:prstGeom>
          <a:noFill/>
          <a:ln>
            <a:noFill/>
          </a:ln>
        </p:spPr>
      </p:pic>
      <p:sp>
        <p:nvSpPr>
          <p:cNvPr id="594" name="Google Shape;594;g330b2db8419_2_73">
            <a:extLst>
              <a:ext uri="{FF2B5EF4-FFF2-40B4-BE49-F238E27FC236}">
                <a16:creationId xmlns:a16="http://schemas.microsoft.com/office/drawing/2014/main" id="{362AB59C-2F24-056E-BB2A-56C89D39EE09}"/>
              </a:ext>
            </a:extLst>
          </p:cNvPr>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595" name="Google Shape;595;g330b2db8419_2_73">
            <a:extLst>
              <a:ext uri="{FF2B5EF4-FFF2-40B4-BE49-F238E27FC236}">
                <a16:creationId xmlns:a16="http://schemas.microsoft.com/office/drawing/2014/main" id="{61626DDA-3A7B-E626-918C-0B7AB6E4ED63}"/>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596" name="Google Shape;596;g330b2db8419_2_73">
            <a:extLst>
              <a:ext uri="{FF2B5EF4-FFF2-40B4-BE49-F238E27FC236}">
                <a16:creationId xmlns:a16="http://schemas.microsoft.com/office/drawing/2014/main" id="{AEC6D884-32FE-D18F-54B6-DC1443E25CE4}"/>
              </a:ext>
            </a:extLst>
          </p:cNvPr>
          <p:cNvGrpSpPr/>
          <p:nvPr/>
        </p:nvGrpSpPr>
        <p:grpSpPr>
          <a:xfrm>
            <a:off x="2622925" y="6601537"/>
            <a:ext cx="6677215" cy="70500"/>
            <a:chOff x="2589675" y="6601537"/>
            <a:chExt cx="6677215" cy="70500"/>
          </a:xfrm>
        </p:grpSpPr>
        <p:cxnSp>
          <p:nvCxnSpPr>
            <p:cNvPr id="597" name="Google Shape;597;g330b2db8419_2_73">
              <a:extLst>
                <a:ext uri="{FF2B5EF4-FFF2-40B4-BE49-F238E27FC236}">
                  <a16:creationId xmlns:a16="http://schemas.microsoft.com/office/drawing/2014/main" id="{05621689-094D-D34F-205D-CF427ABC6322}"/>
                </a:ext>
              </a:extLst>
            </p:cNvPr>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598" name="Google Shape;598;g330b2db8419_2_73">
              <a:extLst>
                <a:ext uri="{FF2B5EF4-FFF2-40B4-BE49-F238E27FC236}">
                  <a16:creationId xmlns:a16="http://schemas.microsoft.com/office/drawing/2014/main" id="{CBA0FE84-9C3D-39CD-3594-8DDC5DCCFEB9}"/>
                </a:ext>
              </a:extLst>
            </p:cNvPr>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599" name="Google Shape;599;g330b2db8419_2_73">
            <a:extLst>
              <a:ext uri="{FF2B5EF4-FFF2-40B4-BE49-F238E27FC236}">
                <a16:creationId xmlns:a16="http://schemas.microsoft.com/office/drawing/2014/main" id="{7CA2D45A-8D5A-BE03-0959-92832E22DD39}"/>
              </a:ext>
            </a:extLst>
          </p:cNvPr>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pic>
        <p:nvPicPr>
          <p:cNvPr id="3" name="图片 2">
            <a:extLst>
              <a:ext uri="{FF2B5EF4-FFF2-40B4-BE49-F238E27FC236}">
                <a16:creationId xmlns:a16="http://schemas.microsoft.com/office/drawing/2014/main" id="{0A7FE91E-31BB-319D-156A-B6AB4A68D0AE}"/>
              </a:ext>
            </a:extLst>
          </p:cNvPr>
          <p:cNvPicPr>
            <a:picLocks noChangeAspect="1"/>
          </p:cNvPicPr>
          <p:nvPr/>
        </p:nvPicPr>
        <p:blipFill>
          <a:blip r:embed="rId4"/>
          <a:stretch>
            <a:fillRect/>
          </a:stretch>
        </p:blipFill>
        <p:spPr>
          <a:xfrm>
            <a:off x="114162" y="922641"/>
            <a:ext cx="5612093" cy="3929237"/>
          </a:xfrm>
          <a:prstGeom prst="rect">
            <a:avLst/>
          </a:prstGeom>
        </p:spPr>
      </p:pic>
      <p:sp>
        <p:nvSpPr>
          <p:cNvPr id="2" name="矩形 1">
            <a:extLst>
              <a:ext uri="{FF2B5EF4-FFF2-40B4-BE49-F238E27FC236}">
                <a16:creationId xmlns:a16="http://schemas.microsoft.com/office/drawing/2014/main" id="{7C2FE01C-C0D1-2530-D227-60C896C37428}"/>
              </a:ext>
            </a:extLst>
          </p:cNvPr>
          <p:cNvSpPr/>
          <p:nvPr/>
        </p:nvSpPr>
        <p:spPr>
          <a:xfrm>
            <a:off x="179167" y="4063778"/>
            <a:ext cx="5459630" cy="46903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17AEF8F5-24A5-7A06-186A-F30A933DB8E4}"/>
                  </a:ext>
                </a:extLst>
              </p:cNvPr>
              <p:cNvSpPr txBox="1"/>
              <p:nvPr/>
            </p:nvSpPr>
            <p:spPr>
              <a:xfrm>
                <a:off x="6096000" y="1216803"/>
                <a:ext cx="5247038" cy="139576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000" b="0" i="1" smtClean="0">
                              <a:latin typeface="Cambria Math" panose="02040503050406030204" pitchFamily="18" charset="0"/>
                              <a:cs typeface="Times New Roman" panose="02020603050405020304" pitchFamily="18" charset="0"/>
                            </a:rPr>
                          </m:ctrlPr>
                        </m:dPr>
                        <m:e>
                          <m:r>
                            <a:rPr lang="en-US" altLang="zh-CN" sz="2000" b="0" i="1" smtClean="0">
                              <a:latin typeface="Cambria Math" panose="02040503050406030204" pitchFamily="18" charset="0"/>
                              <a:cs typeface="Times New Roman" panose="02020603050405020304" pitchFamily="18" charset="0"/>
                            </a:rPr>
                            <m:t> </m:t>
                          </m:r>
                          <m:sSub>
                            <m:sSubPr>
                              <m:ctrlPr>
                                <a:rPr lang="en-US" altLang="zh-CN" sz="200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𝐾𝑉</m:t>
                              </m:r>
                            </m:e>
                            <m:sub>
                              <m:r>
                                <a:rPr lang="en-US" altLang="zh-CN" sz="2000" b="0" i="1" smtClean="0">
                                  <a:latin typeface="Cambria Math" panose="02040503050406030204" pitchFamily="18" charset="0"/>
                                  <a:cs typeface="Times New Roman" panose="02020603050405020304" pitchFamily="18" charset="0"/>
                                </a:rPr>
                                <m:t>𝑖</m:t>
                              </m:r>
                            </m:sub>
                          </m:sSub>
                          <m:d>
                            <m:dPr>
                              <m:begChr m:val="["/>
                              <m:endChr m:val="]"/>
                              <m:ctrlPr>
                                <a:rPr lang="en-US" altLang="zh-CN" sz="2000" b="0" i="1" smtClean="0">
                                  <a:latin typeface="Cambria Math" panose="02040503050406030204" pitchFamily="18" charset="0"/>
                                  <a:cs typeface="Times New Roman" panose="02020603050405020304" pitchFamily="18" charset="0"/>
                                </a:rPr>
                              </m:ctrlPr>
                            </m:dPr>
                            <m:e>
                              <m:r>
                                <a:rPr lang="en-US" altLang="zh-CN" sz="2000" b="0" i="1" smtClean="0">
                                  <a:latin typeface="Cambria Math" panose="02040503050406030204" pitchFamily="18" charset="0"/>
                                  <a:cs typeface="Times New Roman" panose="02020603050405020304" pitchFamily="18" charset="0"/>
                                </a:rPr>
                                <m:t>𝑗</m:t>
                              </m:r>
                            </m:e>
                          </m:d>
                          <m:r>
                            <a:rPr lang="en-US" altLang="zh-CN" sz="2000" b="0" i="1" smtClean="0">
                              <a:latin typeface="Cambria Math" panose="02040503050406030204" pitchFamily="18" charset="0"/>
                              <a:cs typeface="Times New Roman" panose="02020603050405020304" pitchFamily="18" charset="0"/>
                            </a:rPr>
                            <m:t>−</m:t>
                          </m:r>
                          <m:sSubSup>
                            <m:sSubSupPr>
                              <m:ctrlPr>
                                <a:rPr lang="en-US" altLang="zh-CN" sz="2000" b="0" i="1" smtClean="0">
                                  <a:latin typeface="Cambria Math" panose="02040503050406030204" pitchFamily="18" charset="0"/>
                                  <a:cs typeface="Times New Roman" panose="02020603050405020304" pitchFamily="18" charset="0"/>
                                </a:rPr>
                              </m:ctrlPr>
                            </m:sSubSupPr>
                            <m:e>
                              <m:r>
                                <a:rPr lang="en-US" altLang="zh-CN" sz="2000" b="0" i="1" smtClean="0">
                                  <a:latin typeface="Cambria Math" panose="02040503050406030204" pitchFamily="18" charset="0"/>
                                  <a:cs typeface="Times New Roman" panose="02020603050405020304" pitchFamily="18" charset="0"/>
                                </a:rPr>
                                <m:t>𝐾𝑉</m:t>
                              </m:r>
                            </m:e>
                            <m:sub>
                              <m:r>
                                <a:rPr lang="en-US" altLang="zh-CN" sz="2000" b="0" i="1" smtClean="0">
                                  <a:latin typeface="Cambria Math" panose="02040503050406030204" pitchFamily="18" charset="0"/>
                                  <a:cs typeface="Times New Roman" panose="02020603050405020304" pitchFamily="18" charset="0"/>
                                </a:rPr>
                                <m:t>𝑖</m:t>
                              </m:r>
                            </m:sub>
                            <m:sup>
                              <m:r>
                                <a:rPr lang="en-US" altLang="zh-CN" sz="2000" b="0" i="1" smtClean="0">
                                  <a:latin typeface="Cambria Math" panose="02040503050406030204" pitchFamily="18" charset="0"/>
                                  <a:cs typeface="Times New Roman" panose="02020603050405020304" pitchFamily="18" charset="0"/>
                                </a:rPr>
                                <m:t>𝑓𝑢𝑙𝑙</m:t>
                              </m:r>
                            </m:sup>
                          </m:sSubSup>
                          <m:d>
                            <m:dPr>
                              <m:begChr m:val="["/>
                              <m:endChr m:val="]"/>
                              <m:ctrlPr>
                                <a:rPr lang="en-US" altLang="zh-CN" sz="2000" b="0" i="1" smtClean="0">
                                  <a:latin typeface="Cambria Math" panose="02040503050406030204" pitchFamily="18" charset="0"/>
                                  <a:cs typeface="Times New Roman" panose="02020603050405020304" pitchFamily="18" charset="0"/>
                                </a:rPr>
                              </m:ctrlPr>
                            </m:dPr>
                            <m:e>
                              <m:r>
                                <a:rPr lang="en-US" altLang="zh-CN" sz="2000" b="0" i="1" smtClean="0">
                                  <a:latin typeface="Cambria Math" panose="02040503050406030204" pitchFamily="18" charset="0"/>
                                  <a:cs typeface="Times New Roman" panose="02020603050405020304" pitchFamily="18" charset="0"/>
                                </a:rPr>
                                <m:t>𝑗</m:t>
                              </m:r>
                            </m:e>
                          </m:d>
                        </m:e>
                      </m:d>
                    </m:oMath>
                  </m:oMathPara>
                </a14:m>
                <a:endParaRPr lang="en-US" altLang="zh-CN" sz="2000" b="0"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KV deviation</a:t>
                </a:r>
                <a:r>
                  <a:rPr lang="en-US" altLang="zh-CN" sz="2000" dirty="0">
                    <a:latin typeface="Times New Roman" panose="02020603050405020304" pitchFamily="18" charset="0"/>
                    <a:cs typeface="Times New Roman" panose="02020603050405020304" pitchFamily="18" charset="0"/>
                  </a:rPr>
                  <a:t>: It measures how much different the given KV is on a particular token and layer compared to the fully recomputed KV cache.</a:t>
                </a:r>
                <a:endParaRPr lang="zh-CN" altLang="en-US" sz="2000" dirty="0">
                  <a:latin typeface="Times New Roman" panose="02020603050405020304" pitchFamily="18" charset="0"/>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17AEF8F5-24A5-7A06-186A-F30A933DB8E4}"/>
                  </a:ext>
                </a:extLst>
              </p:cNvPr>
              <p:cNvSpPr txBox="1">
                <a:spLocks noRot="1" noChangeAspect="1" noMove="1" noResize="1" noEditPoints="1" noAdjustHandles="1" noChangeArrowheads="1" noChangeShapeType="1" noTextEdit="1"/>
              </p:cNvSpPr>
              <p:nvPr/>
            </p:nvSpPr>
            <p:spPr>
              <a:xfrm>
                <a:off x="6096000" y="1216803"/>
                <a:ext cx="5247038" cy="1395767"/>
              </a:xfrm>
              <a:prstGeom prst="rect">
                <a:avLst/>
              </a:prstGeom>
              <a:blipFill>
                <a:blip r:embed="rId5"/>
                <a:stretch>
                  <a:fillRect l="-1208" b="-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531200F3-D2EB-CECD-CEA6-DCA979637139}"/>
                  </a:ext>
                </a:extLst>
              </p:cNvPr>
              <p:cNvSpPr txBox="1"/>
              <p:nvPr/>
            </p:nvSpPr>
            <p:spPr>
              <a:xfrm>
                <a:off x="6096000" y="3650593"/>
                <a:ext cx="5247038" cy="1087990"/>
              </a:xfrm>
              <a:prstGeom prst="rect">
                <a:avLst/>
              </a:prstGeom>
              <a:noFill/>
            </p:spPr>
            <p:txBody>
              <a:bodyPr wrap="square" rtlCol="0">
                <a:spAutoFit/>
              </a:bodyPr>
              <a:lstStyle/>
              <a:p>
                <a:r>
                  <a:rPr lang="en-US" altLang="zh-CN" sz="2000" b="1" dirty="0">
                    <a:latin typeface="Times New Roman" panose="02020603050405020304" pitchFamily="18" charset="0"/>
                    <a:cs typeface="Times New Roman" panose="02020603050405020304" pitchFamily="18" charset="0"/>
                  </a:rPr>
                  <a:t>Attention deviation</a:t>
                </a:r>
                <a:r>
                  <a:rPr lang="en-US" altLang="zh-CN" sz="2000" dirty="0">
                    <a:latin typeface="Times New Roman" panose="02020603050405020304" pitchFamily="18" charset="0"/>
                    <a:cs typeface="Times New Roman" panose="02020603050405020304" pitchFamily="18" charset="0"/>
                  </a:rPr>
                  <a:t>: The L-2 norm of the difference between </a:t>
                </a:r>
                <a14:m>
                  <m:oMath xmlns:m="http://schemas.openxmlformats.org/officeDocument/2006/math">
                    <m:sSub>
                      <m:sSubPr>
                        <m:ctrlPr>
                          <a:rPr lang="en-US" altLang="zh-CN" sz="2000" i="1" smtClean="0">
                            <a:latin typeface="Cambria Math" panose="02040503050406030204" pitchFamily="18" charset="0"/>
                            <a:cs typeface="Times New Roman" panose="02020603050405020304" pitchFamily="18" charset="0"/>
                          </a:rPr>
                        </m:ctrlPr>
                      </m:sSubPr>
                      <m:e>
                        <m:r>
                          <a:rPr lang="en-US" altLang="zh-CN" sz="2000" b="0" i="1" smtClean="0">
                            <a:latin typeface="Cambria Math" panose="02040503050406030204" pitchFamily="18" charset="0"/>
                            <a:cs typeface="Times New Roman" panose="02020603050405020304" pitchFamily="18" charset="0"/>
                          </a:rPr>
                          <m:t>𝐴</m:t>
                        </m:r>
                      </m:e>
                      <m:sub>
                        <m:r>
                          <a:rPr lang="en-US" altLang="zh-CN" sz="2000" b="0" i="1" smtClean="0">
                            <a:latin typeface="Cambria Math" panose="02040503050406030204" pitchFamily="18" charset="0"/>
                            <a:cs typeface="Times New Roman" panose="02020603050405020304" pitchFamily="18" charset="0"/>
                          </a:rPr>
                          <m:t>𝑖</m:t>
                        </m:r>
                      </m:sub>
                    </m:sSub>
                  </m:oMath>
                </a14:m>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and </a:t>
                </a:r>
                <a14:m>
                  <m:oMath xmlns:m="http://schemas.openxmlformats.org/officeDocument/2006/math">
                    <m:sSubSup>
                      <m:sSubSupPr>
                        <m:ctrlPr>
                          <a:rPr lang="en-US" altLang="zh-CN" sz="2000" i="1" smtClean="0">
                            <a:latin typeface="Cambria Math" panose="02040503050406030204" pitchFamily="18" charset="0"/>
                            <a:cs typeface="Times New Roman" panose="02020603050405020304" pitchFamily="18" charset="0"/>
                          </a:rPr>
                        </m:ctrlPr>
                      </m:sSubSupPr>
                      <m:e>
                        <m:r>
                          <a:rPr lang="en-US" altLang="zh-CN" sz="2000" b="0" i="1" smtClean="0">
                            <a:latin typeface="Cambria Math" panose="02040503050406030204" pitchFamily="18" charset="0"/>
                            <a:cs typeface="Times New Roman" panose="02020603050405020304" pitchFamily="18" charset="0"/>
                          </a:rPr>
                          <m:t>𝐴</m:t>
                        </m:r>
                      </m:e>
                      <m:sub>
                        <m:r>
                          <a:rPr lang="en-US" altLang="zh-CN" sz="2000" b="0" i="1" smtClean="0">
                            <a:latin typeface="Cambria Math" panose="02040503050406030204" pitchFamily="18" charset="0"/>
                            <a:cs typeface="Times New Roman" panose="02020603050405020304" pitchFamily="18" charset="0"/>
                          </a:rPr>
                          <m:t>𝑖</m:t>
                        </m:r>
                      </m:sub>
                      <m:sup>
                        <m:r>
                          <a:rPr lang="en-US" altLang="zh-CN" sz="2000" b="0" i="1" smtClean="0">
                            <a:latin typeface="Cambria Math" panose="02040503050406030204" pitchFamily="18" charset="0"/>
                            <a:cs typeface="Times New Roman" panose="02020603050405020304" pitchFamily="18" charset="0"/>
                          </a:rPr>
                          <m:t>𝑓𝑢𝑙𝑙</m:t>
                        </m:r>
                      </m:sup>
                    </m:sSubSup>
                  </m:oMath>
                </a14:m>
                <a:r>
                  <a:rPr lang="en-US" altLang="zh-CN" sz="2000" dirty="0">
                    <a:latin typeface="Times New Roman" panose="02020603050405020304" pitchFamily="18" charset="0"/>
                    <a:cs typeface="Times New Roman" panose="02020603050405020304" pitchFamily="18" charset="0"/>
                  </a:rPr>
                  <a:t>, which is also what we want to minimize on any layer </a:t>
                </a:r>
                <a14:m>
                  <m:oMath xmlns:m="http://schemas.openxmlformats.org/officeDocument/2006/math">
                    <m:r>
                      <a:rPr lang="en-US" altLang="zh-CN" sz="2000" b="0" i="1" smtClean="0">
                        <a:latin typeface="Cambria Math" panose="02040503050406030204" pitchFamily="18" charset="0"/>
                        <a:cs typeface="Times New Roman" panose="02020603050405020304" pitchFamily="18" charset="0"/>
                      </a:rPr>
                      <m:t>𝑖</m:t>
                    </m:r>
                  </m:oMath>
                </a14:m>
                <a:r>
                  <a:rPr lang="en-US" altLang="zh-CN" sz="2000" dirty="0">
                    <a:latin typeface="Times New Roman" panose="02020603050405020304" pitchFamily="18" charset="0"/>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p:txBody>
          </p:sp>
        </mc:Choice>
        <mc:Fallback xmlns="">
          <p:sp>
            <p:nvSpPr>
              <p:cNvPr id="5" name="文本框 4">
                <a:extLst>
                  <a:ext uri="{FF2B5EF4-FFF2-40B4-BE49-F238E27FC236}">
                    <a16:creationId xmlns:a16="http://schemas.microsoft.com/office/drawing/2014/main" id="{531200F3-D2EB-CECD-CEA6-DCA979637139}"/>
                  </a:ext>
                </a:extLst>
              </p:cNvPr>
              <p:cNvSpPr txBox="1">
                <a:spLocks noRot="1" noChangeAspect="1" noMove="1" noResize="1" noEditPoints="1" noAdjustHandles="1" noChangeArrowheads="1" noChangeShapeType="1" noTextEdit="1"/>
              </p:cNvSpPr>
              <p:nvPr/>
            </p:nvSpPr>
            <p:spPr>
              <a:xfrm>
                <a:off x="6096000" y="3650593"/>
                <a:ext cx="5247038" cy="1087990"/>
              </a:xfrm>
              <a:prstGeom prst="rect">
                <a:avLst/>
              </a:prstGeom>
              <a:blipFill>
                <a:blip r:embed="rId6"/>
                <a:stretch>
                  <a:fillRect l="-1161" t="-3371" b="-955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026222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89">
          <a:extLst>
            <a:ext uri="{FF2B5EF4-FFF2-40B4-BE49-F238E27FC236}">
              <a16:creationId xmlns:a16="http://schemas.microsoft.com/office/drawing/2014/main" id="{3446C832-150C-D216-333A-33EBD149928C}"/>
            </a:ext>
          </a:extLst>
        </p:cNvPr>
        <p:cNvGrpSpPr/>
        <p:nvPr/>
      </p:nvGrpSpPr>
      <p:grpSpPr>
        <a:xfrm>
          <a:off x="0" y="0"/>
          <a:ext cx="0" cy="0"/>
          <a:chOff x="0" y="0"/>
          <a:chExt cx="0" cy="0"/>
        </a:xfrm>
      </p:grpSpPr>
      <p:sp>
        <p:nvSpPr>
          <p:cNvPr id="591" name="Google Shape;591;g330b2db8419_2_73">
            <a:extLst>
              <a:ext uri="{FF2B5EF4-FFF2-40B4-BE49-F238E27FC236}">
                <a16:creationId xmlns:a16="http://schemas.microsoft.com/office/drawing/2014/main" id="{64CB6C82-C2E1-67FF-550C-7532972A155C}"/>
              </a:ext>
            </a:extLst>
          </p:cNvPr>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592" name="Google Shape;592;g330b2db8419_2_73">
            <a:extLst>
              <a:ext uri="{FF2B5EF4-FFF2-40B4-BE49-F238E27FC236}">
                <a16:creationId xmlns:a16="http://schemas.microsoft.com/office/drawing/2014/main" id="{CD1CA9A6-8EE0-2815-B381-43CC863FF502}"/>
              </a:ext>
            </a:extLst>
          </p:cNvPr>
          <p:cNvSpPr txBox="1"/>
          <p:nvPr/>
        </p:nvSpPr>
        <p:spPr>
          <a:xfrm>
            <a:off x="114162" y="145685"/>
            <a:ext cx="10910100"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US" sz="3200" dirty="0">
                <a:solidFill>
                  <a:schemeClr val="lt1"/>
                </a:solidFill>
                <a:latin typeface="Times New Roman" panose="02020603050405020304" pitchFamily="18" charset="0"/>
                <a:cs typeface="Times New Roman" panose="02020603050405020304" pitchFamily="18" charset="0"/>
              </a:rPr>
              <a:t>Selective recomputing KV cache</a:t>
            </a:r>
            <a:endParaRPr sz="3200" b="0" i="0" u="none" strike="noStrike" cap="none" dirty="0">
              <a:solidFill>
                <a:schemeClr val="lt1"/>
              </a:solidFill>
              <a:latin typeface="Times New Roman" panose="02020603050405020304" pitchFamily="18" charset="0"/>
              <a:cs typeface="Times New Roman" panose="02020603050405020304" pitchFamily="18" charset="0"/>
              <a:sym typeface="Arial"/>
            </a:endParaRPr>
          </a:p>
        </p:txBody>
      </p:sp>
      <p:pic>
        <p:nvPicPr>
          <p:cNvPr id="593" name="Google Shape;593;g330b2db8419_2_73">
            <a:extLst>
              <a:ext uri="{FF2B5EF4-FFF2-40B4-BE49-F238E27FC236}">
                <a16:creationId xmlns:a16="http://schemas.microsoft.com/office/drawing/2014/main" id="{15C959AE-B210-305E-53F9-CE3688C837B7}"/>
              </a:ext>
            </a:extLst>
          </p:cNvPr>
          <p:cNvPicPr preferRelativeResize="0"/>
          <p:nvPr/>
        </p:nvPicPr>
        <p:blipFill rotWithShape="1">
          <a:blip r:embed="rId3">
            <a:alphaModFix/>
          </a:blip>
          <a:srcRect/>
          <a:stretch/>
        </p:blipFill>
        <p:spPr>
          <a:xfrm>
            <a:off x="11557509" y="233819"/>
            <a:ext cx="271309" cy="389810"/>
          </a:xfrm>
          <a:prstGeom prst="rect">
            <a:avLst/>
          </a:prstGeom>
          <a:noFill/>
          <a:ln>
            <a:noFill/>
          </a:ln>
        </p:spPr>
      </p:pic>
      <p:sp>
        <p:nvSpPr>
          <p:cNvPr id="594" name="Google Shape;594;g330b2db8419_2_73">
            <a:extLst>
              <a:ext uri="{FF2B5EF4-FFF2-40B4-BE49-F238E27FC236}">
                <a16:creationId xmlns:a16="http://schemas.microsoft.com/office/drawing/2014/main" id="{3A6C1E36-4C5D-29AB-A891-FB2E78979171}"/>
              </a:ext>
            </a:extLst>
          </p:cNvPr>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595" name="Google Shape;595;g330b2db8419_2_73">
            <a:extLst>
              <a:ext uri="{FF2B5EF4-FFF2-40B4-BE49-F238E27FC236}">
                <a16:creationId xmlns:a16="http://schemas.microsoft.com/office/drawing/2014/main" id="{CE448EA9-0B8B-4524-887D-121077B531C3}"/>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596" name="Google Shape;596;g330b2db8419_2_73">
            <a:extLst>
              <a:ext uri="{FF2B5EF4-FFF2-40B4-BE49-F238E27FC236}">
                <a16:creationId xmlns:a16="http://schemas.microsoft.com/office/drawing/2014/main" id="{D5F6C586-8424-5315-D887-05D83E7A8DF7}"/>
              </a:ext>
            </a:extLst>
          </p:cNvPr>
          <p:cNvGrpSpPr/>
          <p:nvPr/>
        </p:nvGrpSpPr>
        <p:grpSpPr>
          <a:xfrm>
            <a:off x="2622925" y="6601537"/>
            <a:ext cx="6677215" cy="70500"/>
            <a:chOff x="2589675" y="6601537"/>
            <a:chExt cx="6677215" cy="70500"/>
          </a:xfrm>
        </p:grpSpPr>
        <p:cxnSp>
          <p:nvCxnSpPr>
            <p:cNvPr id="597" name="Google Shape;597;g330b2db8419_2_73">
              <a:extLst>
                <a:ext uri="{FF2B5EF4-FFF2-40B4-BE49-F238E27FC236}">
                  <a16:creationId xmlns:a16="http://schemas.microsoft.com/office/drawing/2014/main" id="{7CDD3868-892F-6791-015B-3F09C9E5D146}"/>
                </a:ext>
              </a:extLst>
            </p:cNvPr>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598" name="Google Shape;598;g330b2db8419_2_73">
              <a:extLst>
                <a:ext uri="{FF2B5EF4-FFF2-40B4-BE49-F238E27FC236}">
                  <a16:creationId xmlns:a16="http://schemas.microsoft.com/office/drawing/2014/main" id="{69AD30BD-7D52-4D28-869F-AB84DCDC74C2}"/>
                </a:ext>
              </a:extLst>
            </p:cNvPr>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599" name="Google Shape;599;g330b2db8419_2_73">
            <a:extLst>
              <a:ext uri="{FF2B5EF4-FFF2-40B4-BE49-F238E27FC236}">
                <a16:creationId xmlns:a16="http://schemas.microsoft.com/office/drawing/2014/main" id="{5D011FCA-DE99-039A-412B-8B5FEC0A6604}"/>
              </a:ext>
            </a:extLst>
          </p:cNvPr>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pic>
        <p:nvPicPr>
          <p:cNvPr id="7" name="图片 6">
            <a:extLst>
              <a:ext uri="{FF2B5EF4-FFF2-40B4-BE49-F238E27FC236}">
                <a16:creationId xmlns:a16="http://schemas.microsoft.com/office/drawing/2014/main" id="{1C8DC9E7-BE60-F37B-4D96-75517ACA74CF}"/>
              </a:ext>
            </a:extLst>
          </p:cNvPr>
          <p:cNvPicPr>
            <a:picLocks noChangeAspect="1"/>
          </p:cNvPicPr>
          <p:nvPr/>
        </p:nvPicPr>
        <p:blipFill>
          <a:blip r:embed="rId4"/>
          <a:stretch>
            <a:fillRect/>
          </a:stretch>
        </p:blipFill>
        <p:spPr>
          <a:xfrm>
            <a:off x="189149" y="1204146"/>
            <a:ext cx="5009722" cy="4606463"/>
          </a:xfrm>
          <a:prstGeom prst="rect">
            <a:avLst/>
          </a:prstGeom>
        </p:spPr>
      </p:pic>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57969608-58D9-92EF-CF84-795B38E1C5F0}"/>
                  </a:ext>
                </a:extLst>
              </p:cNvPr>
              <p:cNvSpPr txBox="1"/>
              <p:nvPr/>
            </p:nvSpPr>
            <p:spPr>
              <a:xfrm>
                <a:off x="5193873" y="1088672"/>
                <a:ext cx="5830389" cy="1754326"/>
              </a:xfrm>
              <a:prstGeom prst="rect">
                <a:avLst/>
              </a:prstGeom>
              <a:noFill/>
            </p:spPr>
            <p:txBody>
              <a:bodyPr wrap="square" rtlCol="0">
                <a:spAutoFit/>
              </a:bodyPr>
              <a:lstStyle/>
              <a:p>
                <a:r>
                  <a:rPr lang="en-US" altLang="zh-CN" sz="1800" dirty="0">
                    <a:latin typeface="Times New Roman" panose="02020603050405020304" pitchFamily="18" charset="0"/>
                    <a:cs typeface="Times New Roman" panose="02020603050405020304" pitchFamily="18" charset="0"/>
                  </a:rPr>
                  <a:t>Assume we have already selected a subset of tokens to recompute……</a:t>
                </a:r>
              </a:p>
              <a:p>
                <a:endParaRPr lang="en-US" altLang="zh-CN" sz="1800" dirty="0">
                  <a:latin typeface="Times New Roman" panose="02020603050405020304" pitchFamily="18" charset="0"/>
                  <a:cs typeface="Times New Roman" panose="02020603050405020304" pitchFamily="18" charset="0"/>
                </a:endParaRPr>
              </a:p>
              <a:p>
                <a:r>
                  <a:rPr lang="en-US" altLang="zh-CN" sz="1800" b="1" dirty="0">
                    <a:latin typeface="Times New Roman" panose="02020603050405020304" pitchFamily="18" charset="0"/>
                    <a:cs typeface="Times New Roman" panose="02020603050405020304" pitchFamily="18" charset="0"/>
                  </a:rPr>
                  <a:t>Workflow</a:t>
                </a:r>
              </a:p>
              <a:p>
                <a:r>
                  <a:rPr lang="en-US" altLang="zh-CN" sz="1800" dirty="0">
                    <a:latin typeface="Times New Roman" panose="02020603050405020304" pitchFamily="18" charset="0"/>
                    <a:cs typeface="Times New Roman" panose="02020603050405020304" pitchFamily="18" charset="0"/>
                  </a:rPr>
                  <a:t>• Applies a mask to the input of each layer </a:t>
                </a:r>
                <a14:m>
                  <m:oMath xmlns:m="http://schemas.openxmlformats.org/officeDocument/2006/math">
                    <m:r>
                      <a:rPr lang="en-US" altLang="zh-CN" sz="1800" i="1">
                        <a:latin typeface="Cambria Math" panose="02040503050406030204" pitchFamily="18" charset="0"/>
                        <a:cs typeface="Times New Roman" panose="02020603050405020304" pitchFamily="18" charset="0"/>
                      </a:rPr>
                      <m:t>𝑖</m:t>
                    </m:r>
                    <m:r>
                      <a:rPr lang="en-US" altLang="zh-CN" sz="1800" i="1">
                        <a:latin typeface="Cambria Math" panose="02040503050406030204" pitchFamily="18" charset="0"/>
                        <a:cs typeface="Times New Roman" panose="02020603050405020304" pitchFamily="18" charset="0"/>
                      </a:rPr>
                      <m:t> </m:t>
                    </m:r>
                  </m:oMath>
                </a14:m>
                <a:r>
                  <a:rPr lang="en-US" altLang="zh-CN" sz="1800" dirty="0">
                    <a:latin typeface="Times New Roman" panose="02020603050405020304" pitchFamily="18" charset="0"/>
                    <a:cs typeface="Times New Roman" panose="02020603050405020304" pitchFamily="18" charset="0"/>
                  </a:rPr>
                  <a:t>(Select tokens)</a:t>
                </a:r>
              </a:p>
              <a:p>
                <a:endParaRPr lang="zh-CN" altLang="en-US" sz="1800" b="1" dirty="0">
                  <a:latin typeface="Times New Roman" panose="02020603050405020304" pitchFamily="18" charset="0"/>
                  <a:cs typeface="Times New Roman" panose="02020603050405020304" pitchFamily="18" charset="0"/>
                </a:endParaRPr>
              </a:p>
            </p:txBody>
          </p:sp>
        </mc:Choice>
        <mc:Fallback xmlns="">
          <p:sp>
            <p:nvSpPr>
              <p:cNvPr id="8" name="文本框 7">
                <a:extLst>
                  <a:ext uri="{FF2B5EF4-FFF2-40B4-BE49-F238E27FC236}">
                    <a16:creationId xmlns:a16="http://schemas.microsoft.com/office/drawing/2014/main" id="{57969608-58D9-92EF-CF84-795B38E1C5F0}"/>
                  </a:ext>
                </a:extLst>
              </p:cNvPr>
              <p:cNvSpPr txBox="1">
                <a:spLocks noRot="1" noChangeAspect="1" noMove="1" noResize="1" noEditPoints="1" noAdjustHandles="1" noChangeArrowheads="1" noChangeShapeType="1" noTextEdit="1"/>
              </p:cNvSpPr>
              <p:nvPr/>
            </p:nvSpPr>
            <p:spPr>
              <a:xfrm>
                <a:off x="5193873" y="1088672"/>
                <a:ext cx="5830389" cy="1754326"/>
              </a:xfrm>
              <a:prstGeom prst="rect">
                <a:avLst/>
              </a:prstGeom>
              <a:blipFill>
                <a:blip r:embed="rId5"/>
                <a:stretch>
                  <a:fillRect l="-652" t="-1439"/>
                </a:stretch>
              </a:blipFill>
            </p:spPr>
            <p:txBody>
              <a:bodyPr/>
              <a:lstStyle/>
              <a:p>
                <a:r>
                  <a:rPr lang="en-US">
                    <a:noFill/>
                  </a:rPr>
                  <a:t> </a:t>
                </a:r>
              </a:p>
            </p:txBody>
          </p:sp>
        </mc:Fallback>
      </mc:AlternateContent>
      <p:sp>
        <p:nvSpPr>
          <p:cNvPr id="9" name="矩形 8">
            <a:extLst>
              <a:ext uri="{FF2B5EF4-FFF2-40B4-BE49-F238E27FC236}">
                <a16:creationId xmlns:a16="http://schemas.microsoft.com/office/drawing/2014/main" id="{5B9EFCD7-440E-27DA-F258-F99D45379A04}"/>
              </a:ext>
            </a:extLst>
          </p:cNvPr>
          <p:cNvSpPr/>
          <p:nvPr/>
        </p:nvSpPr>
        <p:spPr>
          <a:xfrm>
            <a:off x="509451" y="3429001"/>
            <a:ext cx="666206" cy="112060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547185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89">
          <a:extLst>
            <a:ext uri="{FF2B5EF4-FFF2-40B4-BE49-F238E27FC236}">
              <a16:creationId xmlns:a16="http://schemas.microsoft.com/office/drawing/2014/main" id="{401E25E4-B522-8D6C-9B18-506C447B61AD}"/>
            </a:ext>
          </a:extLst>
        </p:cNvPr>
        <p:cNvGrpSpPr/>
        <p:nvPr/>
      </p:nvGrpSpPr>
      <p:grpSpPr>
        <a:xfrm>
          <a:off x="0" y="0"/>
          <a:ext cx="0" cy="0"/>
          <a:chOff x="0" y="0"/>
          <a:chExt cx="0" cy="0"/>
        </a:xfrm>
      </p:grpSpPr>
      <p:sp>
        <p:nvSpPr>
          <p:cNvPr id="591" name="Google Shape;591;g330b2db8419_2_73">
            <a:extLst>
              <a:ext uri="{FF2B5EF4-FFF2-40B4-BE49-F238E27FC236}">
                <a16:creationId xmlns:a16="http://schemas.microsoft.com/office/drawing/2014/main" id="{01C35C1B-FAB7-0589-A46D-D6FA4B6F0EC6}"/>
              </a:ext>
            </a:extLst>
          </p:cNvPr>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592" name="Google Shape;592;g330b2db8419_2_73">
            <a:extLst>
              <a:ext uri="{FF2B5EF4-FFF2-40B4-BE49-F238E27FC236}">
                <a16:creationId xmlns:a16="http://schemas.microsoft.com/office/drawing/2014/main" id="{1DE4E2E8-D971-4B1A-B85D-47872911CF35}"/>
              </a:ext>
            </a:extLst>
          </p:cNvPr>
          <p:cNvSpPr txBox="1"/>
          <p:nvPr/>
        </p:nvSpPr>
        <p:spPr>
          <a:xfrm>
            <a:off x="114162" y="145685"/>
            <a:ext cx="10910100"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US" sz="3200" dirty="0">
                <a:solidFill>
                  <a:schemeClr val="lt1"/>
                </a:solidFill>
                <a:latin typeface="Times New Roman" panose="02020603050405020304" pitchFamily="18" charset="0"/>
                <a:cs typeface="Times New Roman" panose="02020603050405020304" pitchFamily="18" charset="0"/>
              </a:rPr>
              <a:t>Selective recomputing KV cache</a:t>
            </a:r>
            <a:endParaRPr sz="3200" b="0" i="0" u="none" strike="noStrike" cap="none" dirty="0">
              <a:solidFill>
                <a:schemeClr val="lt1"/>
              </a:solidFill>
              <a:latin typeface="Times New Roman" panose="02020603050405020304" pitchFamily="18" charset="0"/>
              <a:cs typeface="Times New Roman" panose="02020603050405020304" pitchFamily="18" charset="0"/>
              <a:sym typeface="Arial"/>
            </a:endParaRPr>
          </a:p>
        </p:txBody>
      </p:sp>
      <p:pic>
        <p:nvPicPr>
          <p:cNvPr id="593" name="Google Shape;593;g330b2db8419_2_73">
            <a:extLst>
              <a:ext uri="{FF2B5EF4-FFF2-40B4-BE49-F238E27FC236}">
                <a16:creationId xmlns:a16="http://schemas.microsoft.com/office/drawing/2014/main" id="{167D8EC2-D431-E35A-02B6-C20CD6EABC14}"/>
              </a:ext>
            </a:extLst>
          </p:cNvPr>
          <p:cNvPicPr preferRelativeResize="0"/>
          <p:nvPr/>
        </p:nvPicPr>
        <p:blipFill rotWithShape="1">
          <a:blip r:embed="rId3">
            <a:alphaModFix/>
          </a:blip>
          <a:srcRect/>
          <a:stretch/>
        </p:blipFill>
        <p:spPr>
          <a:xfrm>
            <a:off x="11557509" y="233819"/>
            <a:ext cx="271309" cy="389810"/>
          </a:xfrm>
          <a:prstGeom prst="rect">
            <a:avLst/>
          </a:prstGeom>
          <a:noFill/>
          <a:ln>
            <a:noFill/>
          </a:ln>
        </p:spPr>
      </p:pic>
      <p:sp>
        <p:nvSpPr>
          <p:cNvPr id="594" name="Google Shape;594;g330b2db8419_2_73">
            <a:extLst>
              <a:ext uri="{FF2B5EF4-FFF2-40B4-BE49-F238E27FC236}">
                <a16:creationId xmlns:a16="http://schemas.microsoft.com/office/drawing/2014/main" id="{A6E4E230-208B-ED4D-68ED-F411CEA19E5F}"/>
              </a:ext>
            </a:extLst>
          </p:cNvPr>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595" name="Google Shape;595;g330b2db8419_2_73">
            <a:extLst>
              <a:ext uri="{FF2B5EF4-FFF2-40B4-BE49-F238E27FC236}">
                <a16:creationId xmlns:a16="http://schemas.microsoft.com/office/drawing/2014/main" id="{079352FF-39AA-762B-E238-4C4CCBE6E5C1}"/>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596" name="Google Shape;596;g330b2db8419_2_73">
            <a:extLst>
              <a:ext uri="{FF2B5EF4-FFF2-40B4-BE49-F238E27FC236}">
                <a16:creationId xmlns:a16="http://schemas.microsoft.com/office/drawing/2014/main" id="{1B547050-FE3B-95E7-BDAC-2BC4CD7CBD45}"/>
              </a:ext>
            </a:extLst>
          </p:cNvPr>
          <p:cNvGrpSpPr/>
          <p:nvPr/>
        </p:nvGrpSpPr>
        <p:grpSpPr>
          <a:xfrm>
            <a:off x="2622925" y="6601537"/>
            <a:ext cx="6677215" cy="70500"/>
            <a:chOff x="2589675" y="6601537"/>
            <a:chExt cx="6677215" cy="70500"/>
          </a:xfrm>
        </p:grpSpPr>
        <p:cxnSp>
          <p:nvCxnSpPr>
            <p:cNvPr id="597" name="Google Shape;597;g330b2db8419_2_73">
              <a:extLst>
                <a:ext uri="{FF2B5EF4-FFF2-40B4-BE49-F238E27FC236}">
                  <a16:creationId xmlns:a16="http://schemas.microsoft.com/office/drawing/2014/main" id="{FCF0D075-9F5D-932E-81F9-268D9A7B5367}"/>
                </a:ext>
              </a:extLst>
            </p:cNvPr>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598" name="Google Shape;598;g330b2db8419_2_73">
              <a:extLst>
                <a:ext uri="{FF2B5EF4-FFF2-40B4-BE49-F238E27FC236}">
                  <a16:creationId xmlns:a16="http://schemas.microsoft.com/office/drawing/2014/main" id="{72C7E9E1-9BD5-A392-E900-34E205EFACC0}"/>
                </a:ext>
              </a:extLst>
            </p:cNvPr>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599" name="Google Shape;599;g330b2db8419_2_73">
            <a:extLst>
              <a:ext uri="{FF2B5EF4-FFF2-40B4-BE49-F238E27FC236}">
                <a16:creationId xmlns:a16="http://schemas.microsoft.com/office/drawing/2014/main" id="{8B53B9FE-67D1-51B2-67FF-C4629E78808C}"/>
              </a:ext>
            </a:extLst>
          </p:cNvPr>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pic>
        <p:nvPicPr>
          <p:cNvPr id="7" name="图片 6">
            <a:extLst>
              <a:ext uri="{FF2B5EF4-FFF2-40B4-BE49-F238E27FC236}">
                <a16:creationId xmlns:a16="http://schemas.microsoft.com/office/drawing/2014/main" id="{59C0EF8D-C10B-15E0-84FD-91068F6BE9F3}"/>
              </a:ext>
            </a:extLst>
          </p:cNvPr>
          <p:cNvPicPr>
            <a:picLocks noChangeAspect="1"/>
          </p:cNvPicPr>
          <p:nvPr/>
        </p:nvPicPr>
        <p:blipFill>
          <a:blip r:embed="rId4"/>
          <a:stretch>
            <a:fillRect/>
          </a:stretch>
        </p:blipFill>
        <p:spPr>
          <a:xfrm>
            <a:off x="189149" y="1204146"/>
            <a:ext cx="5009722" cy="4606463"/>
          </a:xfrm>
          <a:prstGeom prst="rect">
            <a:avLst/>
          </a:prstGeom>
        </p:spPr>
      </p:pic>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6B935A8A-25BD-DF25-0C85-BF43D245B4C9}"/>
                  </a:ext>
                </a:extLst>
              </p:cNvPr>
              <p:cNvSpPr txBox="1"/>
              <p:nvPr/>
            </p:nvSpPr>
            <p:spPr>
              <a:xfrm>
                <a:off x="5198871" y="2236058"/>
                <a:ext cx="5830389" cy="1631216"/>
              </a:xfrm>
              <a:prstGeom prst="rect">
                <a:avLst/>
              </a:prstGeom>
              <a:noFill/>
            </p:spPr>
            <p:txBody>
              <a:bodyPr wrap="square" rtlCol="0">
                <a:spAutoFit/>
              </a:bodyPr>
              <a:lstStyle/>
              <a:p>
                <a:pPr>
                  <a:spcBef>
                    <a:spcPts val="600"/>
                  </a:spcBef>
                </a:pPr>
                <a:r>
                  <a:rPr lang="en-US" altLang="zh-CN" sz="1800" b="1" dirty="0">
                    <a:latin typeface="Times New Roman" panose="02020603050405020304" pitchFamily="18" charset="0"/>
                    <a:cs typeface="Times New Roman" panose="02020603050405020304" pitchFamily="18" charset="0"/>
                  </a:rPr>
                  <a:t>Workflow</a:t>
                </a:r>
              </a:p>
              <a:p>
                <a:pPr>
                  <a:spcBef>
                    <a:spcPts val="600"/>
                  </a:spcBef>
                </a:pPr>
                <a:r>
                  <a:rPr lang="en-US" altLang="zh-CN" sz="1800" dirty="0">
                    <a:latin typeface="Times New Roman" panose="02020603050405020304" pitchFamily="18" charset="0"/>
                    <a:cs typeface="Times New Roman" panose="02020603050405020304" pitchFamily="18" charset="0"/>
                  </a:rPr>
                  <a:t>• Applies a mask to the input of each layer </a:t>
                </a:r>
                <a14:m>
                  <m:oMath xmlns:m="http://schemas.openxmlformats.org/officeDocument/2006/math">
                    <m:r>
                      <a:rPr lang="en-US" altLang="zh-CN" sz="1800" b="0" i="1" smtClean="0">
                        <a:latin typeface="Cambria Math" panose="02040503050406030204" pitchFamily="18" charset="0"/>
                        <a:cs typeface="Times New Roman" panose="02020603050405020304" pitchFamily="18" charset="0"/>
                      </a:rPr>
                      <m:t>𝑖</m:t>
                    </m:r>
                    <m:r>
                      <a:rPr lang="en-US" altLang="zh-CN" sz="1800" b="0" i="1" smtClean="0">
                        <a:latin typeface="Cambria Math" panose="02040503050406030204" pitchFamily="18" charset="0"/>
                        <a:cs typeface="Times New Roman" panose="02020603050405020304" pitchFamily="18" charset="0"/>
                      </a:rPr>
                      <m:t> </m:t>
                    </m:r>
                  </m:oMath>
                </a14:m>
                <a:r>
                  <a:rPr lang="en-US" altLang="zh-CN" sz="1800" dirty="0">
                    <a:latin typeface="Times New Roman" panose="02020603050405020304" pitchFamily="18" charset="0"/>
                    <a:cs typeface="Times New Roman" panose="02020603050405020304" pitchFamily="18" charset="0"/>
                  </a:rPr>
                  <a:t>(Select tokens)</a:t>
                </a:r>
              </a:p>
              <a:p>
                <a:pPr>
                  <a:spcBef>
                    <a:spcPts val="600"/>
                  </a:spcBef>
                </a:pPr>
                <a:r>
                  <a:rPr lang="en-US" altLang="zh-CN" sz="1800" dirty="0">
                    <a:latin typeface="Times New Roman" panose="02020603050405020304" pitchFamily="18" charset="0"/>
                    <a:cs typeface="Times New Roman" panose="02020603050405020304" pitchFamily="18" charset="0"/>
                  </a:rPr>
                  <a:t>• Transforms the reduced input into </a:t>
                </a:r>
                <a14:m>
                  <m:oMath xmlns:m="http://schemas.openxmlformats.org/officeDocument/2006/math">
                    <m:sSub>
                      <m:sSubPr>
                        <m:ctrlPr>
                          <a:rPr lang="en-US" altLang="zh-CN" sz="1800" i="1">
                            <a:latin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𝑄</m:t>
                        </m:r>
                      </m:e>
                      <m:sub>
                        <m:r>
                          <a:rPr lang="en-US" altLang="zh-CN" sz="1800" i="1">
                            <a:latin typeface="Cambria Math" panose="02040503050406030204" pitchFamily="18" charset="0"/>
                            <a:cs typeface="Times New Roman" panose="02020603050405020304" pitchFamily="18" charset="0"/>
                          </a:rPr>
                          <m:t>𝑖</m:t>
                        </m:r>
                      </m:sub>
                    </m:sSub>
                    <m:r>
                      <a:rPr lang="en-US" altLang="zh-CN" sz="1800" i="1">
                        <a:latin typeface="Cambria Math" panose="02040503050406030204" pitchFamily="18" charset="0"/>
                        <a:cs typeface="Times New Roman" panose="02020603050405020304" pitchFamily="18" charset="0"/>
                      </a:rPr>
                      <m:t> </m:t>
                    </m:r>
                    <m:sSub>
                      <m:sSubPr>
                        <m:ctrlPr>
                          <a:rPr lang="en-US" altLang="zh-CN" sz="1800" i="1">
                            <a:latin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𝐾</m:t>
                        </m:r>
                      </m:e>
                      <m:sub>
                        <m:r>
                          <a:rPr lang="en-US" altLang="zh-CN" sz="1800" i="1">
                            <a:latin typeface="Cambria Math" panose="02040503050406030204" pitchFamily="18" charset="0"/>
                            <a:cs typeface="Times New Roman" panose="02020603050405020304" pitchFamily="18" charset="0"/>
                          </a:rPr>
                          <m:t>𝑖</m:t>
                        </m:r>
                      </m:sub>
                    </m:sSub>
                    <m:r>
                      <a:rPr lang="en-US" altLang="zh-CN" sz="1800" i="1">
                        <a:latin typeface="Cambria Math" panose="02040503050406030204" pitchFamily="18" charset="0"/>
                        <a:cs typeface="Times New Roman" panose="02020603050405020304" pitchFamily="18" charset="0"/>
                      </a:rPr>
                      <m:t> </m:t>
                    </m:r>
                    <m:sSub>
                      <m:sSubPr>
                        <m:ctrlPr>
                          <a:rPr lang="en-US" altLang="zh-CN" sz="1800" i="1">
                            <a:latin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𝑉</m:t>
                        </m:r>
                      </m:e>
                      <m:sub>
                        <m:r>
                          <a:rPr lang="en-US" altLang="zh-CN" sz="1800" i="1">
                            <a:latin typeface="Cambria Math" panose="02040503050406030204" pitchFamily="18" charset="0"/>
                            <a:cs typeface="Times New Roman" panose="02020603050405020304" pitchFamily="18" charset="0"/>
                          </a:rPr>
                          <m:t>𝑖</m:t>
                        </m:r>
                        <m:r>
                          <a:rPr lang="en-US" altLang="zh-CN" sz="1800" i="1">
                            <a:latin typeface="Cambria Math" panose="02040503050406030204" pitchFamily="18" charset="0"/>
                            <a:cs typeface="Times New Roman" panose="02020603050405020304" pitchFamily="18" charset="0"/>
                          </a:rPr>
                          <m:t> </m:t>
                        </m:r>
                      </m:sub>
                    </m:sSub>
                  </m:oMath>
                </a14:m>
                <a:r>
                  <a:rPr lang="en-US" altLang="zh-CN" sz="1800" dirty="0">
                    <a:latin typeface="Times New Roman" panose="02020603050405020304" pitchFamily="18" charset="0"/>
                    <a:cs typeface="Times New Roman" panose="02020603050405020304" pitchFamily="18" charset="0"/>
                  </a:rPr>
                  <a:t>vectors. (selected tokens)</a:t>
                </a:r>
              </a:p>
              <a:p>
                <a:endParaRPr lang="zh-CN" altLang="en-US" sz="1800" dirty="0">
                  <a:latin typeface="Times New Roman" panose="02020603050405020304" pitchFamily="18" charset="0"/>
                  <a:cs typeface="Times New Roman" panose="02020603050405020304" pitchFamily="18" charset="0"/>
                </a:endParaRPr>
              </a:p>
            </p:txBody>
          </p:sp>
        </mc:Choice>
        <mc:Fallback xmlns="">
          <p:sp>
            <p:nvSpPr>
              <p:cNvPr id="8" name="文本框 7">
                <a:extLst>
                  <a:ext uri="{FF2B5EF4-FFF2-40B4-BE49-F238E27FC236}">
                    <a16:creationId xmlns:a16="http://schemas.microsoft.com/office/drawing/2014/main" id="{6B935A8A-25BD-DF25-0C85-BF43D245B4C9}"/>
                  </a:ext>
                </a:extLst>
              </p:cNvPr>
              <p:cNvSpPr txBox="1">
                <a:spLocks noRot="1" noChangeAspect="1" noMove="1" noResize="1" noEditPoints="1" noAdjustHandles="1" noChangeArrowheads="1" noChangeShapeType="1" noTextEdit="1"/>
              </p:cNvSpPr>
              <p:nvPr/>
            </p:nvSpPr>
            <p:spPr>
              <a:xfrm>
                <a:off x="5198871" y="2236058"/>
                <a:ext cx="5830389" cy="1631216"/>
              </a:xfrm>
              <a:prstGeom prst="rect">
                <a:avLst/>
              </a:prstGeom>
              <a:blipFill>
                <a:blip r:embed="rId5"/>
                <a:stretch>
                  <a:fillRect l="-870" t="-2326"/>
                </a:stretch>
              </a:blipFill>
            </p:spPr>
            <p:txBody>
              <a:bodyPr/>
              <a:lstStyle/>
              <a:p>
                <a:r>
                  <a:rPr lang="en-US">
                    <a:noFill/>
                  </a:rPr>
                  <a:t> </a:t>
                </a:r>
              </a:p>
            </p:txBody>
          </p:sp>
        </mc:Fallback>
      </mc:AlternateContent>
      <p:sp>
        <p:nvSpPr>
          <p:cNvPr id="9" name="矩形 8">
            <a:extLst>
              <a:ext uri="{FF2B5EF4-FFF2-40B4-BE49-F238E27FC236}">
                <a16:creationId xmlns:a16="http://schemas.microsoft.com/office/drawing/2014/main" id="{27530EE7-6B24-6714-6623-C82228C8C5FB}"/>
              </a:ext>
            </a:extLst>
          </p:cNvPr>
          <p:cNvSpPr/>
          <p:nvPr/>
        </p:nvSpPr>
        <p:spPr>
          <a:xfrm>
            <a:off x="1201783" y="3507377"/>
            <a:ext cx="457200" cy="93399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013993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89">
          <a:extLst>
            <a:ext uri="{FF2B5EF4-FFF2-40B4-BE49-F238E27FC236}">
              <a16:creationId xmlns:a16="http://schemas.microsoft.com/office/drawing/2014/main" id="{59E13E79-6DBC-3989-4D65-3752B3652F17}"/>
            </a:ext>
          </a:extLst>
        </p:cNvPr>
        <p:cNvGrpSpPr/>
        <p:nvPr/>
      </p:nvGrpSpPr>
      <p:grpSpPr>
        <a:xfrm>
          <a:off x="0" y="0"/>
          <a:ext cx="0" cy="0"/>
          <a:chOff x="0" y="0"/>
          <a:chExt cx="0" cy="0"/>
        </a:xfrm>
      </p:grpSpPr>
      <p:sp>
        <p:nvSpPr>
          <p:cNvPr id="591" name="Google Shape;591;g330b2db8419_2_73">
            <a:extLst>
              <a:ext uri="{FF2B5EF4-FFF2-40B4-BE49-F238E27FC236}">
                <a16:creationId xmlns:a16="http://schemas.microsoft.com/office/drawing/2014/main" id="{E9BF96E3-EED1-72C9-B413-C036CD4BCAF7}"/>
              </a:ext>
            </a:extLst>
          </p:cNvPr>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592" name="Google Shape;592;g330b2db8419_2_73">
            <a:extLst>
              <a:ext uri="{FF2B5EF4-FFF2-40B4-BE49-F238E27FC236}">
                <a16:creationId xmlns:a16="http://schemas.microsoft.com/office/drawing/2014/main" id="{3A8387F3-A558-C1B8-402E-4C55087A4DE5}"/>
              </a:ext>
            </a:extLst>
          </p:cNvPr>
          <p:cNvSpPr txBox="1"/>
          <p:nvPr/>
        </p:nvSpPr>
        <p:spPr>
          <a:xfrm>
            <a:off x="114162" y="145685"/>
            <a:ext cx="10910100"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US" sz="3200" dirty="0">
                <a:solidFill>
                  <a:schemeClr val="lt1"/>
                </a:solidFill>
                <a:latin typeface="Times New Roman" panose="02020603050405020304" pitchFamily="18" charset="0"/>
                <a:cs typeface="Times New Roman" panose="02020603050405020304" pitchFamily="18" charset="0"/>
              </a:rPr>
              <a:t>Selective recomputing KV cache</a:t>
            </a:r>
            <a:endParaRPr sz="3200" b="0" i="0" u="none" strike="noStrike" cap="none" dirty="0">
              <a:solidFill>
                <a:schemeClr val="lt1"/>
              </a:solidFill>
              <a:latin typeface="Times New Roman" panose="02020603050405020304" pitchFamily="18" charset="0"/>
              <a:cs typeface="Times New Roman" panose="02020603050405020304" pitchFamily="18" charset="0"/>
              <a:sym typeface="Arial"/>
            </a:endParaRPr>
          </a:p>
        </p:txBody>
      </p:sp>
      <p:pic>
        <p:nvPicPr>
          <p:cNvPr id="593" name="Google Shape;593;g330b2db8419_2_73">
            <a:extLst>
              <a:ext uri="{FF2B5EF4-FFF2-40B4-BE49-F238E27FC236}">
                <a16:creationId xmlns:a16="http://schemas.microsoft.com/office/drawing/2014/main" id="{BA56C533-BF6C-7D2B-9A26-2F0E7AFDC94A}"/>
              </a:ext>
            </a:extLst>
          </p:cNvPr>
          <p:cNvPicPr preferRelativeResize="0"/>
          <p:nvPr/>
        </p:nvPicPr>
        <p:blipFill rotWithShape="1">
          <a:blip r:embed="rId3">
            <a:alphaModFix/>
          </a:blip>
          <a:srcRect/>
          <a:stretch/>
        </p:blipFill>
        <p:spPr>
          <a:xfrm>
            <a:off x="11557509" y="233819"/>
            <a:ext cx="271309" cy="389810"/>
          </a:xfrm>
          <a:prstGeom prst="rect">
            <a:avLst/>
          </a:prstGeom>
          <a:noFill/>
          <a:ln>
            <a:noFill/>
          </a:ln>
        </p:spPr>
      </p:pic>
      <p:sp>
        <p:nvSpPr>
          <p:cNvPr id="594" name="Google Shape;594;g330b2db8419_2_73">
            <a:extLst>
              <a:ext uri="{FF2B5EF4-FFF2-40B4-BE49-F238E27FC236}">
                <a16:creationId xmlns:a16="http://schemas.microsoft.com/office/drawing/2014/main" id="{27F7D3AE-B3FF-1FCF-307A-85CE4AF54D2E}"/>
              </a:ext>
            </a:extLst>
          </p:cNvPr>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595" name="Google Shape;595;g330b2db8419_2_73">
            <a:extLst>
              <a:ext uri="{FF2B5EF4-FFF2-40B4-BE49-F238E27FC236}">
                <a16:creationId xmlns:a16="http://schemas.microsoft.com/office/drawing/2014/main" id="{1C05A978-5526-83E2-4890-B5772D18DBB4}"/>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596" name="Google Shape;596;g330b2db8419_2_73">
            <a:extLst>
              <a:ext uri="{FF2B5EF4-FFF2-40B4-BE49-F238E27FC236}">
                <a16:creationId xmlns:a16="http://schemas.microsoft.com/office/drawing/2014/main" id="{B47C9F0D-2962-9A1D-60CD-9BF7E59F2DB1}"/>
              </a:ext>
            </a:extLst>
          </p:cNvPr>
          <p:cNvGrpSpPr/>
          <p:nvPr/>
        </p:nvGrpSpPr>
        <p:grpSpPr>
          <a:xfrm>
            <a:off x="2622925" y="6601537"/>
            <a:ext cx="6677215" cy="70500"/>
            <a:chOff x="2589675" y="6601537"/>
            <a:chExt cx="6677215" cy="70500"/>
          </a:xfrm>
        </p:grpSpPr>
        <p:cxnSp>
          <p:nvCxnSpPr>
            <p:cNvPr id="597" name="Google Shape;597;g330b2db8419_2_73">
              <a:extLst>
                <a:ext uri="{FF2B5EF4-FFF2-40B4-BE49-F238E27FC236}">
                  <a16:creationId xmlns:a16="http://schemas.microsoft.com/office/drawing/2014/main" id="{F4F1FDF9-91D1-A21B-C93E-D8CFFAADFFC2}"/>
                </a:ext>
              </a:extLst>
            </p:cNvPr>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598" name="Google Shape;598;g330b2db8419_2_73">
              <a:extLst>
                <a:ext uri="{FF2B5EF4-FFF2-40B4-BE49-F238E27FC236}">
                  <a16:creationId xmlns:a16="http://schemas.microsoft.com/office/drawing/2014/main" id="{4BFA6BEF-DE98-2730-A8EF-34B5E9883F74}"/>
                </a:ext>
              </a:extLst>
            </p:cNvPr>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599" name="Google Shape;599;g330b2db8419_2_73">
            <a:extLst>
              <a:ext uri="{FF2B5EF4-FFF2-40B4-BE49-F238E27FC236}">
                <a16:creationId xmlns:a16="http://schemas.microsoft.com/office/drawing/2014/main" id="{C3C3EA80-034E-D5BF-3900-F7ADF9F4AE3E}"/>
              </a:ext>
            </a:extLst>
          </p:cNvPr>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pic>
        <p:nvPicPr>
          <p:cNvPr id="7" name="图片 6">
            <a:extLst>
              <a:ext uri="{FF2B5EF4-FFF2-40B4-BE49-F238E27FC236}">
                <a16:creationId xmlns:a16="http://schemas.microsoft.com/office/drawing/2014/main" id="{99CB0E41-B570-7FF4-D1C3-F47EDFF6491D}"/>
              </a:ext>
            </a:extLst>
          </p:cNvPr>
          <p:cNvPicPr>
            <a:picLocks noChangeAspect="1"/>
          </p:cNvPicPr>
          <p:nvPr/>
        </p:nvPicPr>
        <p:blipFill>
          <a:blip r:embed="rId4"/>
          <a:stretch>
            <a:fillRect/>
          </a:stretch>
        </p:blipFill>
        <p:spPr>
          <a:xfrm>
            <a:off x="189149" y="1204146"/>
            <a:ext cx="5009722" cy="4606463"/>
          </a:xfrm>
          <a:prstGeom prst="rect">
            <a:avLst/>
          </a:prstGeom>
        </p:spPr>
      </p:pic>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829100DE-4536-8B4E-61C2-1438FC1C80F5}"/>
                  </a:ext>
                </a:extLst>
              </p:cNvPr>
              <p:cNvSpPr txBox="1"/>
              <p:nvPr/>
            </p:nvSpPr>
            <p:spPr>
              <a:xfrm>
                <a:off x="5198871" y="1944195"/>
                <a:ext cx="5623944" cy="2339102"/>
              </a:xfrm>
              <a:prstGeom prst="rect">
                <a:avLst/>
              </a:prstGeom>
              <a:noFill/>
            </p:spPr>
            <p:txBody>
              <a:bodyPr wrap="square" rtlCol="0">
                <a:spAutoFit/>
              </a:bodyPr>
              <a:lstStyle/>
              <a:p>
                <a:endParaRPr lang="en-US" altLang="zh-CN" sz="1800" dirty="0">
                  <a:latin typeface="Times New Roman" panose="02020603050405020304" pitchFamily="18" charset="0"/>
                  <a:cs typeface="Times New Roman" panose="02020603050405020304" pitchFamily="18" charset="0"/>
                </a:endParaRPr>
              </a:p>
              <a:p>
                <a:pPr>
                  <a:spcBef>
                    <a:spcPts val="600"/>
                  </a:spcBef>
                </a:pPr>
                <a:r>
                  <a:rPr lang="en-US" altLang="zh-CN" sz="1800" b="1" dirty="0">
                    <a:latin typeface="Times New Roman" panose="02020603050405020304" pitchFamily="18" charset="0"/>
                    <a:cs typeface="Times New Roman" panose="02020603050405020304" pitchFamily="18" charset="0"/>
                  </a:rPr>
                  <a:t>Workflow</a:t>
                </a:r>
              </a:p>
              <a:p>
                <a:pPr>
                  <a:spcBef>
                    <a:spcPts val="600"/>
                  </a:spcBef>
                </a:pPr>
                <a:r>
                  <a:rPr lang="en-US" altLang="zh-CN" sz="1800" dirty="0">
                    <a:latin typeface="Times New Roman" panose="02020603050405020304" pitchFamily="18" charset="0"/>
                    <a:cs typeface="Times New Roman" panose="02020603050405020304" pitchFamily="18" charset="0"/>
                  </a:rPr>
                  <a:t>• Applies a mask to the input of each layer </a:t>
                </a:r>
                <a14:m>
                  <m:oMath xmlns:m="http://schemas.openxmlformats.org/officeDocument/2006/math">
                    <m:r>
                      <a:rPr lang="en-US" altLang="zh-CN" sz="1800" b="0" i="1" smtClean="0">
                        <a:latin typeface="Cambria Math" panose="02040503050406030204" pitchFamily="18" charset="0"/>
                        <a:cs typeface="Times New Roman" panose="02020603050405020304" pitchFamily="18" charset="0"/>
                      </a:rPr>
                      <m:t>𝑖</m:t>
                    </m:r>
                    <m:r>
                      <a:rPr lang="en-US" altLang="zh-CN" sz="1800" b="0" i="1" smtClean="0">
                        <a:latin typeface="Cambria Math" panose="02040503050406030204" pitchFamily="18" charset="0"/>
                        <a:cs typeface="Times New Roman" panose="02020603050405020304" pitchFamily="18" charset="0"/>
                      </a:rPr>
                      <m:t> </m:t>
                    </m:r>
                  </m:oMath>
                </a14:m>
                <a:r>
                  <a:rPr lang="en-US" altLang="zh-CN" sz="1800" dirty="0">
                    <a:latin typeface="Times New Roman" panose="02020603050405020304" pitchFamily="18" charset="0"/>
                    <a:cs typeface="Times New Roman" panose="02020603050405020304" pitchFamily="18" charset="0"/>
                  </a:rPr>
                  <a:t>(Select tokens)</a:t>
                </a:r>
              </a:p>
              <a:p>
                <a:pPr>
                  <a:spcBef>
                    <a:spcPts val="600"/>
                  </a:spcBef>
                </a:pPr>
                <a:r>
                  <a:rPr lang="en-US" altLang="zh-CN" sz="1800" dirty="0">
                    <a:latin typeface="Times New Roman" panose="02020603050405020304" pitchFamily="18" charset="0"/>
                    <a:cs typeface="Times New Roman" panose="02020603050405020304" pitchFamily="18" charset="0"/>
                  </a:rPr>
                  <a:t>• Transforms the reduced input into </a:t>
                </a:r>
                <a14:m>
                  <m:oMath xmlns:m="http://schemas.openxmlformats.org/officeDocument/2006/math">
                    <m:sSub>
                      <m:sSubPr>
                        <m:ctrlPr>
                          <a:rPr lang="en-US" altLang="zh-CN" sz="1800" i="1">
                            <a:latin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𝑄</m:t>
                        </m:r>
                      </m:e>
                      <m:sub>
                        <m:r>
                          <a:rPr lang="en-US" altLang="zh-CN" sz="1800" i="1">
                            <a:latin typeface="Cambria Math" panose="02040503050406030204" pitchFamily="18" charset="0"/>
                            <a:cs typeface="Times New Roman" panose="02020603050405020304" pitchFamily="18" charset="0"/>
                          </a:rPr>
                          <m:t>𝑖</m:t>
                        </m:r>
                      </m:sub>
                    </m:sSub>
                    <m:r>
                      <a:rPr lang="en-US" altLang="zh-CN" sz="1800" i="1">
                        <a:latin typeface="Cambria Math" panose="02040503050406030204" pitchFamily="18" charset="0"/>
                        <a:cs typeface="Times New Roman" panose="02020603050405020304" pitchFamily="18" charset="0"/>
                      </a:rPr>
                      <m:t> </m:t>
                    </m:r>
                    <m:sSub>
                      <m:sSubPr>
                        <m:ctrlPr>
                          <a:rPr lang="en-US" altLang="zh-CN" sz="1800" i="1">
                            <a:latin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𝐾</m:t>
                        </m:r>
                      </m:e>
                      <m:sub>
                        <m:r>
                          <a:rPr lang="en-US" altLang="zh-CN" sz="1800" i="1">
                            <a:latin typeface="Cambria Math" panose="02040503050406030204" pitchFamily="18" charset="0"/>
                            <a:cs typeface="Times New Roman" panose="02020603050405020304" pitchFamily="18" charset="0"/>
                          </a:rPr>
                          <m:t>𝑖</m:t>
                        </m:r>
                      </m:sub>
                    </m:sSub>
                    <m:r>
                      <a:rPr lang="en-US" altLang="zh-CN" sz="1800" i="1">
                        <a:latin typeface="Cambria Math" panose="02040503050406030204" pitchFamily="18" charset="0"/>
                        <a:cs typeface="Times New Roman" panose="02020603050405020304" pitchFamily="18" charset="0"/>
                      </a:rPr>
                      <m:t> </m:t>
                    </m:r>
                    <m:sSub>
                      <m:sSubPr>
                        <m:ctrlPr>
                          <a:rPr lang="en-US" altLang="zh-CN" sz="1800" i="1">
                            <a:latin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𝑉</m:t>
                        </m:r>
                      </m:e>
                      <m:sub>
                        <m:r>
                          <a:rPr lang="en-US" altLang="zh-CN" sz="1800" i="1">
                            <a:latin typeface="Cambria Math" panose="02040503050406030204" pitchFamily="18" charset="0"/>
                            <a:cs typeface="Times New Roman" panose="02020603050405020304" pitchFamily="18" charset="0"/>
                          </a:rPr>
                          <m:t>𝑖</m:t>
                        </m:r>
                        <m:r>
                          <a:rPr lang="en-US" altLang="zh-CN" sz="1800" i="1">
                            <a:latin typeface="Cambria Math" panose="02040503050406030204" pitchFamily="18" charset="0"/>
                            <a:cs typeface="Times New Roman" panose="02020603050405020304" pitchFamily="18" charset="0"/>
                          </a:rPr>
                          <m:t> </m:t>
                        </m:r>
                      </m:sub>
                    </m:sSub>
                  </m:oMath>
                </a14:m>
                <a:r>
                  <a:rPr lang="en-US" altLang="zh-CN" sz="1800" dirty="0">
                    <a:latin typeface="Times New Roman" panose="02020603050405020304" pitchFamily="18" charset="0"/>
                    <a:cs typeface="Times New Roman" panose="02020603050405020304" pitchFamily="18" charset="0"/>
                  </a:rPr>
                  <a:t>vectors. (selected tokens)</a:t>
                </a:r>
              </a:p>
              <a:p>
                <a:pPr>
                  <a:spcBef>
                    <a:spcPts val="600"/>
                  </a:spcBef>
                </a:pPr>
                <a:r>
                  <a:rPr lang="en-US" altLang="zh-CN" sz="1800" dirty="0">
                    <a:latin typeface="Times New Roman" panose="02020603050405020304" pitchFamily="18" charset="0"/>
                    <a:cs typeface="Times New Roman" panose="02020603050405020304" pitchFamily="18" charset="0"/>
                  </a:rPr>
                  <a:t>• Expands the </a:t>
                </a:r>
                <a14:m>
                  <m:oMath xmlns:m="http://schemas.openxmlformats.org/officeDocument/2006/math">
                    <m:sSub>
                      <m:sSubPr>
                        <m:ctrlPr>
                          <a:rPr lang="en-US" altLang="zh-CN" sz="1800" i="1">
                            <a:latin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𝐾</m:t>
                        </m:r>
                      </m:e>
                      <m:sub>
                        <m:r>
                          <a:rPr lang="en-US" altLang="zh-CN" sz="1800" i="1">
                            <a:latin typeface="Cambria Math" panose="02040503050406030204" pitchFamily="18" charset="0"/>
                            <a:cs typeface="Times New Roman" panose="02020603050405020304" pitchFamily="18" charset="0"/>
                          </a:rPr>
                          <m:t>𝑖</m:t>
                        </m:r>
                      </m:sub>
                    </m:sSub>
                    <m:r>
                      <a:rPr lang="en-US" altLang="zh-CN" sz="1800" i="1">
                        <a:latin typeface="Cambria Math" panose="02040503050406030204" pitchFamily="18" charset="0"/>
                        <a:cs typeface="Times New Roman" panose="02020603050405020304" pitchFamily="18" charset="0"/>
                      </a:rPr>
                      <m:t> </m:t>
                    </m:r>
                    <m:sSub>
                      <m:sSubPr>
                        <m:ctrlPr>
                          <a:rPr lang="en-US" altLang="zh-CN" sz="1800" i="1">
                            <a:latin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𝑉</m:t>
                        </m:r>
                      </m:e>
                      <m:sub>
                        <m:r>
                          <a:rPr lang="en-US" altLang="zh-CN" sz="1800" i="1">
                            <a:latin typeface="Cambria Math" panose="02040503050406030204" pitchFamily="18" charset="0"/>
                            <a:cs typeface="Times New Roman" panose="02020603050405020304" pitchFamily="18" charset="0"/>
                          </a:rPr>
                          <m:t>𝑖</m:t>
                        </m:r>
                        <m:r>
                          <a:rPr lang="en-US" altLang="zh-CN" sz="1800" i="1">
                            <a:latin typeface="Cambria Math" panose="02040503050406030204" pitchFamily="18" charset="0"/>
                            <a:cs typeface="Times New Roman" panose="02020603050405020304" pitchFamily="18" charset="0"/>
                          </a:rPr>
                          <m:t> </m:t>
                        </m:r>
                      </m:sub>
                    </m:sSub>
                  </m:oMath>
                </a14:m>
                <a:r>
                  <a:rPr lang="en-US" altLang="zh-CN" sz="1800" dirty="0">
                    <a:latin typeface="Times New Roman" panose="02020603050405020304" pitchFamily="18" charset="0"/>
                    <a:cs typeface="Times New Roman" panose="02020603050405020304" pitchFamily="18" charset="0"/>
                  </a:rPr>
                  <a:t>vector by reusing the KV cache entries (unselected tokens)</a:t>
                </a:r>
              </a:p>
            </p:txBody>
          </p:sp>
        </mc:Choice>
        <mc:Fallback xmlns="">
          <p:sp>
            <p:nvSpPr>
              <p:cNvPr id="8" name="文本框 7">
                <a:extLst>
                  <a:ext uri="{FF2B5EF4-FFF2-40B4-BE49-F238E27FC236}">
                    <a16:creationId xmlns:a16="http://schemas.microsoft.com/office/drawing/2014/main" id="{829100DE-4536-8B4E-61C2-1438FC1C80F5}"/>
                  </a:ext>
                </a:extLst>
              </p:cNvPr>
              <p:cNvSpPr txBox="1">
                <a:spLocks noRot="1" noChangeAspect="1" noMove="1" noResize="1" noEditPoints="1" noAdjustHandles="1" noChangeArrowheads="1" noChangeShapeType="1" noTextEdit="1"/>
              </p:cNvSpPr>
              <p:nvPr/>
            </p:nvSpPr>
            <p:spPr>
              <a:xfrm>
                <a:off x="5198871" y="1944195"/>
                <a:ext cx="5623944" cy="2339102"/>
              </a:xfrm>
              <a:prstGeom prst="rect">
                <a:avLst/>
              </a:prstGeom>
              <a:blipFill>
                <a:blip r:embed="rId5"/>
                <a:stretch>
                  <a:fillRect l="-901" r="-676" b="-2703"/>
                </a:stretch>
              </a:blipFill>
            </p:spPr>
            <p:txBody>
              <a:bodyPr/>
              <a:lstStyle/>
              <a:p>
                <a:r>
                  <a:rPr lang="en-US">
                    <a:noFill/>
                  </a:rPr>
                  <a:t> </a:t>
                </a:r>
              </a:p>
            </p:txBody>
          </p:sp>
        </mc:Fallback>
      </mc:AlternateContent>
      <p:sp>
        <p:nvSpPr>
          <p:cNvPr id="9" name="矩形 8">
            <a:extLst>
              <a:ext uri="{FF2B5EF4-FFF2-40B4-BE49-F238E27FC236}">
                <a16:creationId xmlns:a16="http://schemas.microsoft.com/office/drawing/2014/main" id="{A076920C-B45B-6031-65DF-B29BC7A7235B}"/>
              </a:ext>
            </a:extLst>
          </p:cNvPr>
          <p:cNvSpPr/>
          <p:nvPr/>
        </p:nvSpPr>
        <p:spPr>
          <a:xfrm>
            <a:off x="1750423" y="3507377"/>
            <a:ext cx="483326" cy="132588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10B4D293-197A-EF02-A602-CFCD72684709}"/>
              </a:ext>
            </a:extLst>
          </p:cNvPr>
          <p:cNvSpPr/>
          <p:nvPr/>
        </p:nvSpPr>
        <p:spPr>
          <a:xfrm>
            <a:off x="3230485" y="3507377"/>
            <a:ext cx="483326" cy="132588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560452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89">
          <a:extLst>
            <a:ext uri="{FF2B5EF4-FFF2-40B4-BE49-F238E27FC236}">
              <a16:creationId xmlns:a16="http://schemas.microsoft.com/office/drawing/2014/main" id="{20A3C91B-772E-0E81-05DC-B151321BFD1E}"/>
            </a:ext>
          </a:extLst>
        </p:cNvPr>
        <p:cNvGrpSpPr/>
        <p:nvPr/>
      </p:nvGrpSpPr>
      <p:grpSpPr>
        <a:xfrm>
          <a:off x="0" y="0"/>
          <a:ext cx="0" cy="0"/>
          <a:chOff x="0" y="0"/>
          <a:chExt cx="0" cy="0"/>
        </a:xfrm>
      </p:grpSpPr>
      <p:sp>
        <p:nvSpPr>
          <p:cNvPr id="591" name="Google Shape;591;g330b2db8419_2_73">
            <a:extLst>
              <a:ext uri="{FF2B5EF4-FFF2-40B4-BE49-F238E27FC236}">
                <a16:creationId xmlns:a16="http://schemas.microsoft.com/office/drawing/2014/main" id="{B14E0E67-9C58-1D6D-4E44-A75799EF98EE}"/>
              </a:ext>
            </a:extLst>
          </p:cNvPr>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592" name="Google Shape;592;g330b2db8419_2_73">
            <a:extLst>
              <a:ext uri="{FF2B5EF4-FFF2-40B4-BE49-F238E27FC236}">
                <a16:creationId xmlns:a16="http://schemas.microsoft.com/office/drawing/2014/main" id="{C6423BAD-C254-30E5-4EB8-ACCF88E4ABD2}"/>
              </a:ext>
            </a:extLst>
          </p:cNvPr>
          <p:cNvSpPr txBox="1"/>
          <p:nvPr/>
        </p:nvSpPr>
        <p:spPr>
          <a:xfrm>
            <a:off x="114162" y="145685"/>
            <a:ext cx="10910100"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US" sz="3200" dirty="0">
                <a:solidFill>
                  <a:schemeClr val="lt1"/>
                </a:solidFill>
                <a:latin typeface="Times New Roman" panose="02020603050405020304" pitchFamily="18" charset="0"/>
                <a:cs typeface="Times New Roman" panose="02020603050405020304" pitchFamily="18" charset="0"/>
              </a:rPr>
              <a:t>Selective recomputing KV cache</a:t>
            </a:r>
            <a:endParaRPr sz="3200" b="0" i="0" u="none" strike="noStrike" cap="none" dirty="0">
              <a:solidFill>
                <a:schemeClr val="lt1"/>
              </a:solidFill>
              <a:latin typeface="Times New Roman" panose="02020603050405020304" pitchFamily="18" charset="0"/>
              <a:cs typeface="Times New Roman" panose="02020603050405020304" pitchFamily="18" charset="0"/>
              <a:sym typeface="Arial"/>
            </a:endParaRPr>
          </a:p>
        </p:txBody>
      </p:sp>
      <p:pic>
        <p:nvPicPr>
          <p:cNvPr id="593" name="Google Shape;593;g330b2db8419_2_73">
            <a:extLst>
              <a:ext uri="{FF2B5EF4-FFF2-40B4-BE49-F238E27FC236}">
                <a16:creationId xmlns:a16="http://schemas.microsoft.com/office/drawing/2014/main" id="{D2BAF403-DD0B-259A-69D9-BFCF66DEF3F5}"/>
              </a:ext>
            </a:extLst>
          </p:cNvPr>
          <p:cNvPicPr preferRelativeResize="0"/>
          <p:nvPr/>
        </p:nvPicPr>
        <p:blipFill rotWithShape="1">
          <a:blip r:embed="rId3">
            <a:alphaModFix/>
          </a:blip>
          <a:srcRect/>
          <a:stretch/>
        </p:blipFill>
        <p:spPr>
          <a:xfrm>
            <a:off x="11557509" y="233819"/>
            <a:ext cx="271309" cy="389810"/>
          </a:xfrm>
          <a:prstGeom prst="rect">
            <a:avLst/>
          </a:prstGeom>
          <a:noFill/>
          <a:ln>
            <a:noFill/>
          </a:ln>
        </p:spPr>
      </p:pic>
      <p:sp>
        <p:nvSpPr>
          <p:cNvPr id="594" name="Google Shape;594;g330b2db8419_2_73">
            <a:extLst>
              <a:ext uri="{FF2B5EF4-FFF2-40B4-BE49-F238E27FC236}">
                <a16:creationId xmlns:a16="http://schemas.microsoft.com/office/drawing/2014/main" id="{5F5763C5-6BF3-3B4F-471F-FBDFAAAAC006}"/>
              </a:ext>
            </a:extLst>
          </p:cNvPr>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595" name="Google Shape;595;g330b2db8419_2_73">
            <a:extLst>
              <a:ext uri="{FF2B5EF4-FFF2-40B4-BE49-F238E27FC236}">
                <a16:creationId xmlns:a16="http://schemas.microsoft.com/office/drawing/2014/main" id="{5B2BE7D8-4EC0-C14F-92CF-FE0965F840E7}"/>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596" name="Google Shape;596;g330b2db8419_2_73">
            <a:extLst>
              <a:ext uri="{FF2B5EF4-FFF2-40B4-BE49-F238E27FC236}">
                <a16:creationId xmlns:a16="http://schemas.microsoft.com/office/drawing/2014/main" id="{DFE73870-D5DB-CB50-BE32-AC8B0C447C56}"/>
              </a:ext>
            </a:extLst>
          </p:cNvPr>
          <p:cNvGrpSpPr/>
          <p:nvPr/>
        </p:nvGrpSpPr>
        <p:grpSpPr>
          <a:xfrm>
            <a:off x="2622925" y="6601537"/>
            <a:ext cx="6677215" cy="70500"/>
            <a:chOff x="2589675" y="6601537"/>
            <a:chExt cx="6677215" cy="70500"/>
          </a:xfrm>
        </p:grpSpPr>
        <p:cxnSp>
          <p:nvCxnSpPr>
            <p:cNvPr id="597" name="Google Shape;597;g330b2db8419_2_73">
              <a:extLst>
                <a:ext uri="{FF2B5EF4-FFF2-40B4-BE49-F238E27FC236}">
                  <a16:creationId xmlns:a16="http://schemas.microsoft.com/office/drawing/2014/main" id="{64C87506-4CA3-446C-C292-176C3D45CCD6}"/>
                </a:ext>
              </a:extLst>
            </p:cNvPr>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598" name="Google Shape;598;g330b2db8419_2_73">
              <a:extLst>
                <a:ext uri="{FF2B5EF4-FFF2-40B4-BE49-F238E27FC236}">
                  <a16:creationId xmlns:a16="http://schemas.microsoft.com/office/drawing/2014/main" id="{F4F923A2-51B7-C13F-197F-75E42FD601C5}"/>
                </a:ext>
              </a:extLst>
            </p:cNvPr>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599" name="Google Shape;599;g330b2db8419_2_73">
            <a:extLst>
              <a:ext uri="{FF2B5EF4-FFF2-40B4-BE49-F238E27FC236}">
                <a16:creationId xmlns:a16="http://schemas.microsoft.com/office/drawing/2014/main" id="{BE6A01BD-2749-96D7-9090-B3C9A2414FF0}"/>
              </a:ext>
            </a:extLst>
          </p:cNvPr>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pic>
        <p:nvPicPr>
          <p:cNvPr id="7" name="图片 6">
            <a:extLst>
              <a:ext uri="{FF2B5EF4-FFF2-40B4-BE49-F238E27FC236}">
                <a16:creationId xmlns:a16="http://schemas.microsoft.com/office/drawing/2014/main" id="{2FC48DDA-646A-657F-5A55-9AF4849723ED}"/>
              </a:ext>
            </a:extLst>
          </p:cNvPr>
          <p:cNvPicPr>
            <a:picLocks noChangeAspect="1"/>
          </p:cNvPicPr>
          <p:nvPr/>
        </p:nvPicPr>
        <p:blipFill>
          <a:blip r:embed="rId4"/>
          <a:stretch>
            <a:fillRect/>
          </a:stretch>
        </p:blipFill>
        <p:spPr>
          <a:xfrm>
            <a:off x="189149" y="1204146"/>
            <a:ext cx="5009722" cy="4606463"/>
          </a:xfrm>
          <a:prstGeom prst="rect">
            <a:avLst/>
          </a:prstGeom>
        </p:spPr>
      </p:pic>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A607C7A9-46A5-4B99-11E1-228EEC82102A}"/>
                  </a:ext>
                </a:extLst>
              </p:cNvPr>
              <p:cNvSpPr txBox="1"/>
              <p:nvPr/>
            </p:nvSpPr>
            <p:spPr>
              <a:xfrm>
                <a:off x="5198871" y="1923403"/>
                <a:ext cx="5949408" cy="2970044"/>
              </a:xfrm>
              <a:prstGeom prst="rect">
                <a:avLst/>
              </a:prstGeom>
              <a:noFill/>
            </p:spPr>
            <p:txBody>
              <a:bodyPr wrap="square" rtlCol="0">
                <a:spAutoFit/>
              </a:bodyPr>
              <a:lstStyle/>
              <a:p>
                <a:endParaRPr lang="en-US" altLang="zh-CN" sz="1800" dirty="0">
                  <a:latin typeface="Times New Roman" panose="02020603050405020304" pitchFamily="18" charset="0"/>
                  <a:cs typeface="Times New Roman" panose="02020603050405020304" pitchFamily="18" charset="0"/>
                </a:endParaRPr>
              </a:p>
              <a:p>
                <a:pPr>
                  <a:spcBef>
                    <a:spcPts val="600"/>
                  </a:spcBef>
                </a:pPr>
                <a:r>
                  <a:rPr lang="en-US" altLang="zh-CN" sz="1800" b="1" dirty="0">
                    <a:latin typeface="Times New Roman" panose="02020603050405020304" pitchFamily="18" charset="0"/>
                    <a:cs typeface="Times New Roman" panose="02020603050405020304" pitchFamily="18" charset="0"/>
                  </a:rPr>
                  <a:t>Workflow</a:t>
                </a:r>
              </a:p>
              <a:p>
                <a:pPr>
                  <a:spcBef>
                    <a:spcPts val="600"/>
                  </a:spcBef>
                </a:pPr>
                <a:r>
                  <a:rPr lang="en-US" altLang="zh-CN" sz="1800" dirty="0">
                    <a:latin typeface="Times New Roman" panose="02020603050405020304" pitchFamily="18" charset="0"/>
                    <a:cs typeface="Times New Roman" panose="02020603050405020304" pitchFamily="18" charset="0"/>
                  </a:rPr>
                  <a:t>• Applies a mask to the input of each layer </a:t>
                </a:r>
                <a14:m>
                  <m:oMath xmlns:m="http://schemas.openxmlformats.org/officeDocument/2006/math">
                    <m:r>
                      <a:rPr lang="en-US" altLang="zh-CN" sz="1800" b="0" i="1" smtClean="0">
                        <a:latin typeface="Cambria Math" panose="02040503050406030204" pitchFamily="18" charset="0"/>
                        <a:cs typeface="Times New Roman" panose="02020603050405020304" pitchFamily="18" charset="0"/>
                      </a:rPr>
                      <m:t>𝑖</m:t>
                    </m:r>
                    <m:r>
                      <a:rPr lang="en-US" altLang="zh-CN" sz="1800" b="0" i="1" smtClean="0">
                        <a:latin typeface="Cambria Math" panose="02040503050406030204" pitchFamily="18" charset="0"/>
                        <a:cs typeface="Times New Roman" panose="02020603050405020304" pitchFamily="18" charset="0"/>
                      </a:rPr>
                      <m:t> </m:t>
                    </m:r>
                  </m:oMath>
                </a14:m>
                <a:r>
                  <a:rPr lang="en-US" altLang="zh-CN" sz="1800" dirty="0">
                    <a:latin typeface="Times New Roman" panose="02020603050405020304" pitchFamily="18" charset="0"/>
                    <a:cs typeface="Times New Roman" panose="02020603050405020304" pitchFamily="18" charset="0"/>
                  </a:rPr>
                  <a:t>(Select tokens)</a:t>
                </a:r>
              </a:p>
              <a:p>
                <a:pPr>
                  <a:spcBef>
                    <a:spcPts val="600"/>
                  </a:spcBef>
                </a:pPr>
                <a:r>
                  <a:rPr lang="en-US" altLang="zh-CN" sz="1800" dirty="0">
                    <a:latin typeface="Times New Roman" panose="02020603050405020304" pitchFamily="18" charset="0"/>
                    <a:cs typeface="Times New Roman" panose="02020603050405020304" pitchFamily="18" charset="0"/>
                  </a:rPr>
                  <a:t>• Transforms the reduced input into </a:t>
                </a:r>
                <a14:m>
                  <m:oMath xmlns:m="http://schemas.openxmlformats.org/officeDocument/2006/math">
                    <m:sSub>
                      <m:sSubPr>
                        <m:ctrlPr>
                          <a:rPr lang="en-US" altLang="zh-CN" sz="1800" i="1">
                            <a:latin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𝑄</m:t>
                        </m:r>
                      </m:e>
                      <m:sub>
                        <m:r>
                          <a:rPr lang="en-US" altLang="zh-CN" sz="1800" i="1">
                            <a:latin typeface="Cambria Math" panose="02040503050406030204" pitchFamily="18" charset="0"/>
                            <a:cs typeface="Times New Roman" panose="02020603050405020304" pitchFamily="18" charset="0"/>
                          </a:rPr>
                          <m:t>𝑖</m:t>
                        </m:r>
                      </m:sub>
                    </m:sSub>
                    <m:r>
                      <a:rPr lang="en-US" altLang="zh-CN" sz="1800" i="1">
                        <a:latin typeface="Cambria Math" panose="02040503050406030204" pitchFamily="18" charset="0"/>
                        <a:cs typeface="Times New Roman" panose="02020603050405020304" pitchFamily="18" charset="0"/>
                      </a:rPr>
                      <m:t> </m:t>
                    </m:r>
                    <m:sSub>
                      <m:sSubPr>
                        <m:ctrlPr>
                          <a:rPr lang="en-US" altLang="zh-CN" sz="1800" i="1">
                            <a:latin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𝐾</m:t>
                        </m:r>
                      </m:e>
                      <m:sub>
                        <m:r>
                          <a:rPr lang="en-US" altLang="zh-CN" sz="1800" i="1">
                            <a:latin typeface="Cambria Math" panose="02040503050406030204" pitchFamily="18" charset="0"/>
                            <a:cs typeface="Times New Roman" panose="02020603050405020304" pitchFamily="18" charset="0"/>
                          </a:rPr>
                          <m:t>𝑖</m:t>
                        </m:r>
                      </m:sub>
                    </m:sSub>
                    <m:r>
                      <a:rPr lang="en-US" altLang="zh-CN" sz="1800" i="1">
                        <a:latin typeface="Cambria Math" panose="02040503050406030204" pitchFamily="18" charset="0"/>
                        <a:cs typeface="Times New Roman" panose="02020603050405020304" pitchFamily="18" charset="0"/>
                      </a:rPr>
                      <m:t> </m:t>
                    </m:r>
                    <m:sSub>
                      <m:sSubPr>
                        <m:ctrlPr>
                          <a:rPr lang="en-US" altLang="zh-CN" sz="1800" i="1">
                            <a:latin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𝑉</m:t>
                        </m:r>
                      </m:e>
                      <m:sub>
                        <m:r>
                          <a:rPr lang="en-US" altLang="zh-CN" sz="1800" i="1">
                            <a:latin typeface="Cambria Math" panose="02040503050406030204" pitchFamily="18" charset="0"/>
                            <a:cs typeface="Times New Roman" panose="02020603050405020304" pitchFamily="18" charset="0"/>
                          </a:rPr>
                          <m:t>𝑖</m:t>
                        </m:r>
                        <m:r>
                          <a:rPr lang="en-US" altLang="zh-CN" sz="1800" i="1">
                            <a:latin typeface="Cambria Math" panose="02040503050406030204" pitchFamily="18" charset="0"/>
                            <a:cs typeface="Times New Roman" panose="02020603050405020304" pitchFamily="18" charset="0"/>
                          </a:rPr>
                          <m:t> </m:t>
                        </m:r>
                      </m:sub>
                    </m:sSub>
                  </m:oMath>
                </a14:m>
                <a:r>
                  <a:rPr lang="en-US" altLang="zh-CN" sz="1800" dirty="0">
                    <a:latin typeface="Times New Roman" panose="02020603050405020304" pitchFamily="18" charset="0"/>
                    <a:cs typeface="Times New Roman" panose="02020603050405020304" pitchFamily="18" charset="0"/>
                  </a:rPr>
                  <a:t>vectors. (selected tokens)</a:t>
                </a:r>
              </a:p>
              <a:p>
                <a:pPr>
                  <a:spcBef>
                    <a:spcPts val="600"/>
                  </a:spcBef>
                </a:pPr>
                <a:r>
                  <a:rPr lang="en-US" altLang="zh-CN" sz="1800" dirty="0">
                    <a:latin typeface="Times New Roman" panose="02020603050405020304" pitchFamily="18" charset="0"/>
                    <a:cs typeface="Times New Roman" panose="02020603050405020304" pitchFamily="18" charset="0"/>
                  </a:rPr>
                  <a:t>• Expands the </a:t>
                </a:r>
                <a14:m>
                  <m:oMath xmlns:m="http://schemas.openxmlformats.org/officeDocument/2006/math">
                    <m:sSub>
                      <m:sSubPr>
                        <m:ctrlPr>
                          <a:rPr lang="en-US" altLang="zh-CN" sz="1800" i="1">
                            <a:latin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𝐾</m:t>
                        </m:r>
                      </m:e>
                      <m:sub>
                        <m:r>
                          <a:rPr lang="en-US" altLang="zh-CN" sz="1800" i="1">
                            <a:latin typeface="Cambria Math" panose="02040503050406030204" pitchFamily="18" charset="0"/>
                            <a:cs typeface="Times New Roman" panose="02020603050405020304" pitchFamily="18" charset="0"/>
                          </a:rPr>
                          <m:t>𝑖</m:t>
                        </m:r>
                      </m:sub>
                    </m:sSub>
                    <m:r>
                      <a:rPr lang="en-US" altLang="zh-CN" sz="1800" i="1">
                        <a:latin typeface="Cambria Math" panose="02040503050406030204" pitchFamily="18" charset="0"/>
                        <a:cs typeface="Times New Roman" panose="02020603050405020304" pitchFamily="18" charset="0"/>
                      </a:rPr>
                      <m:t> </m:t>
                    </m:r>
                    <m:sSub>
                      <m:sSubPr>
                        <m:ctrlPr>
                          <a:rPr lang="en-US" altLang="zh-CN" sz="1800" i="1">
                            <a:latin typeface="Cambria Math" panose="02040503050406030204" pitchFamily="18" charset="0"/>
                            <a:cs typeface="Times New Roman" panose="02020603050405020304" pitchFamily="18" charset="0"/>
                          </a:rPr>
                        </m:ctrlPr>
                      </m:sSubPr>
                      <m:e>
                        <m:r>
                          <a:rPr lang="en-US" altLang="zh-CN" sz="1800" i="1">
                            <a:latin typeface="Cambria Math" panose="02040503050406030204" pitchFamily="18" charset="0"/>
                            <a:cs typeface="Times New Roman" panose="02020603050405020304" pitchFamily="18" charset="0"/>
                          </a:rPr>
                          <m:t>𝑉</m:t>
                        </m:r>
                      </m:e>
                      <m:sub>
                        <m:r>
                          <a:rPr lang="en-US" altLang="zh-CN" sz="1800" i="1">
                            <a:latin typeface="Cambria Math" panose="02040503050406030204" pitchFamily="18" charset="0"/>
                            <a:cs typeface="Times New Roman" panose="02020603050405020304" pitchFamily="18" charset="0"/>
                          </a:rPr>
                          <m:t>𝑖</m:t>
                        </m:r>
                        <m:r>
                          <a:rPr lang="en-US" altLang="zh-CN" sz="1800" i="1">
                            <a:latin typeface="Cambria Math" panose="02040503050406030204" pitchFamily="18" charset="0"/>
                            <a:cs typeface="Times New Roman" panose="02020603050405020304" pitchFamily="18" charset="0"/>
                          </a:rPr>
                          <m:t> </m:t>
                        </m:r>
                      </m:sub>
                    </m:sSub>
                  </m:oMath>
                </a14:m>
                <a:r>
                  <a:rPr lang="en-US" altLang="zh-CN" sz="1800" dirty="0">
                    <a:latin typeface="Times New Roman" panose="02020603050405020304" pitchFamily="18" charset="0"/>
                    <a:cs typeface="Times New Roman" panose="02020603050405020304" pitchFamily="18" charset="0"/>
                  </a:rPr>
                  <a:t>vector by reusing the KV cache entries (unselected tokens)</a:t>
                </a:r>
              </a:p>
              <a:p>
                <a:pPr>
                  <a:spcBef>
                    <a:spcPts val="600"/>
                  </a:spcBef>
                </a:pPr>
                <a:r>
                  <a:rPr lang="en-US" altLang="zh-CN" sz="1800" dirty="0">
                    <a:latin typeface="Times New Roman" panose="02020603050405020304" pitchFamily="18" charset="0"/>
                    <a:cs typeface="Times New Roman" panose="02020603050405020304" pitchFamily="18" charset="0"/>
                  </a:rPr>
                  <a:t>• Run the attention module to produce the input of next layer.</a:t>
                </a:r>
              </a:p>
              <a:p>
                <a:endParaRPr lang="en-US" altLang="zh-CN" sz="1800" dirty="0">
                  <a:latin typeface="Times New Roman" panose="02020603050405020304" pitchFamily="18" charset="0"/>
                  <a:cs typeface="Times New Roman" panose="02020603050405020304" pitchFamily="18" charset="0"/>
                </a:endParaRPr>
              </a:p>
            </p:txBody>
          </p:sp>
        </mc:Choice>
        <mc:Fallback xmlns="">
          <p:sp>
            <p:nvSpPr>
              <p:cNvPr id="8" name="文本框 7">
                <a:extLst>
                  <a:ext uri="{FF2B5EF4-FFF2-40B4-BE49-F238E27FC236}">
                    <a16:creationId xmlns:a16="http://schemas.microsoft.com/office/drawing/2014/main" id="{A607C7A9-46A5-4B99-11E1-228EEC82102A}"/>
                  </a:ext>
                </a:extLst>
              </p:cNvPr>
              <p:cNvSpPr txBox="1">
                <a:spLocks noRot="1" noChangeAspect="1" noMove="1" noResize="1" noEditPoints="1" noAdjustHandles="1" noChangeArrowheads="1" noChangeShapeType="1" noTextEdit="1"/>
              </p:cNvSpPr>
              <p:nvPr/>
            </p:nvSpPr>
            <p:spPr>
              <a:xfrm>
                <a:off x="5198871" y="1923403"/>
                <a:ext cx="5949408" cy="2970044"/>
              </a:xfrm>
              <a:prstGeom prst="rect">
                <a:avLst/>
              </a:prstGeom>
              <a:blipFill>
                <a:blip r:embed="rId5"/>
                <a:stretch>
                  <a:fillRect l="-853"/>
                </a:stretch>
              </a:blipFill>
            </p:spPr>
            <p:txBody>
              <a:bodyPr/>
              <a:lstStyle/>
              <a:p>
                <a:r>
                  <a:rPr lang="en-US">
                    <a:noFill/>
                  </a:rPr>
                  <a:t> </a:t>
                </a:r>
              </a:p>
            </p:txBody>
          </p:sp>
        </mc:Fallback>
      </mc:AlternateContent>
      <p:sp>
        <p:nvSpPr>
          <p:cNvPr id="2" name="矩形 1">
            <a:extLst>
              <a:ext uri="{FF2B5EF4-FFF2-40B4-BE49-F238E27FC236}">
                <a16:creationId xmlns:a16="http://schemas.microsoft.com/office/drawing/2014/main" id="{EA9EEF9E-056B-9291-DE4E-F7302AC274CF}"/>
              </a:ext>
            </a:extLst>
          </p:cNvPr>
          <p:cNvSpPr/>
          <p:nvPr/>
        </p:nvSpPr>
        <p:spPr>
          <a:xfrm>
            <a:off x="3661559" y="3377733"/>
            <a:ext cx="858190" cy="114201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655152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89">
          <a:extLst>
            <a:ext uri="{FF2B5EF4-FFF2-40B4-BE49-F238E27FC236}">
              <a16:creationId xmlns:a16="http://schemas.microsoft.com/office/drawing/2014/main" id="{80191378-587F-2C2F-7433-EB1863A17197}"/>
            </a:ext>
          </a:extLst>
        </p:cNvPr>
        <p:cNvGrpSpPr/>
        <p:nvPr/>
      </p:nvGrpSpPr>
      <p:grpSpPr>
        <a:xfrm>
          <a:off x="0" y="0"/>
          <a:ext cx="0" cy="0"/>
          <a:chOff x="0" y="0"/>
          <a:chExt cx="0" cy="0"/>
        </a:xfrm>
      </p:grpSpPr>
      <p:sp>
        <p:nvSpPr>
          <p:cNvPr id="591" name="Google Shape;591;g330b2db8419_2_73">
            <a:extLst>
              <a:ext uri="{FF2B5EF4-FFF2-40B4-BE49-F238E27FC236}">
                <a16:creationId xmlns:a16="http://schemas.microsoft.com/office/drawing/2014/main" id="{37AA326D-3F68-9F4B-292C-76CE877EE73A}"/>
              </a:ext>
            </a:extLst>
          </p:cNvPr>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592" name="Google Shape;592;g330b2db8419_2_73">
            <a:extLst>
              <a:ext uri="{FF2B5EF4-FFF2-40B4-BE49-F238E27FC236}">
                <a16:creationId xmlns:a16="http://schemas.microsoft.com/office/drawing/2014/main" id="{726D5937-70A9-BBDD-D3D5-DCCD1D86572E}"/>
              </a:ext>
            </a:extLst>
          </p:cNvPr>
          <p:cNvSpPr txBox="1"/>
          <p:nvPr/>
        </p:nvSpPr>
        <p:spPr>
          <a:xfrm>
            <a:off x="114162" y="145685"/>
            <a:ext cx="10910100"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US" sz="3200" dirty="0">
                <a:solidFill>
                  <a:schemeClr val="lt1"/>
                </a:solidFill>
                <a:latin typeface="Times New Roman" panose="02020603050405020304" pitchFamily="18" charset="0"/>
                <a:cs typeface="Times New Roman" panose="02020603050405020304" pitchFamily="18" charset="0"/>
              </a:rPr>
              <a:t>Selecting which tokens to recompute</a:t>
            </a:r>
            <a:endParaRPr sz="3200" b="0" i="0" u="none" strike="noStrike" cap="none" dirty="0">
              <a:solidFill>
                <a:schemeClr val="lt1"/>
              </a:solidFill>
              <a:latin typeface="Times New Roman" panose="02020603050405020304" pitchFamily="18" charset="0"/>
              <a:cs typeface="Times New Roman" panose="02020603050405020304" pitchFamily="18" charset="0"/>
              <a:sym typeface="Arial"/>
            </a:endParaRPr>
          </a:p>
        </p:txBody>
      </p:sp>
      <p:pic>
        <p:nvPicPr>
          <p:cNvPr id="593" name="Google Shape;593;g330b2db8419_2_73">
            <a:extLst>
              <a:ext uri="{FF2B5EF4-FFF2-40B4-BE49-F238E27FC236}">
                <a16:creationId xmlns:a16="http://schemas.microsoft.com/office/drawing/2014/main" id="{129E42E2-7D15-BFBB-A672-61DC99C39807}"/>
              </a:ext>
            </a:extLst>
          </p:cNvPr>
          <p:cNvPicPr preferRelativeResize="0"/>
          <p:nvPr/>
        </p:nvPicPr>
        <p:blipFill rotWithShape="1">
          <a:blip r:embed="rId3">
            <a:alphaModFix/>
          </a:blip>
          <a:srcRect/>
          <a:stretch/>
        </p:blipFill>
        <p:spPr>
          <a:xfrm>
            <a:off x="11557509" y="233819"/>
            <a:ext cx="271309" cy="389810"/>
          </a:xfrm>
          <a:prstGeom prst="rect">
            <a:avLst/>
          </a:prstGeom>
          <a:noFill/>
          <a:ln>
            <a:noFill/>
          </a:ln>
        </p:spPr>
      </p:pic>
      <p:sp>
        <p:nvSpPr>
          <p:cNvPr id="594" name="Google Shape;594;g330b2db8419_2_73">
            <a:extLst>
              <a:ext uri="{FF2B5EF4-FFF2-40B4-BE49-F238E27FC236}">
                <a16:creationId xmlns:a16="http://schemas.microsoft.com/office/drawing/2014/main" id="{156CEB20-ACF6-581A-A69E-A356123CA558}"/>
              </a:ext>
            </a:extLst>
          </p:cNvPr>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595" name="Google Shape;595;g330b2db8419_2_73">
            <a:extLst>
              <a:ext uri="{FF2B5EF4-FFF2-40B4-BE49-F238E27FC236}">
                <a16:creationId xmlns:a16="http://schemas.microsoft.com/office/drawing/2014/main" id="{854DF571-07A3-7591-3917-AA94DC3D1CE6}"/>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596" name="Google Shape;596;g330b2db8419_2_73">
            <a:extLst>
              <a:ext uri="{FF2B5EF4-FFF2-40B4-BE49-F238E27FC236}">
                <a16:creationId xmlns:a16="http://schemas.microsoft.com/office/drawing/2014/main" id="{E80595F3-F584-50EC-B49D-BA9F26DFFBDB}"/>
              </a:ext>
            </a:extLst>
          </p:cNvPr>
          <p:cNvGrpSpPr/>
          <p:nvPr/>
        </p:nvGrpSpPr>
        <p:grpSpPr>
          <a:xfrm>
            <a:off x="2622925" y="6601537"/>
            <a:ext cx="6677215" cy="70500"/>
            <a:chOff x="2589675" y="6601537"/>
            <a:chExt cx="6677215" cy="70500"/>
          </a:xfrm>
        </p:grpSpPr>
        <p:cxnSp>
          <p:nvCxnSpPr>
            <p:cNvPr id="597" name="Google Shape;597;g330b2db8419_2_73">
              <a:extLst>
                <a:ext uri="{FF2B5EF4-FFF2-40B4-BE49-F238E27FC236}">
                  <a16:creationId xmlns:a16="http://schemas.microsoft.com/office/drawing/2014/main" id="{AD21BDB1-8FC5-BFDE-802E-08B9DF3FDF4C}"/>
                </a:ext>
              </a:extLst>
            </p:cNvPr>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598" name="Google Shape;598;g330b2db8419_2_73">
              <a:extLst>
                <a:ext uri="{FF2B5EF4-FFF2-40B4-BE49-F238E27FC236}">
                  <a16:creationId xmlns:a16="http://schemas.microsoft.com/office/drawing/2014/main" id="{43534493-6BAE-FC62-AF5C-8BBAC3184599}"/>
                </a:ext>
              </a:extLst>
            </p:cNvPr>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599" name="Google Shape;599;g330b2db8419_2_73">
            <a:extLst>
              <a:ext uri="{FF2B5EF4-FFF2-40B4-BE49-F238E27FC236}">
                <a16:creationId xmlns:a16="http://schemas.microsoft.com/office/drawing/2014/main" id="{7E2A892D-A988-5271-EC02-CF5E749D98D8}"/>
              </a:ext>
            </a:extLst>
          </p:cNvPr>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
        <p:nvSpPr>
          <p:cNvPr id="8" name="文本框 7">
            <a:extLst>
              <a:ext uri="{FF2B5EF4-FFF2-40B4-BE49-F238E27FC236}">
                <a16:creationId xmlns:a16="http://schemas.microsoft.com/office/drawing/2014/main" id="{B1CC1F2F-C8B2-CA1A-4908-BB4E92966AD4}"/>
              </a:ext>
            </a:extLst>
          </p:cNvPr>
          <p:cNvSpPr txBox="1"/>
          <p:nvPr/>
        </p:nvSpPr>
        <p:spPr>
          <a:xfrm>
            <a:off x="257495" y="1013887"/>
            <a:ext cx="9007395" cy="369332"/>
          </a:xfrm>
          <a:prstGeom prst="rect">
            <a:avLst/>
          </a:prstGeom>
          <a:noFill/>
        </p:spPr>
        <p:txBody>
          <a:bodyPr wrap="square" rtlCol="0">
            <a:spAutoFit/>
          </a:bodyPr>
          <a:lstStyle/>
          <a:p>
            <a:r>
              <a:rPr lang="en-US" altLang="zh-CN" sz="1800" i="1" dirty="0">
                <a:latin typeface="Times New Roman" panose="02020603050405020304" pitchFamily="18" charset="0"/>
                <a:cs typeface="Times New Roman" panose="02020603050405020304" pitchFamily="18" charset="0"/>
              </a:rPr>
              <a:t>Intuition</a:t>
            </a:r>
            <a:r>
              <a:rPr lang="en-US" altLang="zh-CN" sz="1800" dirty="0">
                <a:latin typeface="Times New Roman" panose="02020603050405020304" pitchFamily="18" charset="0"/>
                <a:cs typeface="Times New Roman" panose="02020603050405020304" pitchFamily="18" charset="0"/>
              </a:rPr>
              <a:t>: prioritizing recomputing KV of tokens with </a:t>
            </a:r>
            <a:r>
              <a:rPr lang="en-US" altLang="zh-CN" sz="1800" b="1" dirty="0">
                <a:latin typeface="Times New Roman" panose="02020603050405020304" pitchFamily="18" charset="0"/>
                <a:cs typeface="Times New Roman" panose="02020603050405020304" pitchFamily="18" charset="0"/>
              </a:rPr>
              <a:t>high KV deviations</a:t>
            </a:r>
            <a:r>
              <a:rPr lang="en-US" altLang="zh-CN" sz="1800" dirty="0">
                <a:latin typeface="Times New Roman" panose="02020603050405020304" pitchFamily="18" charset="0"/>
                <a:cs typeface="Times New Roman" panose="02020603050405020304" pitchFamily="18" charset="0"/>
              </a:rPr>
              <a:t>…… </a:t>
            </a:r>
          </a:p>
        </p:txBody>
      </p:sp>
      <p:pic>
        <p:nvPicPr>
          <p:cNvPr id="4" name="图片 3">
            <a:extLst>
              <a:ext uri="{FF2B5EF4-FFF2-40B4-BE49-F238E27FC236}">
                <a16:creationId xmlns:a16="http://schemas.microsoft.com/office/drawing/2014/main" id="{EA559C64-2382-3B62-13F6-12DA27A2AEC5}"/>
              </a:ext>
            </a:extLst>
          </p:cNvPr>
          <p:cNvPicPr>
            <a:picLocks noChangeAspect="1"/>
          </p:cNvPicPr>
          <p:nvPr/>
        </p:nvPicPr>
        <p:blipFill>
          <a:blip r:embed="rId4"/>
          <a:stretch>
            <a:fillRect/>
          </a:stretch>
        </p:blipFill>
        <p:spPr>
          <a:xfrm>
            <a:off x="233114" y="1489696"/>
            <a:ext cx="6258798" cy="3648584"/>
          </a:xfrm>
          <a:prstGeom prst="rect">
            <a:avLst/>
          </a:prstGeom>
        </p:spPr>
      </p:pic>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A0C81183-4C97-AEFB-17DA-336F5254E0AE}"/>
                  </a:ext>
                </a:extLst>
              </p:cNvPr>
              <p:cNvSpPr txBox="1"/>
              <p:nvPr/>
            </p:nvSpPr>
            <p:spPr>
              <a:xfrm>
                <a:off x="6958262" y="1882827"/>
                <a:ext cx="4542755" cy="1938992"/>
              </a:xfrm>
              <a:prstGeom prst="rect">
                <a:avLst/>
              </a:prstGeom>
              <a:noFill/>
            </p:spPr>
            <p:txBody>
              <a:bodyPr wrap="square" rtlCol="0">
                <a:spAutoFit/>
              </a:bodyPr>
              <a:lstStyle/>
              <a:p>
                <a:r>
                  <a:rPr lang="en-US" altLang="zh-CN" sz="2000" b="1" dirty="0">
                    <a:latin typeface="Times New Roman" panose="02020603050405020304" pitchFamily="18" charset="0"/>
                    <a:cs typeface="Times New Roman" panose="02020603050405020304" pitchFamily="18" charset="0"/>
                  </a:rPr>
                  <a:t>Insight 1</a:t>
                </a:r>
                <a:r>
                  <a:rPr lang="en-US" altLang="zh-CN" sz="2000" dirty="0">
                    <a:latin typeface="Times New Roman" panose="02020603050405020304" pitchFamily="18" charset="0"/>
                    <a:cs typeface="Times New Roman" panose="02020603050405020304" pitchFamily="18" charset="0"/>
                  </a:rPr>
                  <a:t>. On layer </a:t>
                </a:r>
                <a14:m>
                  <m:oMath xmlns:m="http://schemas.openxmlformats.org/officeDocument/2006/math">
                    <m:r>
                      <a:rPr lang="en-US" altLang="zh-CN" sz="2000" b="0" i="1" smtClean="0">
                        <a:latin typeface="Cambria Math" panose="02040503050406030204" pitchFamily="18" charset="0"/>
                        <a:cs typeface="Times New Roman" panose="02020603050405020304" pitchFamily="18" charset="0"/>
                      </a:rPr>
                      <m:t>𝑖</m:t>
                    </m:r>
                  </m:oMath>
                </a14:m>
                <a:r>
                  <a:rPr lang="en-US" altLang="zh-CN" sz="2000" dirty="0">
                    <a:latin typeface="Times New Roman" panose="02020603050405020304" pitchFamily="18" charset="0"/>
                    <a:cs typeface="Times New Roman" panose="02020603050405020304" pitchFamily="18" charset="0"/>
                  </a:rPr>
                  <a:t>, recomputing the KV of token j who has a higher KV deviation reduces the attention deviation by a greater amount. We refer to them as </a:t>
                </a:r>
                <a:r>
                  <a:rPr lang="en-US" altLang="zh-CN" sz="2000" b="1" dirty="0">
                    <a:latin typeface="Times New Roman" panose="02020603050405020304" pitchFamily="18" charset="0"/>
                    <a:cs typeface="Times New Roman" panose="02020603050405020304" pitchFamily="18" charset="0"/>
                  </a:rPr>
                  <a:t>High-KV-Deviation(HKVD)</a:t>
                </a:r>
                <a:r>
                  <a:rPr lang="en-US" altLang="zh-CN" sz="2000" dirty="0">
                    <a:latin typeface="Times New Roman" panose="02020603050405020304" pitchFamily="18" charset="0"/>
                    <a:cs typeface="Times New Roman" panose="02020603050405020304" pitchFamily="18" charset="0"/>
                  </a:rPr>
                  <a:t> tokens on layer </a:t>
                </a:r>
                <a14:m>
                  <m:oMath xmlns:m="http://schemas.openxmlformats.org/officeDocument/2006/math">
                    <m:r>
                      <a:rPr lang="en-US" altLang="zh-CN" sz="2000" i="1">
                        <a:latin typeface="Cambria Math" panose="02040503050406030204" pitchFamily="18" charset="0"/>
                        <a:cs typeface="Times New Roman" panose="02020603050405020304" pitchFamily="18" charset="0"/>
                      </a:rPr>
                      <m:t>𝑖</m:t>
                    </m:r>
                  </m:oMath>
                </a14:m>
                <a:r>
                  <a:rPr lang="en-US" altLang="zh-CN" sz="2000" dirty="0">
                    <a:latin typeface="Times New Roman" panose="02020603050405020304" pitchFamily="18" charset="0"/>
                    <a:cs typeface="Times New Roman" panose="02020603050405020304" pitchFamily="18" charset="0"/>
                  </a:rPr>
                  <a:t>.</a:t>
                </a:r>
              </a:p>
              <a:p>
                <a:endParaRPr lang="en-US" altLang="zh-CN" sz="2000" dirty="0">
                  <a:latin typeface="Times New Roman" panose="02020603050405020304" pitchFamily="18" charset="0"/>
                  <a:cs typeface="Times New Roman" panose="02020603050405020304" pitchFamily="18" charset="0"/>
                </a:endParaRPr>
              </a:p>
            </p:txBody>
          </p:sp>
        </mc:Choice>
        <mc:Fallback xmlns="">
          <p:sp>
            <p:nvSpPr>
              <p:cNvPr id="5" name="文本框 4">
                <a:extLst>
                  <a:ext uri="{FF2B5EF4-FFF2-40B4-BE49-F238E27FC236}">
                    <a16:creationId xmlns:a16="http://schemas.microsoft.com/office/drawing/2014/main" id="{A0C81183-4C97-AEFB-17DA-336F5254E0AE}"/>
                  </a:ext>
                </a:extLst>
              </p:cNvPr>
              <p:cNvSpPr txBox="1">
                <a:spLocks noRot="1" noChangeAspect="1" noMove="1" noResize="1" noEditPoints="1" noAdjustHandles="1" noChangeArrowheads="1" noChangeShapeType="1" noTextEdit="1"/>
              </p:cNvSpPr>
              <p:nvPr/>
            </p:nvSpPr>
            <p:spPr>
              <a:xfrm>
                <a:off x="6958262" y="1882827"/>
                <a:ext cx="4542755" cy="1938992"/>
              </a:xfrm>
              <a:prstGeom prst="rect">
                <a:avLst/>
              </a:prstGeom>
              <a:blipFill>
                <a:blip r:embed="rId5"/>
                <a:stretch>
                  <a:fillRect l="-1340" t="-1887" r="-201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703715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Shape 589">
          <a:extLst>
            <a:ext uri="{FF2B5EF4-FFF2-40B4-BE49-F238E27FC236}">
              <a16:creationId xmlns:a16="http://schemas.microsoft.com/office/drawing/2014/main" id="{3B47D274-99E3-7393-221B-A138E8B0DC53}"/>
            </a:ext>
          </a:extLst>
        </p:cNvPr>
        <p:cNvGrpSpPr/>
        <p:nvPr/>
      </p:nvGrpSpPr>
      <p:grpSpPr>
        <a:xfrm>
          <a:off x="0" y="0"/>
          <a:ext cx="0" cy="0"/>
          <a:chOff x="0" y="0"/>
          <a:chExt cx="0" cy="0"/>
        </a:xfrm>
      </p:grpSpPr>
      <p:sp>
        <p:nvSpPr>
          <p:cNvPr id="591" name="Google Shape;591;g330b2db8419_2_73">
            <a:extLst>
              <a:ext uri="{FF2B5EF4-FFF2-40B4-BE49-F238E27FC236}">
                <a16:creationId xmlns:a16="http://schemas.microsoft.com/office/drawing/2014/main" id="{4EE36C49-1F87-E56E-C3AA-6B57F39F01D9}"/>
              </a:ext>
            </a:extLst>
          </p:cNvPr>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592" name="Google Shape;592;g330b2db8419_2_73">
            <a:extLst>
              <a:ext uri="{FF2B5EF4-FFF2-40B4-BE49-F238E27FC236}">
                <a16:creationId xmlns:a16="http://schemas.microsoft.com/office/drawing/2014/main" id="{3D5E6846-99E7-E18D-4109-EDB7336AAA31}"/>
              </a:ext>
            </a:extLst>
          </p:cNvPr>
          <p:cNvSpPr txBox="1"/>
          <p:nvPr/>
        </p:nvSpPr>
        <p:spPr>
          <a:xfrm>
            <a:off x="114162" y="145685"/>
            <a:ext cx="10910100"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US" sz="3200" dirty="0">
                <a:solidFill>
                  <a:schemeClr val="lt1"/>
                </a:solidFill>
                <a:latin typeface="Times New Roman" panose="02020603050405020304" pitchFamily="18" charset="0"/>
                <a:cs typeface="Times New Roman" panose="02020603050405020304" pitchFamily="18" charset="0"/>
              </a:rPr>
              <a:t>4.3 Selecting which tokens to recompute</a:t>
            </a:r>
            <a:endParaRPr sz="3200" b="0" i="0" u="none" strike="noStrike" cap="none" dirty="0">
              <a:solidFill>
                <a:schemeClr val="lt1"/>
              </a:solidFill>
              <a:latin typeface="Times New Roman" panose="02020603050405020304" pitchFamily="18" charset="0"/>
              <a:cs typeface="Times New Roman" panose="02020603050405020304" pitchFamily="18" charset="0"/>
              <a:sym typeface="Arial"/>
            </a:endParaRPr>
          </a:p>
        </p:txBody>
      </p:sp>
      <p:pic>
        <p:nvPicPr>
          <p:cNvPr id="593" name="Google Shape;593;g330b2db8419_2_73">
            <a:extLst>
              <a:ext uri="{FF2B5EF4-FFF2-40B4-BE49-F238E27FC236}">
                <a16:creationId xmlns:a16="http://schemas.microsoft.com/office/drawing/2014/main" id="{89569B2A-C152-3FEE-6A11-5207610F9518}"/>
              </a:ext>
            </a:extLst>
          </p:cNvPr>
          <p:cNvPicPr preferRelativeResize="0"/>
          <p:nvPr/>
        </p:nvPicPr>
        <p:blipFill rotWithShape="1">
          <a:blip r:embed="rId3">
            <a:alphaModFix/>
          </a:blip>
          <a:srcRect/>
          <a:stretch/>
        </p:blipFill>
        <p:spPr>
          <a:xfrm>
            <a:off x="11557509" y="233819"/>
            <a:ext cx="271309" cy="389810"/>
          </a:xfrm>
          <a:prstGeom prst="rect">
            <a:avLst/>
          </a:prstGeom>
          <a:noFill/>
          <a:ln>
            <a:noFill/>
          </a:ln>
        </p:spPr>
      </p:pic>
      <p:sp>
        <p:nvSpPr>
          <p:cNvPr id="594" name="Google Shape;594;g330b2db8419_2_73">
            <a:extLst>
              <a:ext uri="{FF2B5EF4-FFF2-40B4-BE49-F238E27FC236}">
                <a16:creationId xmlns:a16="http://schemas.microsoft.com/office/drawing/2014/main" id="{A38A3361-73CD-74C2-D112-4ECA39D80352}"/>
              </a:ext>
            </a:extLst>
          </p:cNvPr>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595" name="Google Shape;595;g330b2db8419_2_73">
            <a:extLst>
              <a:ext uri="{FF2B5EF4-FFF2-40B4-BE49-F238E27FC236}">
                <a16:creationId xmlns:a16="http://schemas.microsoft.com/office/drawing/2014/main" id="{16E90D15-669C-0F66-A5F3-AC17567F5E01}"/>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596" name="Google Shape;596;g330b2db8419_2_73">
            <a:extLst>
              <a:ext uri="{FF2B5EF4-FFF2-40B4-BE49-F238E27FC236}">
                <a16:creationId xmlns:a16="http://schemas.microsoft.com/office/drawing/2014/main" id="{E43D110B-9CB2-61D9-037B-C8B5B53F068F}"/>
              </a:ext>
            </a:extLst>
          </p:cNvPr>
          <p:cNvGrpSpPr/>
          <p:nvPr/>
        </p:nvGrpSpPr>
        <p:grpSpPr>
          <a:xfrm>
            <a:off x="2622925" y="6601537"/>
            <a:ext cx="6677215" cy="70500"/>
            <a:chOff x="2589675" y="6601537"/>
            <a:chExt cx="6677215" cy="70500"/>
          </a:xfrm>
        </p:grpSpPr>
        <p:cxnSp>
          <p:nvCxnSpPr>
            <p:cNvPr id="597" name="Google Shape;597;g330b2db8419_2_73">
              <a:extLst>
                <a:ext uri="{FF2B5EF4-FFF2-40B4-BE49-F238E27FC236}">
                  <a16:creationId xmlns:a16="http://schemas.microsoft.com/office/drawing/2014/main" id="{79A4F79A-05FF-F820-F435-6EB513A14B23}"/>
                </a:ext>
              </a:extLst>
            </p:cNvPr>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598" name="Google Shape;598;g330b2db8419_2_73">
              <a:extLst>
                <a:ext uri="{FF2B5EF4-FFF2-40B4-BE49-F238E27FC236}">
                  <a16:creationId xmlns:a16="http://schemas.microsoft.com/office/drawing/2014/main" id="{F91C4948-A007-50E6-E80D-707C2D4F5F9C}"/>
                </a:ext>
              </a:extLst>
            </p:cNvPr>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599" name="Google Shape;599;g330b2db8419_2_73">
            <a:extLst>
              <a:ext uri="{FF2B5EF4-FFF2-40B4-BE49-F238E27FC236}">
                <a16:creationId xmlns:a16="http://schemas.microsoft.com/office/drawing/2014/main" id="{7717A02B-1F84-4A6C-A7E2-F87FCE38D097}"/>
              </a:ext>
            </a:extLst>
          </p:cNvPr>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26</a:t>
            </a:fld>
            <a:endParaRPr/>
          </a:p>
        </p:txBody>
      </p:sp>
      <p:sp>
        <p:nvSpPr>
          <p:cNvPr id="2" name="文本框 1">
            <a:extLst>
              <a:ext uri="{FF2B5EF4-FFF2-40B4-BE49-F238E27FC236}">
                <a16:creationId xmlns:a16="http://schemas.microsoft.com/office/drawing/2014/main" id="{E126BF85-972B-B337-611E-877699D2A068}"/>
              </a:ext>
            </a:extLst>
          </p:cNvPr>
          <p:cNvSpPr txBox="1"/>
          <p:nvPr/>
        </p:nvSpPr>
        <p:spPr>
          <a:xfrm>
            <a:off x="0" y="948277"/>
            <a:ext cx="9398548" cy="1200329"/>
          </a:xfrm>
          <a:prstGeom prst="rect">
            <a:avLst/>
          </a:prstGeom>
          <a:noFill/>
        </p:spPr>
        <p:txBody>
          <a:bodyPr wrap="square" rtlCol="0">
            <a:spAutoFit/>
          </a:bodyPr>
          <a:lstStyle/>
          <a:p>
            <a:r>
              <a:rPr lang="en-US" altLang="zh-CN" sz="44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Do we need to recompute KV for most tokens </a:t>
            </a:r>
          </a:p>
          <a:p>
            <a:endParaRPr lang="zh-CN" altLang="en-US" sz="2800" b="1" dirty="0">
              <a:latin typeface="Times New Roman" panose="02020603050405020304" pitchFamily="18" charset="0"/>
              <a:cs typeface="Times New Roman" panose="02020603050405020304" pitchFamily="18" charset="0"/>
            </a:endParaRPr>
          </a:p>
        </p:txBody>
      </p:sp>
      <p:pic>
        <p:nvPicPr>
          <p:cNvPr id="6" name="图片 5">
            <a:extLst>
              <a:ext uri="{FF2B5EF4-FFF2-40B4-BE49-F238E27FC236}">
                <a16:creationId xmlns:a16="http://schemas.microsoft.com/office/drawing/2014/main" id="{D7F02956-7FD1-CCC9-F5DB-0933F5ACB863}"/>
              </a:ext>
            </a:extLst>
          </p:cNvPr>
          <p:cNvPicPr>
            <a:picLocks noChangeAspect="1"/>
          </p:cNvPicPr>
          <p:nvPr/>
        </p:nvPicPr>
        <p:blipFill>
          <a:blip r:embed="rId4"/>
          <a:stretch>
            <a:fillRect/>
          </a:stretch>
        </p:blipFill>
        <p:spPr>
          <a:xfrm>
            <a:off x="114162" y="2109832"/>
            <a:ext cx="8177257" cy="3799883"/>
          </a:xfrm>
          <a:prstGeom prst="rect">
            <a:avLst/>
          </a:prstGeom>
        </p:spPr>
      </p:pic>
      <p:sp>
        <p:nvSpPr>
          <p:cNvPr id="10" name="文本框 9">
            <a:extLst>
              <a:ext uri="{FF2B5EF4-FFF2-40B4-BE49-F238E27FC236}">
                <a16:creationId xmlns:a16="http://schemas.microsoft.com/office/drawing/2014/main" id="{ECBF335E-BFEC-A131-E37D-2C5D077AC477}"/>
              </a:ext>
            </a:extLst>
          </p:cNvPr>
          <p:cNvSpPr txBox="1"/>
          <p:nvPr/>
        </p:nvSpPr>
        <p:spPr>
          <a:xfrm>
            <a:off x="8291419" y="1960256"/>
            <a:ext cx="3517678" cy="2862322"/>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The paper empirically show that choosing 10%-20% tokens as HKVD tokens suffices.</a:t>
            </a:r>
          </a:p>
          <a:p>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According to </a:t>
            </a:r>
            <a:r>
              <a:rPr lang="en-US" altLang="zh-CN" sz="2000" b="1" dirty="0">
                <a:latin typeface="Times New Roman" panose="02020603050405020304" pitchFamily="18" charset="0"/>
                <a:cs typeface="Times New Roman" panose="02020603050405020304" pitchFamily="18" charset="0"/>
              </a:rPr>
              <a:t>attention sparsity</a:t>
            </a:r>
            <a:r>
              <a:rPr lang="en-US" altLang="zh-CN" sz="2000" dirty="0">
                <a:latin typeface="Times New Roman" panose="02020603050405020304" pitchFamily="18" charset="0"/>
                <a:cs typeface="Times New Roman" panose="02020603050405020304" pitchFamily="18" charset="0"/>
              </a:rPr>
              <a:t>, high attention typically only occurs between a small number of tokens and their preceding tokens.</a:t>
            </a:r>
            <a:endParaRPr lang="zh-CN"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81642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Shape 589">
          <a:extLst>
            <a:ext uri="{FF2B5EF4-FFF2-40B4-BE49-F238E27FC236}">
              <a16:creationId xmlns:a16="http://schemas.microsoft.com/office/drawing/2014/main" id="{32EA20A9-515A-58E7-DC9B-E0C5F013D17D}"/>
            </a:ext>
          </a:extLst>
        </p:cNvPr>
        <p:cNvGrpSpPr/>
        <p:nvPr/>
      </p:nvGrpSpPr>
      <p:grpSpPr>
        <a:xfrm>
          <a:off x="0" y="0"/>
          <a:ext cx="0" cy="0"/>
          <a:chOff x="0" y="0"/>
          <a:chExt cx="0" cy="0"/>
        </a:xfrm>
      </p:grpSpPr>
      <p:sp>
        <p:nvSpPr>
          <p:cNvPr id="591" name="Google Shape;591;g330b2db8419_2_73">
            <a:extLst>
              <a:ext uri="{FF2B5EF4-FFF2-40B4-BE49-F238E27FC236}">
                <a16:creationId xmlns:a16="http://schemas.microsoft.com/office/drawing/2014/main" id="{19FF9313-5B8E-0A05-9FFB-40AA0F88A290}"/>
              </a:ext>
            </a:extLst>
          </p:cNvPr>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592" name="Google Shape;592;g330b2db8419_2_73">
            <a:extLst>
              <a:ext uri="{FF2B5EF4-FFF2-40B4-BE49-F238E27FC236}">
                <a16:creationId xmlns:a16="http://schemas.microsoft.com/office/drawing/2014/main" id="{14B130FA-8D3A-2F67-3639-80F2457803D2}"/>
              </a:ext>
            </a:extLst>
          </p:cNvPr>
          <p:cNvSpPr txBox="1"/>
          <p:nvPr/>
        </p:nvSpPr>
        <p:spPr>
          <a:xfrm>
            <a:off x="114162" y="145685"/>
            <a:ext cx="10910100"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US" sz="3200" dirty="0">
                <a:solidFill>
                  <a:schemeClr val="lt1"/>
                </a:solidFill>
                <a:latin typeface="Times New Roman" panose="02020603050405020304" pitchFamily="18" charset="0"/>
                <a:cs typeface="Times New Roman" panose="02020603050405020304" pitchFamily="18" charset="0"/>
              </a:rPr>
              <a:t>4.3 Selecting which tokens to recompute</a:t>
            </a:r>
            <a:endParaRPr sz="3200" b="0" i="0" u="none" strike="noStrike" cap="none" dirty="0">
              <a:solidFill>
                <a:schemeClr val="lt1"/>
              </a:solidFill>
              <a:latin typeface="Times New Roman" panose="02020603050405020304" pitchFamily="18" charset="0"/>
              <a:cs typeface="Times New Roman" panose="02020603050405020304" pitchFamily="18" charset="0"/>
              <a:sym typeface="Arial"/>
            </a:endParaRPr>
          </a:p>
        </p:txBody>
      </p:sp>
      <p:pic>
        <p:nvPicPr>
          <p:cNvPr id="593" name="Google Shape;593;g330b2db8419_2_73">
            <a:extLst>
              <a:ext uri="{FF2B5EF4-FFF2-40B4-BE49-F238E27FC236}">
                <a16:creationId xmlns:a16="http://schemas.microsoft.com/office/drawing/2014/main" id="{2F596BFE-3CF3-5FB0-B06C-70B8DCA31D3C}"/>
              </a:ext>
            </a:extLst>
          </p:cNvPr>
          <p:cNvPicPr preferRelativeResize="0"/>
          <p:nvPr/>
        </p:nvPicPr>
        <p:blipFill rotWithShape="1">
          <a:blip r:embed="rId3">
            <a:alphaModFix/>
          </a:blip>
          <a:srcRect/>
          <a:stretch/>
        </p:blipFill>
        <p:spPr>
          <a:xfrm>
            <a:off x="11557509" y="233819"/>
            <a:ext cx="271309" cy="389810"/>
          </a:xfrm>
          <a:prstGeom prst="rect">
            <a:avLst/>
          </a:prstGeom>
          <a:noFill/>
          <a:ln>
            <a:noFill/>
          </a:ln>
        </p:spPr>
      </p:pic>
      <p:sp>
        <p:nvSpPr>
          <p:cNvPr id="594" name="Google Shape;594;g330b2db8419_2_73">
            <a:extLst>
              <a:ext uri="{FF2B5EF4-FFF2-40B4-BE49-F238E27FC236}">
                <a16:creationId xmlns:a16="http://schemas.microsoft.com/office/drawing/2014/main" id="{5D0602C9-A5A8-BB19-A2E1-19A2C7C68436}"/>
              </a:ext>
            </a:extLst>
          </p:cNvPr>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595" name="Google Shape;595;g330b2db8419_2_73">
            <a:extLst>
              <a:ext uri="{FF2B5EF4-FFF2-40B4-BE49-F238E27FC236}">
                <a16:creationId xmlns:a16="http://schemas.microsoft.com/office/drawing/2014/main" id="{1C6E1B4C-6D28-BC85-AB1B-4F1528143E70}"/>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596" name="Google Shape;596;g330b2db8419_2_73">
            <a:extLst>
              <a:ext uri="{FF2B5EF4-FFF2-40B4-BE49-F238E27FC236}">
                <a16:creationId xmlns:a16="http://schemas.microsoft.com/office/drawing/2014/main" id="{B1A0E248-0753-A426-43DA-5552CF5763B1}"/>
              </a:ext>
            </a:extLst>
          </p:cNvPr>
          <p:cNvGrpSpPr/>
          <p:nvPr/>
        </p:nvGrpSpPr>
        <p:grpSpPr>
          <a:xfrm>
            <a:off x="2622925" y="6601537"/>
            <a:ext cx="6677215" cy="70500"/>
            <a:chOff x="2589675" y="6601537"/>
            <a:chExt cx="6677215" cy="70500"/>
          </a:xfrm>
        </p:grpSpPr>
        <p:cxnSp>
          <p:nvCxnSpPr>
            <p:cNvPr id="597" name="Google Shape;597;g330b2db8419_2_73">
              <a:extLst>
                <a:ext uri="{FF2B5EF4-FFF2-40B4-BE49-F238E27FC236}">
                  <a16:creationId xmlns:a16="http://schemas.microsoft.com/office/drawing/2014/main" id="{E5E6F740-A915-69D9-8870-C49339C7F6CD}"/>
                </a:ext>
              </a:extLst>
            </p:cNvPr>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598" name="Google Shape;598;g330b2db8419_2_73">
              <a:extLst>
                <a:ext uri="{FF2B5EF4-FFF2-40B4-BE49-F238E27FC236}">
                  <a16:creationId xmlns:a16="http://schemas.microsoft.com/office/drawing/2014/main" id="{006EF55C-CED5-05EB-7DDA-A87EC3833379}"/>
                </a:ext>
              </a:extLst>
            </p:cNvPr>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599" name="Google Shape;599;g330b2db8419_2_73">
            <a:extLst>
              <a:ext uri="{FF2B5EF4-FFF2-40B4-BE49-F238E27FC236}">
                <a16:creationId xmlns:a16="http://schemas.microsoft.com/office/drawing/2014/main" id="{4FBF3B36-D121-0B12-C7E0-30E08CCAD42D}"/>
              </a:ext>
            </a:extLst>
          </p:cNvPr>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27</a:t>
            </a:fld>
            <a:endParaRPr/>
          </a:p>
        </p:txBody>
      </p:sp>
      <p:sp>
        <p:nvSpPr>
          <p:cNvPr id="2" name="文本框 1">
            <a:extLst>
              <a:ext uri="{FF2B5EF4-FFF2-40B4-BE49-F238E27FC236}">
                <a16:creationId xmlns:a16="http://schemas.microsoft.com/office/drawing/2014/main" id="{A153C342-164A-4E5A-E4EA-D894A833EC2A}"/>
              </a:ext>
            </a:extLst>
          </p:cNvPr>
          <p:cNvSpPr txBox="1"/>
          <p:nvPr/>
        </p:nvSpPr>
        <p:spPr>
          <a:xfrm>
            <a:off x="0" y="815542"/>
            <a:ext cx="12077838" cy="1631216"/>
          </a:xfrm>
          <a:prstGeom prst="rect">
            <a:avLst/>
          </a:prstGeom>
          <a:noFill/>
        </p:spPr>
        <p:txBody>
          <a:bodyPr wrap="square" rtlCol="0">
            <a:spAutoFit/>
          </a:bodyPr>
          <a:lstStyle/>
          <a:p>
            <a:r>
              <a:rPr lang="en-US" altLang="zh-CN" sz="44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How do we identify the HKVD tokens without knowing the true KV values or attention matrix</a:t>
            </a:r>
          </a:p>
          <a:p>
            <a:endParaRPr lang="zh-CN" altLang="en-US" sz="28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66C65278-EACC-863D-D682-5B66F56FF862}"/>
                  </a:ext>
                </a:extLst>
              </p:cNvPr>
              <p:cNvSpPr txBox="1"/>
              <p:nvPr/>
            </p:nvSpPr>
            <p:spPr>
              <a:xfrm>
                <a:off x="880637" y="2138133"/>
                <a:ext cx="9377149" cy="1395767"/>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Naively speaking, we must know the fully recomputed </a:t>
                </a:r>
                <a14:m>
                  <m:oMath xmlns:m="http://schemas.openxmlformats.org/officeDocument/2006/math">
                    <m:sSubSup>
                      <m:sSubSupPr>
                        <m:ctrlPr>
                          <a:rPr lang="en-US" altLang="zh-CN" sz="2000" i="1" smtClean="0">
                            <a:latin typeface="Cambria Math" panose="02040503050406030204" pitchFamily="18" charset="0"/>
                            <a:cs typeface="Times New Roman" panose="02020603050405020304" pitchFamily="18" charset="0"/>
                          </a:rPr>
                        </m:ctrlPr>
                      </m:sSubSupPr>
                      <m:e>
                        <m:r>
                          <a:rPr lang="en-US" altLang="zh-CN" sz="2000" b="0" i="1" smtClean="0">
                            <a:latin typeface="Cambria Math" panose="02040503050406030204" pitchFamily="18" charset="0"/>
                            <a:cs typeface="Times New Roman" panose="02020603050405020304" pitchFamily="18" charset="0"/>
                          </a:rPr>
                          <m:t>𝐾𝑉</m:t>
                        </m:r>
                      </m:e>
                      <m:sub>
                        <m:r>
                          <a:rPr lang="en-US" altLang="zh-CN" sz="2000" b="0" i="1" smtClean="0">
                            <a:latin typeface="Cambria Math" panose="02040503050406030204" pitchFamily="18" charset="0"/>
                            <a:cs typeface="Times New Roman" panose="02020603050405020304" pitchFamily="18" charset="0"/>
                          </a:rPr>
                          <m:t>𝑖</m:t>
                        </m:r>
                      </m:sub>
                      <m:sup>
                        <m:r>
                          <a:rPr lang="en-US" altLang="zh-CN" sz="2000" b="0" i="1" smtClean="0">
                            <a:latin typeface="Cambria Math" panose="02040503050406030204" pitchFamily="18" charset="0"/>
                            <a:cs typeface="Times New Roman" panose="02020603050405020304" pitchFamily="18" charset="0"/>
                          </a:rPr>
                          <m:t>𝑓𝑢𝑙𝑙</m:t>
                        </m:r>
                      </m:sup>
                    </m:sSubSup>
                  </m:oMath>
                </a14:m>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of each layer </a:t>
                </a:r>
                <a14:m>
                  <m:oMath xmlns:m="http://schemas.openxmlformats.org/officeDocument/2006/math">
                    <m:r>
                      <a:rPr lang="en-US" altLang="zh-CN" sz="2000" b="0" i="1" smtClean="0">
                        <a:latin typeface="Cambria Math" panose="02040503050406030204" pitchFamily="18" charset="0"/>
                        <a:cs typeface="Times New Roman" panose="02020603050405020304" pitchFamily="18" charset="0"/>
                      </a:rPr>
                      <m:t>𝑖</m:t>
                    </m:r>
                  </m:oMath>
                </a14:m>
                <a:r>
                  <a:rPr lang="en-US" altLang="zh-CN" sz="2000" dirty="0">
                    <a:latin typeface="Times New Roman" panose="02020603050405020304" pitchFamily="18" charset="0"/>
                    <a:cs typeface="Times New Roman" panose="02020603050405020304" pitchFamily="18" charset="0"/>
                  </a:rPr>
                  <a:t>, but doing so is too expensive and defeats the purpose of selective KV recompute. </a:t>
                </a:r>
              </a:p>
              <a:p>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The second insight……</a:t>
                </a:r>
                <a:endParaRPr lang="zh-CN" altLang="en-US" sz="2000" dirty="0">
                  <a:latin typeface="Times New Roman" panose="02020603050405020304" pitchFamily="18" charset="0"/>
                  <a:cs typeface="Times New Roman" panose="02020603050405020304" pitchFamily="18" charset="0"/>
                </a:endParaRPr>
              </a:p>
            </p:txBody>
          </p:sp>
        </mc:Choice>
        <mc:Fallback xmlns="">
          <p:sp>
            <p:nvSpPr>
              <p:cNvPr id="10" name="文本框 9">
                <a:extLst>
                  <a:ext uri="{FF2B5EF4-FFF2-40B4-BE49-F238E27FC236}">
                    <a16:creationId xmlns:a16="http://schemas.microsoft.com/office/drawing/2014/main" id="{66C65278-EACC-863D-D682-5B66F56FF862}"/>
                  </a:ext>
                </a:extLst>
              </p:cNvPr>
              <p:cNvSpPr txBox="1">
                <a:spLocks noRot="1" noChangeAspect="1" noMove="1" noResize="1" noEditPoints="1" noAdjustHandles="1" noChangeArrowheads="1" noChangeShapeType="1" noTextEdit="1"/>
              </p:cNvSpPr>
              <p:nvPr/>
            </p:nvSpPr>
            <p:spPr>
              <a:xfrm>
                <a:off x="880637" y="2138133"/>
                <a:ext cx="9377149" cy="1395767"/>
              </a:xfrm>
              <a:prstGeom prst="rect">
                <a:avLst/>
              </a:prstGeom>
              <a:blipFill>
                <a:blip r:embed="rId4"/>
                <a:stretch>
                  <a:fillRect l="-650" b="-698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350517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89">
          <a:extLst>
            <a:ext uri="{FF2B5EF4-FFF2-40B4-BE49-F238E27FC236}">
              <a16:creationId xmlns:a16="http://schemas.microsoft.com/office/drawing/2014/main" id="{B5C422D1-E634-2BB5-1636-3EDDE860CC28}"/>
            </a:ext>
          </a:extLst>
        </p:cNvPr>
        <p:cNvGrpSpPr/>
        <p:nvPr/>
      </p:nvGrpSpPr>
      <p:grpSpPr>
        <a:xfrm>
          <a:off x="0" y="0"/>
          <a:ext cx="0" cy="0"/>
          <a:chOff x="0" y="0"/>
          <a:chExt cx="0" cy="0"/>
        </a:xfrm>
      </p:grpSpPr>
      <p:sp>
        <p:nvSpPr>
          <p:cNvPr id="591" name="Google Shape;591;g330b2db8419_2_73">
            <a:extLst>
              <a:ext uri="{FF2B5EF4-FFF2-40B4-BE49-F238E27FC236}">
                <a16:creationId xmlns:a16="http://schemas.microsoft.com/office/drawing/2014/main" id="{D418BFA7-4F8B-6CF7-D238-CFC977BFA824}"/>
              </a:ext>
            </a:extLst>
          </p:cNvPr>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592" name="Google Shape;592;g330b2db8419_2_73">
            <a:extLst>
              <a:ext uri="{FF2B5EF4-FFF2-40B4-BE49-F238E27FC236}">
                <a16:creationId xmlns:a16="http://schemas.microsoft.com/office/drawing/2014/main" id="{276BB000-B505-D98C-D49D-575F50054A38}"/>
              </a:ext>
            </a:extLst>
          </p:cNvPr>
          <p:cNvSpPr txBox="1"/>
          <p:nvPr/>
        </p:nvSpPr>
        <p:spPr>
          <a:xfrm>
            <a:off x="114162" y="145685"/>
            <a:ext cx="10910100"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US" sz="3200" dirty="0">
                <a:solidFill>
                  <a:schemeClr val="lt1"/>
                </a:solidFill>
                <a:latin typeface="Times New Roman" panose="02020603050405020304" pitchFamily="18" charset="0"/>
                <a:cs typeface="Times New Roman" panose="02020603050405020304" pitchFamily="18" charset="0"/>
              </a:rPr>
              <a:t>Selecting which tokens to recompute</a:t>
            </a:r>
            <a:endParaRPr sz="3200" b="0" i="0" u="none" strike="noStrike" cap="none" dirty="0">
              <a:solidFill>
                <a:schemeClr val="lt1"/>
              </a:solidFill>
              <a:latin typeface="Times New Roman" panose="02020603050405020304" pitchFamily="18" charset="0"/>
              <a:cs typeface="Times New Roman" panose="02020603050405020304" pitchFamily="18" charset="0"/>
              <a:sym typeface="Arial"/>
            </a:endParaRPr>
          </a:p>
        </p:txBody>
      </p:sp>
      <p:pic>
        <p:nvPicPr>
          <p:cNvPr id="593" name="Google Shape;593;g330b2db8419_2_73">
            <a:extLst>
              <a:ext uri="{FF2B5EF4-FFF2-40B4-BE49-F238E27FC236}">
                <a16:creationId xmlns:a16="http://schemas.microsoft.com/office/drawing/2014/main" id="{BBD95B1F-A99A-58B8-0172-2BE661D0F8E3}"/>
              </a:ext>
            </a:extLst>
          </p:cNvPr>
          <p:cNvPicPr preferRelativeResize="0"/>
          <p:nvPr/>
        </p:nvPicPr>
        <p:blipFill rotWithShape="1">
          <a:blip r:embed="rId3">
            <a:alphaModFix/>
          </a:blip>
          <a:srcRect/>
          <a:stretch/>
        </p:blipFill>
        <p:spPr>
          <a:xfrm>
            <a:off x="11557509" y="233819"/>
            <a:ext cx="271309" cy="389810"/>
          </a:xfrm>
          <a:prstGeom prst="rect">
            <a:avLst/>
          </a:prstGeom>
          <a:noFill/>
          <a:ln>
            <a:noFill/>
          </a:ln>
        </p:spPr>
      </p:pic>
      <p:sp>
        <p:nvSpPr>
          <p:cNvPr id="594" name="Google Shape;594;g330b2db8419_2_73">
            <a:extLst>
              <a:ext uri="{FF2B5EF4-FFF2-40B4-BE49-F238E27FC236}">
                <a16:creationId xmlns:a16="http://schemas.microsoft.com/office/drawing/2014/main" id="{F74902E8-234E-E3A2-59B4-FFEA5D05AE24}"/>
              </a:ext>
            </a:extLst>
          </p:cNvPr>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595" name="Google Shape;595;g330b2db8419_2_73">
            <a:extLst>
              <a:ext uri="{FF2B5EF4-FFF2-40B4-BE49-F238E27FC236}">
                <a16:creationId xmlns:a16="http://schemas.microsoft.com/office/drawing/2014/main" id="{934C34BD-10DB-BB4E-F49A-8443BB899176}"/>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596" name="Google Shape;596;g330b2db8419_2_73">
            <a:extLst>
              <a:ext uri="{FF2B5EF4-FFF2-40B4-BE49-F238E27FC236}">
                <a16:creationId xmlns:a16="http://schemas.microsoft.com/office/drawing/2014/main" id="{3DE6374B-C528-D6FA-21B0-CF63A5ACA21C}"/>
              </a:ext>
            </a:extLst>
          </p:cNvPr>
          <p:cNvGrpSpPr/>
          <p:nvPr/>
        </p:nvGrpSpPr>
        <p:grpSpPr>
          <a:xfrm>
            <a:off x="2622925" y="6601537"/>
            <a:ext cx="6677215" cy="70500"/>
            <a:chOff x="2589675" y="6601537"/>
            <a:chExt cx="6677215" cy="70500"/>
          </a:xfrm>
        </p:grpSpPr>
        <p:cxnSp>
          <p:nvCxnSpPr>
            <p:cNvPr id="597" name="Google Shape;597;g330b2db8419_2_73">
              <a:extLst>
                <a:ext uri="{FF2B5EF4-FFF2-40B4-BE49-F238E27FC236}">
                  <a16:creationId xmlns:a16="http://schemas.microsoft.com/office/drawing/2014/main" id="{E66CC91D-8200-DA74-E54C-72B905D2BCA4}"/>
                </a:ext>
              </a:extLst>
            </p:cNvPr>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598" name="Google Shape;598;g330b2db8419_2_73">
              <a:extLst>
                <a:ext uri="{FF2B5EF4-FFF2-40B4-BE49-F238E27FC236}">
                  <a16:creationId xmlns:a16="http://schemas.microsoft.com/office/drawing/2014/main" id="{91E95DD5-B196-009C-8266-D9DC05116712}"/>
                </a:ext>
              </a:extLst>
            </p:cNvPr>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599" name="Google Shape;599;g330b2db8419_2_73">
            <a:extLst>
              <a:ext uri="{FF2B5EF4-FFF2-40B4-BE49-F238E27FC236}">
                <a16:creationId xmlns:a16="http://schemas.microsoft.com/office/drawing/2014/main" id="{320DD5EA-183A-7273-B0F4-7F93120F9538}"/>
              </a:ext>
            </a:extLst>
          </p:cNvPr>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28</a:t>
            </a:fld>
            <a:endParaRPr/>
          </a:p>
        </p:txBody>
      </p:sp>
      <p:sp>
        <p:nvSpPr>
          <p:cNvPr id="8" name="文本框 7">
            <a:extLst>
              <a:ext uri="{FF2B5EF4-FFF2-40B4-BE49-F238E27FC236}">
                <a16:creationId xmlns:a16="http://schemas.microsoft.com/office/drawing/2014/main" id="{E9600573-E748-F7C0-4940-0B95A8E996D0}"/>
              </a:ext>
            </a:extLst>
          </p:cNvPr>
          <p:cNvSpPr txBox="1"/>
          <p:nvPr/>
        </p:nvSpPr>
        <p:spPr>
          <a:xfrm>
            <a:off x="257495" y="1013887"/>
            <a:ext cx="9007395" cy="369332"/>
          </a:xfrm>
          <a:prstGeom prst="rect">
            <a:avLst/>
          </a:prstGeom>
          <a:noFill/>
        </p:spPr>
        <p:txBody>
          <a:bodyPr wrap="square" rtlCol="0">
            <a:spAutoFit/>
          </a:bodyPr>
          <a:lstStyle/>
          <a:p>
            <a:r>
              <a:rPr lang="en-US" altLang="zh-CN" sz="1800" i="1" dirty="0">
                <a:latin typeface="Times New Roman" panose="02020603050405020304" pitchFamily="18" charset="0"/>
                <a:cs typeface="Times New Roman" panose="02020603050405020304" pitchFamily="18" charset="0"/>
              </a:rPr>
              <a:t>Intuition</a:t>
            </a:r>
            <a:r>
              <a:rPr lang="en-US" altLang="zh-CN" sz="1800" dirty="0">
                <a:latin typeface="Times New Roman" panose="02020603050405020304" pitchFamily="18" charset="0"/>
                <a:cs typeface="Times New Roman" panose="02020603050405020304" pitchFamily="18" charset="0"/>
              </a:rPr>
              <a:t>: prioritizing recomputing KV of tokens with </a:t>
            </a:r>
            <a:r>
              <a:rPr lang="en-US" altLang="zh-CN" sz="1800" b="1" dirty="0">
                <a:latin typeface="Times New Roman" panose="02020603050405020304" pitchFamily="18" charset="0"/>
                <a:cs typeface="Times New Roman" panose="02020603050405020304" pitchFamily="18" charset="0"/>
              </a:rPr>
              <a:t>high KV deviations</a:t>
            </a:r>
            <a:r>
              <a:rPr lang="en-US" altLang="zh-CN" sz="1800" dirty="0">
                <a:latin typeface="Times New Roman" panose="02020603050405020304" pitchFamily="18" charset="0"/>
                <a:cs typeface="Times New Roman" panose="02020603050405020304" pitchFamily="18" charset="0"/>
              </a:rPr>
              <a:t>…… </a:t>
            </a:r>
          </a:p>
        </p:txBody>
      </p:sp>
      <p:sp>
        <p:nvSpPr>
          <p:cNvPr id="5" name="文本框 4">
            <a:extLst>
              <a:ext uri="{FF2B5EF4-FFF2-40B4-BE49-F238E27FC236}">
                <a16:creationId xmlns:a16="http://schemas.microsoft.com/office/drawing/2014/main" id="{A2581A17-0F8A-7B4A-03B5-9CBCF037D9EE}"/>
              </a:ext>
            </a:extLst>
          </p:cNvPr>
          <p:cNvSpPr txBox="1"/>
          <p:nvPr/>
        </p:nvSpPr>
        <p:spPr>
          <a:xfrm>
            <a:off x="6993512" y="1080004"/>
            <a:ext cx="4542755" cy="5262979"/>
          </a:xfrm>
          <a:prstGeom prst="rect">
            <a:avLst/>
          </a:prstGeom>
          <a:noFill/>
        </p:spPr>
        <p:txBody>
          <a:bodyPr wrap="square" rtlCol="0">
            <a:spAutoFit/>
          </a:bodyPr>
          <a:lstStyle/>
          <a:p>
            <a:endParaRPr lang="en-US" altLang="zh-CN" sz="2400" dirty="0">
              <a:latin typeface="Times New Roman" panose="02020603050405020304" pitchFamily="18" charset="0"/>
              <a:cs typeface="Times New Roman" panose="02020603050405020304" pitchFamily="18" charset="0"/>
            </a:endParaRPr>
          </a:p>
          <a:p>
            <a:r>
              <a:rPr lang="en-US" altLang="zh-CN" sz="2400" b="1" dirty="0">
                <a:latin typeface="Times New Roman" panose="02020603050405020304" pitchFamily="18" charset="0"/>
                <a:cs typeface="Times New Roman" panose="02020603050405020304" pitchFamily="18" charset="0"/>
              </a:rPr>
              <a:t>Insight 2</a:t>
            </a:r>
            <a:r>
              <a:rPr lang="en-US" altLang="zh-CN" sz="2400" dirty="0">
                <a:latin typeface="Times New Roman" panose="02020603050405020304" pitchFamily="18" charset="0"/>
                <a:cs typeface="Times New Roman" panose="02020603050405020304" pitchFamily="18" charset="0"/>
              </a:rPr>
              <a:t>. Tokens with the highest KV deviations on one layer are likely to have the highest KV deviations </a:t>
            </a:r>
            <a:r>
              <a:rPr lang="en-US" altLang="zh-CN" sz="2400" b="1" dirty="0">
                <a:latin typeface="Times New Roman" panose="02020603050405020304" pitchFamily="18" charset="0"/>
                <a:cs typeface="Times New Roman" panose="02020603050405020304" pitchFamily="18" charset="0"/>
              </a:rPr>
              <a:t>on the next layer.</a:t>
            </a:r>
          </a:p>
          <a:p>
            <a:endParaRPr lang="en-US" altLang="zh-CN" sz="2400" b="1" dirty="0">
              <a:latin typeface="Times New Roman" panose="02020603050405020304" pitchFamily="18" charset="0"/>
              <a:cs typeface="Times New Roman" panose="02020603050405020304" pitchFamily="18" charset="0"/>
            </a:endParaRPr>
          </a:p>
          <a:p>
            <a:endParaRPr lang="en-US" altLang="zh-CN" sz="2400" b="1" dirty="0">
              <a:latin typeface="Times New Roman" panose="02020603050405020304" pitchFamily="18" charset="0"/>
              <a:cs typeface="Times New Roman" panose="02020603050405020304" pitchFamily="18" charset="0"/>
            </a:endParaRPr>
          </a:p>
          <a:p>
            <a:endParaRPr lang="en-US" altLang="zh-CN" sz="2400" b="1" dirty="0">
              <a:latin typeface="Times New Roman" panose="02020603050405020304" pitchFamily="18" charset="0"/>
              <a:cs typeface="Times New Roman" panose="02020603050405020304" pitchFamily="18" charset="0"/>
            </a:endParaRPr>
          </a:p>
          <a:p>
            <a:r>
              <a:rPr lang="en-US" altLang="zh-CN" sz="2400" b="1" dirty="0">
                <a:latin typeface="Times New Roman" panose="02020603050405020304" pitchFamily="18" charset="0"/>
                <a:cs typeface="Times New Roman" panose="02020603050405020304" pitchFamily="18" charset="0"/>
              </a:rPr>
              <a:t>Figure 8 </a:t>
            </a:r>
            <a:r>
              <a:rPr lang="en-US" altLang="zh-CN" sz="2400" dirty="0">
                <a:latin typeface="Times New Roman" panose="02020603050405020304" pitchFamily="18" charset="0"/>
                <a:cs typeface="Times New Roman" panose="02020603050405020304" pitchFamily="18" charset="0"/>
              </a:rPr>
              <a:t>shows a consistently high similarity of HKVD tokens between different layers. Perhaps because token changes slowly between layers in transformer models.</a:t>
            </a:r>
            <a:endParaRPr lang="zh-CN" altLang="en-US" sz="2400" b="1"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1417101C-7A55-FEF5-F1D3-C0F7239BAE3C}"/>
              </a:ext>
            </a:extLst>
          </p:cNvPr>
          <p:cNvPicPr>
            <a:picLocks noChangeAspect="1"/>
          </p:cNvPicPr>
          <p:nvPr/>
        </p:nvPicPr>
        <p:blipFill>
          <a:blip r:embed="rId4"/>
          <a:stretch>
            <a:fillRect/>
          </a:stretch>
        </p:blipFill>
        <p:spPr>
          <a:xfrm>
            <a:off x="220274" y="1840357"/>
            <a:ext cx="6667863" cy="3985877"/>
          </a:xfrm>
          <a:prstGeom prst="rect">
            <a:avLst/>
          </a:prstGeom>
        </p:spPr>
      </p:pic>
    </p:spTree>
    <p:extLst>
      <p:ext uri="{BB962C8B-B14F-4D97-AF65-F5344CB8AC3E}">
        <p14:creationId xmlns:p14="http://schemas.microsoft.com/office/powerpoint/2010/main" val="7596509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89">
          <a:extLst>
            <a:ext uri="{FF2B5EF4-FFF2-40B4-BE49-F238E27FC236}">
              <a16:creationId xmlns:a16="http://schemas.microsoft.com/office/drawing/2014/main" id="{EA6ACCCF-DB31-1221-1432-8315ED59C5DC}"/>
            </a:ext>
          </a:extLst>
        </p:cNvPr>
        <p:cNvGrpSpPr/>
        <p:nvPr/>
      </p:nvGrpSpPr>
      <p:grpSpPr>
        <a:xfrm>
          <a:off x="0" y="0"/>
          <a:ext cx="0" cy="0"/>
          <a:chOff x="0" y="0"/>
          <a:chExt cx="0" cy="0"/>
        </a:xfrm>
      </p:grpSpPr>
      <p:sp>
        <p:nvSpPr>
          <p:cNvPr id="591" name="Google Shape;591;g330b2db8419_2_73">
            <a:extLst>
              <a:ext uri="{FF2B5EF4-FFF2-40B4-BE49-F238E27FC236}">
                <a16:creationId xmlns:a16="http://schemas.microsoft.com/office/drawing/2014/main" id="{599D3EBB-F5C3-609B-356C-4BB8A70E93D1}"/>
              </a:ext>
            </a:extLst>
          </p:cNvPr>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592" name="Google Shape;592;g330b2db8419_2_73">
            <a:extLst>
              <a:ext uri="{FF2B5EF4-FFF2-40B4-BE49-F238E27FC236}">
                <a16:creationId xmlns:a16="http://schemas.microsoft.com/office/drawing/2014/main" id="{B302DF1E-822C-426F-CDF3-516D99F40154}"/>
              </a:ext>
            </a:extLst>
          </p:cNvPr>
          <p:cNvSpPr txBox="1"/>
          <p:nvPr/>
        </p:nvSpPr>
        <p:spPr>
          <a:xfrm>
            <a:off x="114162" y="145685"/>
            <a:ext cx="10910100"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US" sz="3200" dirty="0">
                <a:solidFill>
                  <a:schemeClr val="lt1"/>
                </a:solidFill>
                <a:latin typeface="Times New Roman" panose="02020603050405020304" pitchFamily="18" charset="0"/>
                <a:cs typeface="Times New Roman" panose="02020603050405020304" pitchFamily="18" charset="0"/>
              </a:rPr>
              <a:t>Selecting which tokens to recompute</a:t>
            </a:r>
            <a:endParaRPr sz="3200" b="0" i="0" u="none" strike="noStrike" cap="none" dirty="0">
              <a:solidFill>
                <a:schemeClr val="lt1"/>
              </a:solidFill>
              <a:latin typeface="Times New Roman" panose="02020603050405020304" pitchFamily="18" charset="0"/>
              <a:cs typeface="Times New Roman" panose="02020603050405020304" pitchFamily="18" charset="0"/>
              <a:sym typeface="Arial"/>
            </a:endParaRPr>
          </a:p>
        </p:txBody>
      </p:sp>
      <p:pic>
        <p:nvPicPr>
          <p:cNvPr id="593" name="Google Shape;593;g330b2db8419_2_73">
            <a:extLst>
              <a:ext uri="{FF2B5EF4-FFF2-40B4-BE49-F238E27FC236}">
                <a16:creationId xmlns:a16="http://schemas.microsoft.com/office/drawing/2014/main" id="{46D0E007-DC54-CB8C-9BB8-127FB4A7B3BE}"/>
              </a:ext>
            </a:extLst>
          </p:cNvPr>
          <p:cNvPicPr preferRelativeResize="0"/>
          <p:nvPr/>
        </p:nvPicPr>
        <p:blipFill rotWithShape="1">
          <a:blip r:embed="rId3">
            <a:alphaModFix/>
          </a:blip>
          <a:srcRect/>
          <a:stretch/>
        </p:blipFill>
        <p:spPr>
          <a:xfrm>
            <a:off x="11557509" y="233819"/>
            <a:ext cx="271309" cy="389810"/>
          </a:xfrm>
          <a:prstGeom prst="rect">
            <a:avLst/>
          </a:prstGeom>
          <a:noFill/>
          <a:ln>
            <a:noFill/>
          </a:ln>
        </p:spPr>
      </p:pic>
      <p:sp>
        <p:nvSpPr>
          <p:cNvPr id="594" name="Google Shape;594;g330b2db8419_2_73">
            <a:extLst>
              <a:ext uri="{FF2B5EF4-FFF2-40B4-BE49-F238E27FC236}">
                <a16:creationId xmlns:a16="http://schemas.microsoft.com/office/drawing/2014/main" id="{A5A77BA0-D49C-F21D-84E9-1D3A1C904291}"/>
              </a:ext>
            </a:extLst>
          </p:cNvPr>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595" name="Google Shape;595;g330b2db8419_2_73">
            <a:extLst>
              <a:ext uri="{FF2B5EF4-FFF2-40B4-BE49-F238E27FC236}">
                <a16:creationId xmlns:a16="http://schemas.microsoft.com/office/drawing/2014/main" id="{8CF63339-40C6-2C31-336D-AB00E60DCCC7}"/>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596" name="Google Shape;596;g330b2db8419_2_73">
            <a:extLst>
              <a:ext uri="{FF2B5EF4-FFF2-40B4-BE49-F238E27FC236}">
                <a16:creationId xmlns:a16="http://schemas.microsoft.com/office/drawing/2014/main" id="{C7E55A1E-48B4-3039-86D7-8BC86E83287D}"/>
              </a:ext>
            </a:extLst>
          </p:cNvPr>
          <p:cNvGrpSpPr/>
          <p:nvPr/>
        </p:nvGrpSpPr>
        <p:grpSpPr>
          <a:xfrm>
            <a:off x="2622925" y="6601537"/>
            <a:ext cx="6677215" cy="70500"/>
            <a:chOff x="2589675" y="6601537"/>
            <a:chExt cx="6677215" cy="70500"/>
          </a:xfrm>
        </p:grpSpPr>
        <p:cxnSp>
          <p:nvCxnSpPr>
            <p:cNvPr id="597" name="Google Shape;597;g330b2db8419_2_73">
              <a:extLst>
                <a:ext uri="{FF2B5EF4-FFF2-40B4-BE49-F238E27FC236}">
                  <a16:creationId xmlns:a16="http://schemas.microsoft.com/office/drawing/2014/main" id="{F8973C25-75F2-6D2B-E4D3-C570F672F36A}"/>
                </a:ext>
              </a:extLst>
            </p:cNvPr>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598" name="Google Shape;598;g330b2db8419_2_73">
              <a:extLst>
                <a:ext uri="{FF2B5EF4-FFF2-40B4-BE49-F238E27FC236}">
                  <a16:creationId xmlns:a16="http://schemas.microsoft.com/office/drawing/2014/main" id="{373D78BF-EB2E-DAAC-931A-5D8CF24757AD}"/>
                </a:ext>
              </a:extLst>
            </p:cNvPr>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599" name="Google Shape;599;g330b2db8419_2_73">
            <a:extLst>
              <a:ext uri="{FF2B5EF4-FFF2-40B4-BE49-F238E27FC236}">
                <a16:creationId xmlns:a16="http://schemas.microsoft.com/office/drawing/2014/main" id="{5C442DF9-02B7-745C-E77B-EFDAD9ABC8BC}"/>
              </a:ext>
            </a:extLst>
          </p:cNvPr>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29</a:t>
            </a:fld>
            <a:endParaRPr/>
          </a:p>
        </p:txBody>
      </p:sp>
      <p:sp>
        <p:nvSpPr>
          <p:cNvPr id="5" name="文本框 4">
            <a:extLst>
              <a:ext uri="{FF2B5EF4-FFF2-40B4-BE49-F238E27FC236}">
                <a16:creationId xmlns:a16="http://schemas.microsoft.com/office/drawing/2014/main" id="{CC62C318-36EA-6C80-41ED-32C367C1005E}"/>
              </a:ext>
            </a:extLst>
          </p:cNvPr>
          <p:cNvSpPr txBox="1"/>
          <p:nvPr/>
        </p:nvSpPr>
        <p:spPr>
          <a:xfrm>
            <a:off x="6796030" y="1023939"/>
            <a:ext cx="5079664" cy="5570756"/>
          </a:xfrm>
          <a:prstGeom prst="rect">
            <a:avLst/>
          </a:prstGeom>
          <a:noFill/>
        </p:spPr>
        <p:txBody>
          <a:bodyPr wrap="square" rtlCol="0">
            <a:spAutoFit/>
          </a:bodyPr>
          <a:lstStyle/>
          <a:p>
            <a:r>
              <a:rPr lang="en-US" altLang="zh-CN" sz="2800" b="1" dirty="0">
                <a:latin typeface="Times New Roman" panose="02020603050405020304" pitchFamily="18" charset="0"/>
                <a:cs typeface="Times New Roman" panose="02020603050405020304" pitchFamily="18" charset="0"/>
              </a:rPr>
              <a:t>The gradual filtering scheme</a:t>
            </a:r>
          </a:p>
          <a:p>
            <a:endParaRPr lang="en-US" altLang="zh-CN" sz="2800" b="1"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•Layer 1: recompute all tokens and select top 3 tokens in terms of KV deviation.</a:t>
            </a:r>
          </a:p>
          <a:p>
            <a:endParaRPr lang="en-US" altLang="zh-CN" sz="2000" dirty="0">
              <a:latin typeface="Times New Roman" panose="02020603050405020304" pitchFamily="18" charset="0"/>
              <a:cs typeface="Times New Roman" panose="02020603050405020304" pitchFamily="18" charset="0"/>
            </a:endParaRPr>
          </a:p>
          <a:p>
            <a:endParaRPr lang="en-US" altLang="zh-CN" sz="2000" dirty="0">
              <a:latin typeface="Times New Roman" panose="02020603050405020304" pitchFamily="18" charset="0"/>
              <a:cs typeface="Times New Roman" panose="02020603050405020304" pitchFamily="18" charset="0"/>
            </a:endParaRPr>
          </a:p>
          <a:p>
            <a:endParaRPr lang="en-US" altLang="zh-CN" sz="2000" dirty="0">
              <a:latin typeface="Times New Roman" panose="02020603050405020304" pitchFamily="18" charset="0"/>
              <a:cs typeface="Times New Roman" panose="02020603050405020304" pitchFamily="18" charset="0"/>
            </a:endParaRPr>
          </a:p>
          <a:p>
            <a:endParaRPr lang="en-US" altLang="zh-CN" sz="2000" dirty="0">
              <a:latin typeface="Times New Roman" panose="02020603050405020304" pitchFamily="18" charset="0"/>
              <a:cs typeface="Times New Roman" panose="02020603050405020304" pitchFamily="18" charset="0"/>
            </a:endParaRPr>
          </a:p>
          <a:p>
            <a:endParaRPr lang="en-US" altLang="zh-CN" sz="2000" dirty="0">
              <a:latin typeface="Times New Roman" panose="02020603050405020304" pitchFamily="18" charset="0"/>
              <a:cs typeface="Times New Roman" panose="02020603050405020304" pitchFamily="18" charset="0"/>
            </a:endParaRPr>
          </a:p>
          <a:p>
            <a:endParaRPr lang="en-US" altLang="zh-CN" sz="2000" dirty="0">
              <a:latin typeface="Times New Roman" panose="02020603050405020304" pitchFamily="18" charset="0"/>
              <a:cs typeface="Times New Roman" panose="02020603050405020304" pitchFamily="18" charset="0"/>
            </a:endParaRPr>
          </a:p>
          <a:p>
            <a:endParaRPr lang="en-US" altLang="zh-CN" sz="2000" dirty="0">
              <a:latin typeface="Times New Roman" panose="02020603050405020304" pitchFamily="18" charset="0"/>
              <a:cs typeface="Times New Roman" panose="02020603050405020304" pitchFamily="18" charset="0"/>
            </a:endParaRPr>
          </a:p>
          <a:p>
            <a:endParaRPr lang="en-US" altLang="zh-CN" sz="2000" dirty="0">
              <a:latin typeface="Times New Roman" panose="02020603050405020304" pitchFamily="18" charset="0"/>
              <a:cs typeface="Times New Roman" panose="02020603050405020304" pitchFamily="18" charset="0"/>
            </a:endParaRPr>
          </a:p>
          <a:p>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This scheme picks HKVD tokens based on observations on multiple layers instead of first layer only.</a:t>
            </a:r>
          </a:p>
          <a:p>
            <a:endParaRPr lang="en-US" altLang="zh-CN" sz="2000"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B3C76A9F-E316-AD77-1B4F-0E84B8227D03}"/>
              </a:ext>
            </a:extLst>
          </p:cNvPr>
          <p:cNvPicPr>
            <a:picLocks noChangeAspect="1"/>
          </p:cNvPicPr>
          <p:nvPr/>
        </p:nvPicPr>
        <p:blipFill>
          <a:blip r:embed="rId4"/>
          <a:stretch>
            <a:fillRect/>
          </a:stretch>
        </p:blipFill>
        <p:spPr>
          <a:xfrm>
            <a:off x="114162" y="1013886"/>
            <a:ext cx="6681868" cy="5297533"/>
          </a:xfrm>
          <a:prstGeom prst="rect">
            <a:avLst/>
          </a:prstGeom>
        </p:spPr>
      </p:pic>
    </p:spTree>
    <p:extLst>
      <p:ext uri="{BB962C8B-B14F-4D97-AF65-F5344CB8AC3E}">
        <p14:creationId xmlns:p14="http://schemas.microsoft.com/office/powerpoint/2010/main" val="40084144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89">
          <a:extLst>
            <a:ext uri="{FF2B5EF4-FFF2-40B4-BE49-F238E27FC236}">
              <a16:creationId xmlns:a16="http://schemas.microsoft.com/office/drawing/2014/main" id="{B4DD6FEA-15C6-AFB7-4FB8-E1CEB34A5654}"/>
            </a:ext>
          </a:extLst>
        </p:cNvPr>
        <p:cNvGrpSpPr/>
        <p:nvPr/>
      </p:nvGrpSpPr>
      <p:grpSpPr>
        <a:xfrm>
          <a:off x="0" y="0"/>
          <a:ext cx="0" cy="0"/>
          <a:chOff x="0" y="0"/>
          <a:chExt cx="0" cy="0"/>
        </a:xfrm>
      </p:grpSpPr>
      <p:sp>
        <p:nvSpPr>
          <p:cNvPr id="591" name="Google Shape;591;g330b2db8419_2_73">
            <a:extLst>
              <a:ext uri="{FF2B5EF4-FFF2-40B4-BE49-F238E27FC236}">
                <a16:creationId xmlns:a16="http://schemas.microsoft.com/office/drawing/2014/main" id="{560888F1-E63C-7146-D33E-E17AB348A5A6}"/>
              </a:ext>
            </a:extLst>
          </p:cNvPr>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592" name="Google Shape;592;g330b2db8419_2_73">
            <a:extLst>
              <a:ext uri="{FF2B5EF4-FFF2-40B4-BE49-F238E27FC236}">
                <a16:creationId xmlns:a16="http://schemas.microsoft.com/office/drawing/2014/main" id="{0F52130C-FAB5-E483-EF9F-16EA16B643FC}"/>
              </a:ext>
            </a:extLst>
          </p:cNvPr>
          <p:cNvSpPr txBox="1"/>
          <p:nvPr/>
        </p:nvSpPr>
        <p:spPr>
          <a:xfrm>
            <a:off x="114162" y="145685"/>
            <a:ext cx="10910100"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US" sz="3200" dirty="0">
                <a:solidFill>
                  <a:schemeClr val="lt1"/>
                </a:solidFill>
                <a:latin typeface="Times New Roman" panose="02020603050405020304" pitchFamily="18" charset="0"/>
                <a:cs typeface="Times New Roman" panose="02020603050405020304" pitchFamily="18" charset="0"/>
              </a:rPr>
              <a:t>Selecting which tokens to recompute</a:t>
            </a:r>
            <a:endParaRPr sz="3200" b="0" i="0" u="none" strike="noStrike" cap="none" dirty="0">
              <a:solidFill>
                <a:schemeClr val="lt1"/>
              </a:solidFill>
              <a:latin typeface="Times New Roman" panose="02020603050405020304" pitchFamily="18" charset="0"/>
              <a:cs typeface="Times New Roman" panose="02020603050405020304" pitchFamily="18" charset="0"/>
              <a:sym typeface="Arial"/>
            </a:endParaRPr>
          </a:p>
        </p:txBody>
      </p:sp>
      <p:pic>
        <p:nvPicPr>
          <p:cNvPr id="593" name="Google Shape;593;g330b2db8419_2_73">
            <a:extLst>
              <a:ext uri="{FF2B5EF4-FFF2-40B4-BE49-F238E27FC236}">
                <a16:creationId xmlns:a16="http://schemas.microsoft.com/office/drawing/2014/main" id="{ABDCC359-8B09-96EA-8499-35DF327D3713}"/>
              </a:ext>
            </a:extLst>
          </p:cNvPr>
          <p:cNvPicPr preferRelativeResize="0"/>
          <p:nvPr/>
        </p:nvPicPr>
        <p:blipFill rotWithShape="1">
          <a:blip r:embed="rId3">
            <a:alphaModFix/>
          </a:blip>
          <a:srcRect/>
          <a:stretch/>
        </p:blipFill>
        <p:spPr>
          <a:xfrm>
            <a:off x="11557509" y="233819"/>
            <a:ext cx="271309" cy="389810"/>
          </a:xfrm>
          <a:prstGeom prst="rect">
            <a:avLst/>
          </a:prstGeom>
          <a:noFill/>
          <a:ln>
            <a:noFill/>
          </a:ln>
        </p:spPr>
      </p:pic>
      <p:sp>
        <p:nvSpPr>
          <p:cNvPr id="594" name="Google Shape;594;g330b2db8419_2_73">
            <a:extLst>
              <a:ext uri="{FF2B5EF4-FFF2-40B4-BE49-F238E27FC236}">
                <a16:creationId xmlns:a16="http://schemas.microsoft.com/office/drawing/2014/main" id="{6B1661B4-6006-E8C8-6BE9-66BEAB350F4A}"/>
              </a:ext>
            </a:extLst>
          </p:cNvPr>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595" name="Google Shape;595;g330b2db8419_2_73">
            <a:extLst>
              <a:ext uri="{FF2B5EF4-FFF2-40B4-BE49-F238E27FC236}">
                <a16:creationId xmlns:a16="http://schemas.microsoft.com/office/drawing/2014/main" id="{C7F481ED-580E-E319-950B-CDFED3859A66}"/>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596" name="Google Shape;596;g330b2db8419_2_73">
            <a:extLst>
              <a:ext uri="{FF2B5EF4-FFF2-40B4-BE49-F238E27FC236}">
                <a16:creationId xmlns:a16="http://schemas.microsoft.com/office/drawing/2014/main" id="{C42AA339-F54D-45D3-6E4C-F19BEB639BC4}"/>
              </a:ext>
            </a:extLst>
          </p:cNvPr>
          <p:cNvGrpSpPr/>
          <p:nvPr/>
        </p:nvGrpSpPr>
        <p:grpSpPr>
          <a:xfrm>
            <a:off x="2622925" y="6601537"/>
            <a:ext cx="6677215" cy="70500"/>
            <a:chOff x="2589675" y="6601537"/>
            <a:chExt cx="6677215" cy="70500"/>
          </a:xfrm>
        </p:grpSpPr>
        <p:cxnSp>
          <p:nvCxnSpPr>
            <p:cNvPr id="597" name="Google Shape;597;g330b2db8419_2_73">
              <a:extLst>
                <a:ext uri="{FF2B5EF4-FFF2-40B4-BE49-F238E27FC236}">
                  <a16:creationId xmlns:a16="http://schemas.microsoft.com/office/drawing/2014/main" id="{FF28E3D1-DEE4-9905-D8EF-4D8F1899A830}"/>
                </a:ext>
              </a:extLst>
            </p:cNvPr>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598" name="Google Shape;598;g330b2db8419_2_73">
              <a:extLst>
                <a:ext uri="{FF2B5EF4-FFF2-40B4-BE49-F238E27FC236}">
                  <a16:creationId xmlns:a16="http://schemas.microsoft.com/office/drawing/2014/main" id="{05D41989-8BCE-3E1C-C50D-618EE4077A58}"/>
                </a:ext>
              </a:extLst>
            </p:cNvPr>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599" name="Google Shape;599;g330b2db8419_2_73">
            <a:extLst>
              <a:ext uri="{FF2B5EF4-FFF2-40B4-BE49-F238E27FC236}">
                <a16:creationId xmlns:a16="http://schemas.microsoft.com/office/drawing/2014/main" id="{F2AFEC3B-39C9-2050-1198-D98076D480F7}"/>
              </a:ext>
            </a:extLst>
          </p:cNvPr>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30</a:t>
            </a:fld>
            <a:endParaRPr/>
          </a:p>
        </p:txBody>
      </p:sp>
      <p:sp>
        <p:nvSpPr>
          <p:cNvPr id="5" name="文本框 4">
            <a:extLst>
              <a:ext uri="{FF2B5EF4-FFF2-40B4-BE49-F238E27FC236}">
                <a16:creationId xmlns:a16="http://schemas.microsoft.com/office/drawing/2014/main" id="{7875EFA4-8A31-2FD2-0F16-3B06C2F9A473}"/>
              </a:ext>
            </a:extLst>
          </p:cNvPr>
          <p:cNvSpPr txBox="1"/>
          <p:nvPr/>
        </p:nvSpPr>
        <p:spPr>
          <a:xfrm>
            <a:off x="6796030" y="1023939"/>
            <a:ext cx="5079664" cy="5570756"/>
          </a:xfrm>
          <a:prstGeom prst="rect">
            <a:avLst/>
          </a:prstGeom>
          <a:noFill/>
        </p:spPr>
        <p:txBody>
          <a:bodyPr wrap="square" rtlCol="0">
            <a:spAutoFit/>
          </a:bodyPr>
          <a:lstStyle/>
          <a:p>
            <a:r>
              <a:rPr lang="en-US" altLang="zh-CN" sz="2800" b="1" dirty="0">
                <a:latin typeface="Times New Roman" panose="02020603050405020304" pitchFamily="18" charset="0"/>
                <a:cs typeface="Times New Roman" panose="02020603050405020304" pitchFamily="18" charset="0"/>
              </a:rPr>
              <a:t>The gradual filtering scheme</a:t>
            </a:r>
          </a:p>
          <a:p>
            <a:endParaRPr lang="en-US" altLang="zh-CN" sz="2800" b="1"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•Layer 1: recompute all tokens and select top 3 tokens in terms of KV deviation.</a:t>
            </a:r>
          </a:p>
          <a:p>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•Layer 2: recompute only that three selected tokens and select top 2 in terms of KV deviation.</a:t>
            </a:r>
          </a:p>
          <a:p>
            <a:endParaRPr lang="en-US" altLang="zh-CN" sz="2000" dirty="0">
              <a:latin typeface="Times New Roman" panose="02020603050405020304" pitchFamily="18" charset="0"/>
              <a:cs typeface="Times New Roman" panose="02020603050405020304" pitchFamily="18" charset="0"/>
            </a:endParaRPr>
          </a:p>
          <a:p>
            <a:endParaRPr lang="en-US" altLang="zh-CN" sz="2000" dirty="0">
              <a:latin typeface="Times New Roman" panose="02020603050405020304" pitchFamily="18" charset="0"/>
              <a:cs typeface="Times New Roman" panose="02020603050405020304" pitchFamily="18" charset="0"/>
            </a:endParaRPr>
          </a:p>
          <a:p>
            <a:endParaRPr lang="en-US" altLang="zh-CN" sz="2000" dirty="0">
              <a:latin typeface="Times New Roman" panose="02020603050405020304" pitchFamily="18" charset="0"/>
              <a:cs typeface="Times New Roman" panose="02020603050405020304" pitchFamily="18" charset="0"/>
            </a:endParaRPr>
          </a:p>
          <a:p>
            <a:endParaRPr lang="en-US" altLang="zh-CN" sz="2000" dirty="0">
              <a:latin typeface="Times New Roman" panose="02020603050405020304" pitchFamily="18" charset="0"/>
              <a:cs typeface="Times New Roman" panose="02020603050405020304" pitchFamily="18" charset="0"/>
            </a:endParaRPr>
          </a:p>
          <a:p>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This scheme picks HKVD tokens based on observations on multiple layers instead of first layer only.</a:t>
            </a:r>
          </a:p>
          <a:p>
            <a:endParaRPr lang="en-US" altLang="zh-CN" sz="2000"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A2D2D2A4-E6B5-29C1-F721-F30B3FA050AF}"/>
              </a:ext>
            </a:extLst>
          </p:cNvPr>
          <p:cNvPicPr>
            <a:picLocks noChangeAspect="1"/>
          </p:cNvPicPr>
          <p:nvPr/>
        </p:nvPicPr>
        <p:blipFill>
          <a:blip r:embed="rId4"/>
          <a:stretch>
            <a:fillRect/>
          </a:stretch>
        </p:blipFill>
        <p:spPr>
          <a:xfrm>
            <a:off x="114162" y="1013886"/>
            <a:ext cx="6681868" cy="5297533"/>
          </a:xfrm>
          <a:prstGeom prst="rect">
            <a:avLst/>
          </a:prstGeom>
        </p:spPr>
      </p:pic>
    </p:spTree>
    <p:extLst>
      <p:ext uri="{BB962C8B-B14F-4D97-AF65-F5344CB8AC3E}">
        <p14:creationId xmlns:p14="http://schemas.microsoft.com/office/powerpoint/2010/main" val="21917236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89">
          <a:extLst>
            <a:ext uri="{FF2B5EF4-FFF2-40B4-BE49-F238E27FC236}">
              <a16:creationId xmlns:a16="http://schemas.microsoft.com/office/drawing/2014/main" id="{EB3C42F1-34B6-9492-12AB-24920CDE36E9}"/>
            </a:ext>
          </a:extLst>
        </p:cNvPr>
        <p:cNvGrpSpPr/>
        <p:nvPr/>
      </p:nvGrpSpPr>
      <p:grpSpPr>
        <a:xfrm>
          <a:off x="0" y="0"/>
          <a:ext cx="0" cy="0"/>
          <a:chOff x="0" y="0"/>
          <a:chExt cx="0" cy="0"/>
        </a:xfrm>
      </p:grpSpPr>
      <p:sp>
        <p:nvSpPr>
          <p:cNvPr id="591" name="Google Shape;591;g330b2db8419_2_73">
            <a:extLst>
              <a:ext uri="{FF2B5EF4-FFF2-40B4-BE49-F238E27FC236}">
                <a16:creationId xmlns:a16="http://schemas.microsoft.com/office/drawing/2014/main" id="{79510EFA-6E5F-DECD-4612-B259C2D4FBB5}"/>
              </a:ext>
            </a:extLst>
          </p:cNvPr>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592" name="Google Shape;592;g330b2db8419_2_73">
            <a:extLst>
              <a:ext uri="{FF2B5EF4-FFF2-40B4-BE49-F238E27FC236}">
                <a16:creationId xmlns:a16="http://schemas.microsoft.com/office/drawing/2014/main" id="{DD52CF1E-16A9-D139-0166-407211946EDF}"/>
              </a:ext>
            </a:extLst>
          </p:cNvPr>
          <p:cNvSpPr txBox="1"/>
          <p:nvPr/>
        </p:nvSpPr>
        <p:spPr>
          <a:xfrm>
            <a:off x="114162" y="145685"/>
            <a:ext cx="10910100"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US" sz="3200" dirty="0">
                <a:solidFill>
                  <a:schemeClr val="lt1"/>
                </a:solidFill>
                <a:latin typeface="Times New Roman" panose="02020603050405020304" pitchFamily="18" charset="0"/>
                <a:cs typeface="Times New Roman" panose="02020603050405020304" pitchFamily="18" charset="0"/>
              </a:rPr>
              <a:t>Selecting which tokens to recompute</a:t>
            </a:r>
            <a:endParaRPr sz="3200" b="0" i="0" u="none" strike="noStrike" cap="none" dirty="0">
              <a:solidFill>
                <a:schemeClr val="lt1"/>
              </a:solidFill>
              <a:latin typeface="Times New Roman" panose="02020603050405020304" pitchFamily="18" charset="0"/>
              <a:cs typeface="Times New Roman" panose="02020603050405020304" pitchFamily="18" charset="0"/>
              <a:sym typeface="Arial"/>
            </a:endParaRPr>
          </a:p>
        </p:txBody>
      </p:sp>
      <p:pic>
        <p:nvPicPr>
          <p:cNvPr id="593" name="Google Shape;593;g330b2db8419_2_73">
            <a:extLst>
              <a:ext uri="{FF2B5EF4-FFF2-40B4-BE49-F238E27FC236}">
                <a16:creationId xmlns:a16="http://schemas.microsoft.com/office/drawing/2014/main" id="{D43EAEA1-169E-A881-310C-0436DCAA680A}"/>
              </a:ext>
            </a:extLst>
          </p:cNvPr>
          <p:cNvPicPr preferRelativeResize="0"/>
          <p:nvPr/>
        </p:nvPicPr>
        <p:blipFill rotWithShape="1">
          <a:blip r:embed="rId3">
            <a:alphaModFix/>
          </a:blip>
          <a:srcRect/>
          <a:stretch/>
        </p:blipFill>
        <p:spPr>
          <a:xfrm>
            <a:off x="11557509" y="233819"/>
            <a:ext cx="271309" cy="389810"/>
          </a:xfrm>
          <a:prstGeom prst="rect">
            <a:avLst/>
          </a:prstGeom>
          <a:noFill/>
          <a:ln>
            <a:noFill/>
          </a:ln>
        </p:spPr>
      </p:pic>
      <p:sp>
        <p:nvSpPr>
          <p:cNvPr id="594" name="Google Shape;594;g330b2db8419_2_73">
            <a:extLst>
              <a:ext uri="{FF2B5EF4-FFF2-40B4-BE49-F238E27FC236}">
                <a16:creationId xmlns:a16="http://schemas.microsoft.com/office/drawing/2014/main" id="{B21C6D6F-1D0B-21EA-9E97-2E6F109DE522}"/>
              </a:ext>
            </a:extLst>
          </p:cNvPr>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595" name="Google Shape;595;g330b2db8419_2_73">
            <a:extLst>
              <a:ext uri="{FF2B5EF4-FFF2-40B4-BE49-F238E27FC236}">
                <a16:creationId xmlns:a16="http://schemas.microsoft.com/office/drawing/2014/main" id="{4B4AE65B-5892-7D80-9302-AA303144B3C5}"/>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596" name="Google Shape;596;g330b2db8419_2_73">
            <a:extLst>
              <a:ext uri="{FF2B5EF4-FFF2-40B4-BE49-F238E27FC236}">
                <a16:creationId xmlns:a16="http://schemas.microsoft.com/office/drawing/2014/main" id="{1B72713C-30C6-7C7B-DE86-9B61D0387AE4}"/>
              </a:ext>
            </a:extLst>
          </p:cNvPr>
          <p:cNvGrpSpPr/>
          <p:nvPr/>
        </p:nvGrpSpPr>
        <p:grpSpPr>
          <a:xfrm>
            <a:off x="2622925" y="6601537"/>
            <a:ext cx="6677215" cy="70500"/>
            <a:chOff x="2589675" y="6601537"/>
            <a:chExt cx="6677215" cy="70500"/>
          </a:xfrm>
        </p:grpSpPr>
        <p:cxnSp>
          <p:nvCxnSpPr>
            <p:cNvPr id="597" name="Google Shape;597;g330b2db8419_2_73">
              <a:extLst>
                <a:ext uri="{FF2B5EF4-FFF2-40B4-BE49-F238E27FC236}">
                  <a16:creationId xmlns:a16="http://schemas.microsoft.com/office/drawing/2014/main" id="{C90FDD20-005F-C1D7-335F-3407C26F06FE}"/>
                </a:ext>
              </a:extLst>
            </p:cNvPr>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598" name="Google Shape;598;g330b2db8419_2_73">
              <a:extLst>
                <a:ext uri="{FF2B5EF4-FFF2-40B4-BE49-F238E27FC236}">
                  <a16:creationId xmlns:a16="http://schemas.microsoft.com/office/drawing/2014/main" id="{E6B6ECA7-8EF5-EBF1-7658-A54E5F25AF16}"/>
                </a:ext>
              </a:extLst>
            </p:cNvPr>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599" name="Google Shape;599;g330b2db8419_2_73">
            <a:extLst>
              <a:ext uri="{FF2B5EF4-FFF2-40B4-BE49-F238E27FC236}">
                <a16:creationId xmlns:a16="http://schemas.microsoft.com/office/drawing/2014/main" id="{2B06B0FF-39E9-073A-EA46-F00248025200}"/>
              </a:ext>
            </a:extLst>
          </p:cNvPr>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31</a:t>
            </a:fld>
            <a:endParaRPr/>
          </a:p>
        </p:txBody>
      </p:sp>
      <p:sp>
        <p:nvSpPr>
          <p:cNvPr id="5" name="文本框 4">
            <a:extLst>
              <a:ext uri="{FF2B5EF4-FFF2-40B4-BE49-F238E27FC236}">
                <a16:creationId xmlns:a16="http://schemas.microsoft.com/office/drawing/2014/main" id="{CB93ABD5-E6AE-5E0E-41A4-9339B8579A52}"/>
              </a:ext>
            </a:extLst>
          </p:cNvPr>
          <p:cNvSpPr txBox="1"/>
          <p:nvPr/>
        </p:nvSpPr>
        <p:spPr>
          <a:xfrm>
            <a:off x="6796030" y="1023939"/>
            <a:ext cx="5079664" cy="5570756"/>
          </a:xfrm>
          <a:prstGeom prst="rect">
            <a:avLst/>
          </a:prstGeom>
          <a:noFill/>
        </p:spPr>
        <p:txBody>
          <a:bodyPr wrap="square" rtlCol="0">
            <a:spAutoFit/>
          </a:bodyPr>
          <a:lstStyle/>
          <a:p>
            <a:r>
              <a:rPr lang="en-US" altLang="zh-CN" sz="2800" b="1" dirty="0">
                <a:latin typeface="Times New Roman" panose="02020603050405020304" pitchFamily="18" charset="0"/>
                <a:cs typeface="Times New Roman" panose="02020603050405020304" pitchFamily="18" charset="0"/>
              </a:rPr>
              <a:t>The gradual filtering scheme</a:t>
            </a:r>
          </a:p>
          <a:p>
            <a:endParaRPr lang="en-US" altLang="zh-CN" sz="2800" b="1"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•Layer 1: recompute all tokens and select top 3 tokens in terms of KV deviation.</a:t>
            </a:r>
          </a:p>
          <a:p>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•Layer 2: recompute only that three selected tokens and select top 2 in terms of KV deviation.</a:t>
            </a:r>
          </a:p>
          <a:p>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•Layer 3: recompute only that two selected tokens and select top 2 in terms of KV deviation……</a:t>
            </a:r>
          </a:p>
          <a:p>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This scheme picks HKVD tokens based on observations on multiple layers instead of first layer only.</a:t>
            </a:r>
          </a:p>
          <a:p>
            <a:endParaRPr lang="en-US" altLang="zh-CN" sz="2000" dirty="0">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1FAB7D54-D0B1-E42F-10D8-031447AC6B7E}"/>
              </a:ext>
            </a:extLst>
          </p:cNvPr>
          <p:cNvPicPr>
            <a:picLocks noChangeAspect="1"/>
          </p:cNvPicPr>
          <p:nvPr/>
        </p:nvPicPr>
        <p:blipFill>
          <a:blip r:embed="rId4"/>
          <a:stretch>
            <a:fillRect/>
          </a:stretch>
        </p:blipFill>
        <p:spPr>
          <a:xfrm>
            <a:off x="114162" y="1013886"/>
            <a:ext cx="6681868" cy="5297533"/>
          </a:xfrm>
          <a:prstGeom prst="rect">
            <a:avLst/>
          </a:prstGeom>
        </p:spPr>
      </p:pic>
    </p:spTree>
    <p:extLst>
      <p:ext uri="{BB962C8B-B14F-4D97-AF65-F5344CB8AC3E}">
        <p14:creationId xmlns:p14="http://schemas.microsoft.com/office/powerpoint/2010/main" val="6274479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89">
          <a:extLst>
            <a:ext uri="{FF2B5EF4-FFF2-40B4-BE49-F238E27FC236}">
              <a16:creationId xmlns:a16="http://schemas.microsoft.com/office/drawing/2014/main" id="{F076C278-CB8C-04EF-C9BE-5D9A2A4E36C6}"/>
            </a:ext>
          </a:extLst>
        </p:cNvPr>
        <p:cNvGrpSpPr/>
        <p:nvPr/>
      </p:nvGrpSpPr>
      <p:grpSpPr>
        <a:xfrm>
          <a:off x="0" y="0"/>
          <a:ext cx="0" cy="0"/>
          <a:chOff x="0" y="0"/>
          <a:chExt cx="0" cy="0"/>
        </a:xfrm>
      </p:grpSpPr>
      <p:sp>
        <p:nvSpPr>
          <p:cNvPr id="591" name="Google Shape;591;g330b2db8419_2_73">
            <a:extLst>
              <a:ext uri="{FF2B5EF4-FFF2-40B4-BE49-F238E27FC236}">
                <a16:creationId xmlns:a16="http://schemas.microsoft.com/office/drawing/2014/main" id="{3CD0385F-C6CF-FB72-7A19-F6F639F47D23}"/>
              </a:ext>
            </a:extLst>
          </p:cNvPr>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592" name="Google Shape;592;g330b2db8419_2_73">
            <a:extLst>
              <a:ext uri="{FF2B5EF4-FFF2-40B4-BE49-F238E27FC236}">
                <a16:creationId xmlns:a16="http://schemas.microsoft.com/office/drawing/2014/main" id="{1BEE405C-2618-F8B2-8AD4-34CC5B7F3DEC}"/>
              </a:ext>
            </a:extLst>
          </p:cNvPr>
          <p:cNvSpPr txBox="1"/>
          <p:nvPr/>
        </p:nvSpPr>
        <p:spPr>
          <a:xfrm>
            <a:off x="114162" y="145685"/>
            <a:ext cx="10910100"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US" altLang="zh-CN" sz="3200" dirty="0">
                <a:solidFill>
                  <a:schemeClr val="lt1"/>
                </a:solidFill>
                <a:latin typeface="Times New Roman" panose="02020603050405020304" pitchFamily="18" charset="0"/>
                <a:cs typeface="Times New Roman" panose="02020603050405020304" pitchFamily="18" charset="0"/>
              </a:rPr>
              <a:t>CACHEBLEND System Design</a:t>
            </a:r>
            <a:endParaRPr lang="en-US" altLang="zh-CN" sz="3200" b="0" i="0" u="none" strike="noStrike" cap="none" dirty="0">
              <a:solidFill>
                <a:schemeClr val="lt1"/>
              </a:solidFill>
              <a:latin typeface="Times New Roman" panose="02020603050405020304" pitchFamily="18" charset="0"/>
              <a:cs typeface="Times New Roman" panose="02020603050405020304" pitchFamily="18" charset="0"/>
              <a:sym typeface="Arial"/>
            </a:endParaRPr>
          </a:p>
        </p:txBody>
      </p:sp>
      <p:pic>
        <p:nvPicPr>
          <p:cNvPr id="593" name="Google Shape;593;g330b2db8419_2_73">
            <a:extLst>
              <a:ext uri="{FF2B5EF4-FFF2-40B4-BE49-F238E27FC236}">
                <a16:creationId xmlns:a16="http://schemas.microsoft.com/office/drawing/2014/main" id="{92E98D12-2E3A-05BF-2DA0-18443E066F0F}"/>
              </a:ext>
            </a:extLst>
          </p:cNvPr>
          <p:cNvPicPr preferRelativeResize="0"/>
          <p:nvPr/>
        </p:nvPicPr>
        <p:blipFill rotWithShape="1">
          <a:blip r:embed="rId3">
            <a:alphaModFix/>
          </a:blip>
          <a:srcRect/>
          <a:stretch/>
        </p:blipFill>
        <p:spPr>
          <a:xfrm>
            <a:off x="11557509" y="233819"/>
            <a:ext cx="271309" cy="389810"/>
          </a:xfrm>
          <a:prstGeom prst="rect">
            <a:avLst/>
          </a:prstGeom>
          <a:noFill/>
          <a:ln>
            <a:noFill/>
          </a:ln>
        </p:spPr>
      </p:pic>
      <p:sp>
        <p:nvSpPr>
          <p:cNvPr id="594" name="Google Shape;594;g330b2db8419_2_73">
            <a:extLst>
              <a:ext uri="{FF2B5EF4-FFF2-40B4-BE49-F238E27FC236}">
                <a16:creationId xmlns:a16="http://schemas.microsoft.com/office/drawing/2014/main" id="{C5C970BF-4399-9450-E5DC-9BFA2750252A}"/>
              </a:ext>
            </a:extLst>
          </p:cNvPr>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595" name="Google Shape;595;g330b2db8419_2_73">
            <a:extLst>
              <a:ext uri="{FF2B5EF4-FFF2-40B4-BE49-F238E27FC236}">
                <a16:creationId xmlns:a16="http://schemas.microsoft.com/office/drawing/2014/main" id="{65CC4BD0-F6A5-D57F-4394-9F6421D9A6A1}"/>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596" name="Google Shape;596;g330b2db8419_2_73">
            <a:extLst>
              <a:ext uri="{FF2B5EF4-FFF2-40B4-BE49-F238E27FC236}">
                <a16:creationId xmlns:a16="http://schemas.microsoft.com/office/drawing/2014/main" id="{61472860-1ABF-1F98-551A-1EEAA1FE3525}"/>
              </a:ext>
            </a:extLst>
          </p:cNvPr>
          <p:cNvGrpSpPr/>
          <p:nvPr/>
        </p:nvGrpSpPr>
        <p:grpSpPr>
          <a:xfrm>
            <a:off x="2622925" y="6601537"/>
            <a:ext cx="6677215" cy="70500"/>
            <a:chOff x="2589675" y="6601537"/>
            <a:chExt cx="6677215" cy="70500"/>
          </a:xfrm>
        </p:grpSpPr>
        <p:cxnSp>
          <p:nvCxnSpPr>
            <p:cNvPr id="597" name="Google Shape;597;g330b2db8419_2_73">
              <a:extLst>
                <a:ext uri="{FF2B5EF4-FFF2-40B4-BE49-F238E27FC236}">
                  <a16:creationId xmlns:a16="http://schemas.microsoft.com/office/drawing/2014/main" id="{3B5124E9-4005-AB4B-8D9D-8B78BA6ECFF2}"/>
                </a:ext>
              </a:extLst>
            </p:cNvPr>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598" name="Google Shape;598;g330b2db8419_2_73">
              <a:extLst>
                <a:ext uri="{FF2B5EF4-FFF2-40B4-BE49-F238E27FC236}">
                  <a16:creationId xmlns:a16="http://schemas.microsoft.com/office/drawing/2014/main" id="{F4C3EAA8-82F4-C3AC-04A2-4135174C3C1E}"/>
                </a:ext>
              </a:extLst>
            </p:cNvPr>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599" name="Google Shape;599;g330b2db8419_2_73">
            <a:extLst>
              <a:ext uri="{FF2B5EF4-FFF2-40B4-BE49-F238E27FC236}">
                <a16:creationId xmlns:a16="http://schemas.microsoft.com/office/drawing/2014/main" id="{AD16E1F6-2F62-F107-ECD9-9416465108B0}"/>
              </a:ext>
            </a:extLst>
          </p:cNvPr>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32</a:t>
            </a:fld>
            <a:endParaRPr/>
          </a:p>
        </p:txBody>
      </p:sp>
      <p:sp>
        <p:nvSpPr>
          <p:cNvPr id="6" name="文本框 5">
            <a:extLst>
              <a:ext uri="{FF2B5EF4-FFF2-40B4-BE49-F238E27FC236}">
                <a16:creationId xmlns:a16="http://schemas.microsoft.com/office/drawing/2014/main" id="{376FFC2C-003F-CEC5-0F5B-A9CC751CCCE7}"/>
              </a:ext>
            </a:extLst>
          </p:cNvPr>
          <p:cNvSpPr txBox="1"/>
          <p:nvPr/>
        </p:nvSpPr>
        <p:spPr>
          <a:xfrm>
            <a:off x="475869" y="4834087"/>
            <a:ext cx="11207050" cy="1015663"/>
          </a:xfrm>
          <a:prstGeom prst="rect">
            <a:avLst/>
          </a:prstGeom>
          <a:noFill/>
        </p:spPr>
        <p:txBody>
          <a:bodyPr wrap="square" rtlCol="0">
            <a:spAutoFit/>
          </a:bodyPr>
          <a:lstStyle/>
          <a:p>
            <a:r>
              <a:rPr lang="en-US" altLang="zh-CN" sz="2000" b="1" dirty="0">
                <a:latin typeface="Times New Roman" panose="02020603050405020304" pitchFamily="18" charset="0"/>
                <a:cs typeface="Times New Roman" panose="02020603050405020304" pitchFamily="18" charset="0"/>
              </a:rPr>
              <a:t>Basic insight</a:t>
            </a:r>
            <a:r>
              <a:rPr lang="en-US" altLang="zh-CN" sz="2000" dirty="0">
                <a:latin typeface="Times New Roman" panose="02020603050405020304" pitchFamily="18" charset="0"/>
                <a:cs typeface="Times New Roman" panose="02020603050405020304" pitchFamily="18" charset="0"/>
              </a:rPr>
              <a:t>: If the delay for selective KV recompute is faster than the loading of KV into GPU memory, then properly pipelining the selective KV recompute and KV loading makes the extra delay of KV recompute negligible</a:t>
            </a:r>
            <a:endParaRPr lang="zh-CN" altLang="en-US" sz="2000" dirty="0">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CCDB1CE7-0173-AAA7-0B19-76628CE3F7D1}"/>
              </a:ext>
            </a:extLst>
          </p:cNvPr>
          <p:cNvPicPr>
            <a:picLocks noChangeAspect="1"/>
          </p:cNvPicPr>
          <p:nvPr/>
        </p:nvPicPr>
        <p:blipFill>
          <a:blip r:embed="rId4"/>
          <a:stretch>
            <a:fillRect/>
          </a:stretch>
        </p:blipFill>
        <p:spPr>
          <a:xfrm>
            <a:off x="554275" y="958378"/>
            <a:ext cx="10745700" cy="3543795"/>
          </a:xfrm>
          <a:prstGeom prst="rect">
            <a:avLst/>
          </a:prstGeom>
        </p:spPr>
      </p:pic>
    </p:spTree>
    <p:extLst>
      <p:ext uri="{BB962C8B-B14F-4D97-AF65-F5344CB8AC3E}">
        <p14:creationId xmlns:p14="http://schemas.microsoft.com/office/powerpoint/2010/main" val="37495055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89">
          <a:extLst>
            <a:ext uri="{FF2B5EF4-FFF2-40B4-BE49-F238E27FC236}">
              <a16:creationId xmlns:a16="http://schemas.microsoft.com/office/drawing/2014/main" id="{27FF4D68-8EF0-144F-D7EB-2C1934C6AB87}"/>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3C699141-CB10-FD84-95B2-F1E5687052D1}"/>
              </a:ext>
            </a:extLst>
          </p:cNvPr>
          <p:cNvSpPr txBox="1"/>
          <p:nvPr/>
        </p:nvSpPr>
        <p:spPr>
          <a:xfrm>
            <a:off x="374868" y="1484052"/>
            <a:ext cx="10597931" cy="4524315"/>
          </a:xfrm>
          <a:prstGeom prst="rect">
            <a:avLst/>
          </a:prstGeom>
          <a:noFill/>
        </p:spPr>
        <p:txBody>
          <a:bodyPr wrap="square">
            <a:spAutoFit/>
          </a:bodyPr>
          <a:lstStyle/>
          <a:p>
            <a:r>
              <a:rPr lang="en-US" altLang="zh-CN" sz="2400" dirty="0">
                <a:latin typeface="Times New Roman" panose="02020603050405020304" pitchFamily="18" charset="0"/>
                <a:cs typeface="Times New Roman" panose="02020603050405020304" pitchFamily="18" charset="0"/>
              </a:rPr>
              <a:t>• We use the recompute delay estimator to estimate the expected KV recompute delay</a:t>
            </a: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We use the latency estimator to estimate the loading delay of the KV cache on one layer</a:t>
            </a: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We first pick a </a:t>
            </a:r>
            <a:r>
              <a:rPr lang="en-US" altLang="zh-CN" sz="2400" b="1" dirty="0">
                <a:latin typeface="Times New Roman" panose="02020603050405020304" pitchFamily="18" charset="0"/>
                <a:cs typeface="Times New Roman" panose="02020603050405020304" pitchFamily="18" charset="0"/>
              </a:rPr>
              <a:t>r</a:t>
            </a:r>
            <a:r>
              <a:rPr lang="en-US" altLang="zh-CN" sz="2400" dirty="0">
                <a:latin typeface="Times New Roman" panose="02020603050405020304" pitchFamily="18" charset="0"/>
                <a:cs typeface="Times New Roman" panose="02020603050405020304" pitchFamily="18" charset="0"/>
              </a:rPr>
              <a:t> such that </a:t>
            </a: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We then take max(r, r*)</a:t>
            </a:r>
            <a:endParaRPr lang="zh-CN" altLang="en-US" sz="2400" dirty="0"/>
          </a:p>
        </p:txBody>
      </p:sp>
      <p:sp>
        <p:nvSpPr>
          <p:cNvPr id="591" name="Google Shape;591;g330b2db8419_2_73">
            <a:extLst>
              <a:ext uri="{FF2B5EF4-FFF2-40B4-BE49-F238E27FC236}">
                <a16:creationId xmlns:a16="http://schemas.microsoft.com/office/drawing/2014/main" id="{44DC8141-0E1B-873D-73BE-F84C1ED50185}"/>
              </a:ext>
            </a:extLst>
          </p:cNvPr>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592" name="Google Shape;592;g330b2db8419_2_73">
            <a:extLst>
              <a:ext uri="{FF2B5EF4-FFF2-40B4-BE49-F238E27FC236}">
                <a16:creationId xmlns:a16="http://schemas.microsoft.com/office/drawing/2014/main" id="{2E8D3EEB-2BC1-1752-E2E2-8DD3E5C942DF}"/>
              </a:ext>
            </a:extLst>
          </p:cNvPr>
          <p:cNvSpPr txBox="1"/>
          <p:nvPr/>
        </p:nvSpPr>
        <p:spPr>
          <a:xfrm>
            <a:off x="114162" y="196485"/>
            <a:ext cx="12001638"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US" altLang="zh-CN" sz="2400" dirty="0">
                <a:solidFill>
                  <a:schemeClr val="lt1"/>
                </a:solidFill>
                <a:latin typeface="Times New Roman" panose="02020603050405020304" pitchFamily="18" charset="0"/>
                <a:cs typeface="Times New Roman" panose="02020603050405020304" pitchFamily="18" charset="0"/>
              </a:rPr>
              <a:t>Design Question 1. How to choose a recompute ratio without incurring extra delay?</a:t>
            </a:r>
          </a:p>
        </p:txBody>
      </p:sp>
      <p:pic>
        <p:nvPicPr>
          <p:cNvPr id="593" name="Google Shape;593;g330b2db8419_2_73">
            <a:extLst>
              <a:ext uri="{FF2B5EF4-FFF2-40B4-BE49-F238E27FC236}">
                <a16:creationId xmlns:a16="http://schemas.microsoft.com/office/drawing/2014/main" id="{787270F2-F05A-777F-D6BF-4982274F9106}"/>
              </a:ext>
            </a:extLst>
          </p:cNvPr>
          <p:cNvPicPr preferRelativeResize="0"/>
          <p:nvPr/>
        </p:nvPicPr>
        <p:blipFill rotWithShape="1">
          <a:blip r:embed="rId3">
            <a:alphaModFix/>
          </a:blip>
          <a:srcRect/>
          <a:stretch/>
        </p:blipFill>
        <p:spPr>
          <a:xfrm>
            <a:off x="11557509" y="233819"/>
            <a:ext cx="271309" cy="389810"/>
          </a:xfrm>
          <a:prstGeom prst="rect">
            <a:avLst/>
          </a:prstGeom>
          <a:noFill/>
          <a:ln>
            <a:noFill/>
          </a:ln>
        </p:spPr>
      </p:pic>
      <p:sp>
        <p:nvSpPr>
          <p:cNvPr id="594" name="Google Shape;594;g330b2db8419_2_73">
            <a:extLst>
              <a:ext uri="{FF2B5EF4-FFF2-40B4-BE49-F238E27FC236}">
                <a16:creationId xmlns:a16="http://schemas.microsoft.com/office/drawing/2014/main" id="{B2E88CA3-43EA-AC86-6D46-657339B04671}"/>
              </a:ext>
            </a:extLst>
          </p:cNvPr>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595" name="Google Shape;595;g330b2db8419_2_73">
            <a:extLst>
              <a:ext uri="{FF2B5EF4-FFF2-40B4-BE49-F238E27FC236}">
                <a16:creationId xmlns:a16="http://schemas.microsoft.com/office/drawing/2014/main" id="{7AB8B68C-3854-090A-DFA6-09CE3A5D7AEF}"/>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596" name="Google Shape;596;g330b2db8419_2_73">
            <a:extLst>
              <a:ext uri="{FF2B5EF4-FFF2-40B4-BE49-F238E27FC236}">
                <a16:creationId xmlns:a16="http://schemas.microsoft.com/office/drawing/2014/main" id="{63FE02C2-70EB-6DEF-4F7F-2B813367857A}"/>
              </a:ext>
            </a:extLst>
          </p:cNvPr>
          <p:cNvGrpSpPr/>
          <p:nvPr/>
        </p:nvGrpSpPr>
        <p:grpSpPr>
          <a:xfrm>
            <a:off x="2622925" y="6601537"/>
            <a:ext cx="6677215" cy="70500"/>
            <a:chOff x="2589675" y="6601537"/>
            <a:chExt cx="6677215" cy="70500"/>
          </a:xfrm>
        </p:grpSpPr>
        <p:cxnSp>
          <p:nvCxnSpPr>
            <p:cNvPr id="597" name="Google Shape;597;g330b2db8419_2_73">
              <a:extLst>
                <a:ext uri="{FF2B5EF4-FFF2-40B4-BE49-F238E27FC236}">
                  <a16:creationId xmlns:a16="http://schemas.microsoft.com/office/drawing/2014/main" id="{8AC1B0C9-9149-B84C-BC5D-3C57DAB49226}"/>
                </a:ext>
              </a:extLst>
            </p:cNvPr>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598" name="Google Shape;598;g330b2db8419_2_73">
              <a:extLst>
                <a:ext uri="{FF2B5EF4-FFF2-40B4-BE49-F238E27FC236}">
                  <a16:creationId xmlns:a16="http://schemas.microsoft.com/office/drawing/2014/main" id="{25638FA4-4049-FC83-9840-3DC7EFAD5D11}"/>
                </a:ext>
              </a:extLst>
            </p:cNvPr>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599" name="Google Shape;599;g330b2db8419_2_73">
            <a:extLst>
              <a:ext uri="{FF2B5EF4-FFF2-40B4-BE49-F238E27FC236}">
                <a16:creationId xmlns:a16="http://schemas.microsoft.com/office/drawing/2014/main" id="{39A94C7F-7263-51FA-B7B5-1F331841F6EF}"/>
              </a:ext>
            </a:extLst>
          </p:cNvPr>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33</a:t>
            </a:fld>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2382D60-7D87-C618-A24C-13CDA07B8D6F}"/>
                  </a:ext>
                </a:extLst>
              </p:cNvPr>
              <p:cNvSpPr txBox="1"/>
              <p:nvPr/>
            </p:nvSpPr>
            <p:spPr>
              <a:xfrm>
                <a:off x="-322003" y="1845784"/>
                <a:ext cx="6304212" cy="49475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𝑻</m:t>
                          </m:r>
                        </m:e>
                        <m:sub>
                          <m:r>
                            <a:rPr lang="en-US" altLang="zh-CN" sz="2400" b="1" i="1" smtClean="0">
                              <a:latin typeface="Cambria Math" panose="02040503050406030204" pitchFamily="18" charset="0"/>
                            </a:rPr>
                            <m:t>𝒓𝒆𝒄𝒐𝒎𝒑𝒖𝒕𝒆</m:t>
                          </m:r>
                        </m:sub>
                      </m:sSub>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𝒓</m:t>
                      </m:r>
                      <m:r>
                        <a:rPr lang="en-US" altLang="zh-CN" sz="2400" b="1" i="1" smtClean="0">
                          <a:latin typeface="Cambria Math" panose="02040503050406030204" pitchFamily="18" charset="0"/>
                        </a:rPr>
                        <m:t>%, </m:t>
                      </m:r>
                      <m:r>
                        <a:rPr lang="en-US" altLang="zh-CN" sz="2400" b="1" i="1" smtClean="0">
                          <a:latin typeface="Cambria Math" panose="02040503050406030204" pitchFamily="18" charset="0"/>
                        </a:rPr>
                        <m:t>𝑳𝑳𝑴</m:t>
                      </m:r>
                      <m:r>
                        <a:rPr lang="en-US" altLang="zh-CN" sz="2400" b="1" i="1" smtClean="0">
                          <a:latin typeface="Cambria Math" panose="02040503050406030204" pitchFamily="18" charset="0"/>
                        </a:rPr>
                        <m:t>, </m:t>
                      </m:r>
                      <m:r>
                        <a:rPr lang="en-US" altLang="zh-CN" sz="2400" b="1" i="1" smtClean="0">
                          <a:latin typeface="Cambria Math" panose="02040503050406030204" pitchFamily="18" charset="0"/>
                        </a:rPr>
                        <m:t>𝑳</m:t>
                      </m:r>
                      <m:r>
                        <a:rPr lang="en-US" altLang="zh-CN" sz="2400" b="1" i="1" smtClean="0">
                          <a:latin typeface="Cambria Math" panose="02040503050406030204" pitchFamily="18" charset="0"/>
                        </a:rPr>
                        <m:t>)</m:t>
                      </m:r>
                    </m:oMath>
                  </m:oMathPara>
                </a14:m>
                <a:endParaRPr lang="zh-CN" altLang="en-US" sz="2400" b="1" dirty="0"/>
              </a:p>
            </p:txBody>
          </p:sp>
        </mc:Choice>
        <mc:Fallback xmlns="">
          <p:sp>
            <p:nvSpPr>
              <p:cNvPr id="7" name="文本框 6">
                <a:extLst>
                  <a:ext uri="{FF2B5EF4-FFF2-40B4-BE49-F238E27FC236}">
                    <a16:creationId xmlns:a16="http://schemas.microsoft.com/office/drawing/2014/main" id="{42382D60-7D87-C618-A24C-13CDA07B8D6F}"/>
                  </a:ext>
                </a:extLst>
              </p:cNvPr>
              <p:cNvSpPr txBox="1">
                <a:spLocks noRot="1" noChangeAspect="1" noMove="1" noResize="1" noEditPoints="1" noAdjustHandles="1" noChangeArrowheads="1" noChangeShapeType="1" noTextEdit="1"/>
              </p:cNvSpPr>
              <p:nvPr/>
            </p:nvSpPr>
            <p:spPr>
              <a:xfrm>
                <a:off x="-322003" y="1845784"/>
                <a:ext cx="6304212" cy="494751"/>
              </a:xfrm>
              <a:prstGeom prst="rect">
                <a:avLst/>
              </a:prstGeom>
              <a:blipFill>
                <a:blip r:embed="rId4"/>
                <a:stretch>
                  <a:fillRect b="-111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70878065-A98F-38C8-FC42-DB5C511515C9}"/>
                  </a:ext>
                </a:extLst>
              </p:cNvPr>
              <p:cNvSpPr txBox="1"/>
              <p:nvPr/>
            </p:nvSpPr>
            <p:spPr>
              <a:xfrm>
                <a:off x="-602568" y="3323812"/>
                <a:ext cx="7887352"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1" i="1" smtClean="0">
                              <a:latin typeface="Cambria Math" panose="02040503050406030204" pitchFamily="18" charset="0"/>
                              <a:cs typeface="Times New Roman" panose="02020603050405020304" pitchFamily="18" charset="0"/>
                            </a:rPr>
                          </m:ctrlPr>
                        </m:sSubPr>
                        <m:e>
                          <m:r>
                            <a:rPr lang="en-US" altLang="zh-CN" sz="2400" b="1" i="1" smtClean="0">
                              <a:latin typeface="Cambria Math" panose="02040503050406030204" pitchFamily="18" charset="0"/>
                              <a:cs typeface="Times New Roman" panose="02020603050405020304" pitchFamily="18" charset="0"/>
                            </a:rPr>
                            <m:t>𝑻</m:t>
                          </m:r>
                        </m:e>
                        <m:sub>
                          <m:r>
                            <a:rPr lang="en-US" altLang="zh-CN" sz="2400" b="1" i="1" smtClean="0">
                              <a:latin typeface="Cambria Math" panose="02040503050406030204" pitchFamily="18" charset="0"/>
                              <a:cs typeface="Times New Roman" panose="02020603050405020304" pitchFamily="18" charset="0"/>
                            </a:rPr>
                            <m:t>𝒍𝒐𝒂𝒅</m:t>
                          </m:r>
                        </m:sub>
                      </m:sSub>
                      <m:r>
                        <a:rPr lang="en-US" altLang="zh-CN" sz="2400" b="1" i="1" smtClean="0">
                          <a:latin typeface="Cambria Math" panose="02040503050406030204" pitchFamily="18" charset="0"/>
                          <a:cs typeface="Times New Roman" panose="02020603050405020304" pitchFamily="18" charset="0"/>
                        </a:rPr>
                        <m:t>(</m:t>
                      </m:r>
                      <m:r>
                        <a:rPr lang="en-US" altLang="zh-CN" sz="2400" b="1" i="1" smtClean="0">
                          <a:latin typeface="Cambria Math" panose="02040503050406030204" pitchFamily="18" charset="0"/>
                          <a:cs typeface="Times New Roman" panose="02020603050405020304" pitchFamily="18" charset="0"/>
                        </a:rPr>
                        <m:t>𝑳𝑳𝑴</m:t>
                      </m:r>
                      <m:r>
                        <a:rPr lang="en-US" altLang="zh-CN" sz="2400" b="1" i="1" smtClean="0">
                          <a:latin typeface="Cambria Math" panose="02040503050406030204" pitchFamily="18" charset="0"/>
                          <a:cs typeface="Times New Roman" panose="02020603050405020304" pitchFamily="18" charset="0"/>
                        </a:rPr>
                        <m:t>, </m:t>
                      </m:r>
                      <m:r>
                        <a:rPr lang="en-US" altLang="zh-CN" sz="2400" b="1" i="1" smtClean="0">
                          <a:latin typeface="Cambria Math" panose="02040503050406030204" pitchFamily="18" charset="0"/>
                          <a:cs typeface="Times New Roman" panose="02020603050405020304" pitchFamily="18" charset="0"/>
                        </a:rPr>
                        <m:t>𝑳</m:t>
                      </m:r>
                      <m:r>
                        <a:rPr lang="en-US" altLang="zh-CN" sz="2400" b="1" i="1" smtClean="0">
                          <a:latin typeface="Cambria Math" panose="02040503050406030204" pitchFamily="18" charset="0"/>
                          <a:cs typeface="Times New Roman" panose="02020603050405020304" pitchFamily="18" charset="0"/>
                        </a:rPr>
                        <m:t>, </m:t>
                      </m:r>
                      <m:r>
                        <a:rPr lang="en-US" altLang="zh-CN" sz="2400" b="1" i="1" smtClean="0">
                          <a:latin typeface="Cambria Math" panose="02040503050406030204" pitchFamily="18" charset="0"/>
                          <a:cs typeface="Times New Roman" panose="02020603050405020304" pitchFamily="18" charset="0"/>
                        </a:rPr>
                        <m:t>𝒔𝒕𝒐𝒓𝒂𝒈𝒆</m:t>
                      </m:r>
                      <m:r>
                        <a:rPr lang="en-US" altLang="zh-CN" sz="2400" b="1" i="1" smtClean="0">
                          <a:latin typeface="Cambria Math" panose="02040503050406030204" pitchFamily="18" charset="0"/>
                          <a:cs typeface="Times New Roman" panose="02020603050405020304" pitchFamily="18" charset="0"/>
                        </a:rPr>
                        <m:t>_</m:t>
                      </m:r>
                      <m:r>
                        <a:rPr lang="en-US" altLang="zh-CN" sz="2400" b="1" i="1" smtClean="0">
                          <a:latin typeface="Cambria Math" panose="02040503050406030204" pitchFamily="18" charset="0"/>
                          <a:cs typeface="Times New Roman" panose="02020603050405020304" pitchFamily="18" charset="0"/>
                        </a:rPr>
                        <m:t>𝒅𝒆𝒗𝒊𝒄𝒆</m:t>
                      </m:r>
                      <m:r>
                        <a:rPr lang="en-US" altLang="zh-CN" sz="2400" b="1" i="1" smtClean="0">
                          <a:latin typeface="Cambria Math" panose="02040503050406030204" pitchFamily="18" charset="0"/>
                          <a:cs typeface="Times New Roman" panose="02020603050405020304" pitchFamily="18" charset="0"/>
                        </a:rPr>
                        <m:t>)</m:t>
                      </m:r>
                    </m:oMath>
                  </m:oMathPara>
                </a14:m>
                <a:endParaRPr lang="zh-CN" altLang="en-US" sz="2400" b="1" dirty="0"/>
              </a:p>
            </p:txBody>
          </p:sp>
        </mc:Choice>
        <mc:Fallback xmlns="">
          <p:sp>
            <p:nvSpPr>
              <p:cNvPr id="8" name="文本框 7">
                <a:extLst>
                  <a:ext uri="{FF2B5EF4-FFF2-40B4-BE49-F238E27FC236}">
                    <a16:creationId xmlns:a16="http://schemas.microsoft.com/office/drawing/2014/main" id="{70878065-A98F-38C8-FC42-DB5C511515C9}"/>
                  </a:ext>
                </a:extLst>
              </p:cNvPr>
              <p:cNvSpPr txBox="1">
                <a:spLocks noRot="1" noChangeAspect="1" noMove="1" noResize="1" noEditPoints="1" noAdjustHandles="1" noChangeArrowheads="1" noChangeShapeType="1" noTextEdit="1"/>
              </p:cNvSpPr>
              <p:nvPr/>
            </p:nvSpPr>
            <p:spPr>
              <a:xfrm>
                <a:off x="-602568" y="3323812"/>
                <a:ext cx="7887352" cy="461665"/>
              </a:xfrm>
              <a:prstGeom prst="rect">
                <a:avLst/>
              </a:prstGeom>
              <a:blipFill>
                <a:blip r:embed="rId5"/>
                <a:stretch>
                  <a:fillRect b="-197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35C5C9EA-EB94-E982-5336-41ECB0887BA8}"/>
                  </a:ext>
                </a:extLst>
              </p:cNvPr>
              <p:cNvSpPr txBox="1"/>
              <p:nvPr/>
            </p:nvSpPr>
            <p:spPr>
              <a:xfrm>
                <a:off x="504680" y="5908982"/>
                <a:ext cx="11182640" cy="707886"/>
              </a:xfrm>
              <a:prstGeom prst="rect">
                <a:avLst/>
              </a:prstGeom>
              <a:noFill/>
            </p:spPr>
            <p:txBody>
              <a:bodyPr wrap="square">
                <a:spAutoFit/>
              </a:bodyPr>
              <a:lstStyle/>
              <a:p>
                <a14:m>
                  <m:oMath xmlns:m="http://schemas.openxmlformats.org/officeDocument/2006/math">
                    <m:sSup>
                      <m:sSupPr>
                        <m:ctrlPr>
                          <a:rPr lang="en-US" altLang="zh-CN" sz="2000" b="0" i="1" smtClean="0">
                            <a:latin typeface="Cambria Math" panose="02040503050406030204" pitchFamily="18" charset="0"/>
                            <a:cs typeface="Times New Roman" panose="02020603050405020304" pitchFamily="18" charset="0"/>
                          </a:rPr>
                        </m:ctrlPr>
                      </m:sSupPr>
                      <m:e>
                        <m:r>
                          <a:rPr lang="en-US" altLang="zh-CN" sz="2000" b="0" i="1" smtClean="0">
                            <a:latin typeface="Cambria Math" panose="02040503050406030204" pitchFamily="18" charset="0"/>
                            <a:cs typeface="Times New Roman" panose="02020603050405020304" pitchFamily="18" charset="0"/>
                          </a:rPr>
                          <m:t>𝑟</m:t>
                        </m:r>
                      </m:e>
                      <m:sup>
                        <m:r>
                          <a:rPr lang="en-US" altLang="zh-CN" sz="2000" b="0" i="1" smtClean="0">
                            <a:latin typeface="Cambria Math" panose="02040503050406030204" pitchFamily="18" charset="0"/>
                            <a:cs typeface="Times New Roman" panose="02020603050405020304" pitchFamily="18" charset="0"/>
                          </a:rPr>
                          <m:t>∗</m:t>
                        </m:r>
                      </m:sup>
                    </m:sSup>
                    <m:r>
                      <a:rPr lang="en-US" altLang="zh-CN" sz="2000" b="0" i="1" smtClean="0">
                        <a:latin typeface="Cambria Math" panose="02040503050406030204" pitchFamily="18" charset="0"/>
                        <a:cs typeface="Times New Roman" panose="02020603050405020304" pitchFamily="18" charset="0"/>
                      </a:rPr>
                      <m:t>%</m:t>
                    </m:r>
                  </m:oMath>
                </a14:m>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is the minimal recompute ratio that empirically has low negligible quality drop from full KV recompute, which was set to 15% in practice</a:t>
                </a:r>
                <a:endParaRPr lang="zh-CN" altLang="en-US" sz="2000" dirty="0">
                  <a:latin typeface="Times New Roman" panose="02020603050405020304" pitchFamily="18" charset="0"/>
                  <a:cs typeface="Times New Roman" panose="02020603050405020304" pitchFamily="18" charset="0"/>
                </a:endParaRPr>
              </a:p>
            </p:txBody>
          </p:sp>
        </mc:Choice>
        <mc:Fallback xmlns="">
          <p:sp>
            <p:nvSpPr>
              <p:cNvPr id="23" name="文本框 22">
                <a:extLst>
                  <a:ext uri="{FF2B5EF4-FFF2-40B4-BE49-F238E27FC236}">
                    <a16:creationId xmlns:a16="http://schemas.microsoft.com/office/drawing/2014/main" id="{35C5C9EA-EB94-E982-5336-41ECB0887BA8}"/>
                  </a:ext>
                </a:extLst>
              </p:cNvPr>
              <p:cNvSpPr txBox="1">
                <a:spLocks noRot="1" noChangeAspect="1" noMove="1" noResize="1" noEditPoints="1" noAdjustHandles="1" noChangeArrowheads="1" noChangeShapeType="1" noTextEdit="1"/>
              </p:cNvSpPr>
              <p:nvPr/>
            </p:nvSpPr>
            <p:spPr>
              <a:xfrm>
                <a:off x="504680" y="5908982"/>
                <a:ext cx="11182640" cy="707886"/>
              </a:xfrm>
              <a:prstGeom prst="rect">
                <a:avLst/>
              </a:prstGeom>
              <a:blipFill>
                <a:blip r:embed="rId6"/>
                <a:stretch>
                  <a:fillRect l="-600" t="-4310" b="-146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F66F8FC6-135C-E5A5-104D-F8D68E49A053}"/>
                  </a:ext>
                </a:extLst>
              </p:cNvPr>
              <p:cNvSpPr txBox="1"/>
              <p:nvPr/>
            </p:nvSpPr>
            <p:spPr>
              <a:xfrm>
                <a:off x="3644900" y="4371193"/>
                <a:ext cx="3769708" cy="49475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𝑻</m:t>
                          </m:r>
                        </m:e>
                        <m:sub>
                          <m:r>
                            <a:rPr lang="en-US" altLang="zh-CN" sz="2400" b="1" i="1" smtClean="0">
                              <a:latin typeface="Cambria Math" panose="02040503050406030204" pitchFamily="18" charset="0"/>
                            </a:rPr>
                            <m:t>𝒓𝒆𝒄𝒐𝒎𝒑𝒖𝒕𝒆</m:t>
                          </m:r>
                        </m:sub>
                      </m:sSub>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𝒓</m:t>
                      </m:r>
                      <m:r>
                        <a:rPr lang="en-US" altLang="zh-CN" sz="2400" b="1" i="1" smtClean="0">
                          <a:latin typeface="Cambria Math" panose="02040503050406030204" pitchFamily="18" charset="0"/>
                        </a:rPr>
                        <m:t>%, </m:t>
                      </m:r>
                      <m:r>
                        <a:rPr lang="en-US" altLang="zh-CN" sz="2400" b="1" i="1" smtClean="0">
                          <a:latin typeface="Cambria Math" panose="02040503050406030204" pitchFamily="18" charset="0"/>
                        </a:rPr>
                        <m:t>𝑳𝑳𝑴</m:t>
                      </m:r>
                      <m:r>
                        <a:rPr lang="en-US" altLang="zh-CN" sz="2400" b="1" i="1" smtClean="0">
                          <a:latin typeface="Cambria Math" panose="02040503050406030204" pitchFamily="18" charset="0"/>
                        </a:rPr>
                        <m:t>, </m:t>
                      </m:r>
                      <m:r>
                        <a:rPr lang="en-US" altLang="zh-CN" sz="2400" b="1" i="1" smtClean="0">
                          <a:latin typeface="Cambria Math" panose="02040503050406030204" pitchFamily="18" charset="0"/>
                        </a:rPr>
                        <m:t>𝑳</m:t>
                      </m:r>
                      <m:r>
                        <a:rPr lang="en-US" altLang="zh-CN" sz="2400" b="1" i="1" smtClean="0">
                          <a:latin typeface="Cambria Math" panose="02040503050406030204" pitchFamily="18" charset="0"/>
                        </a:rPr>
                        <m:t>)</m:t>
                      </m:r>
                    </m:oMath>
                  </m:oMathPara>
                </a14:m>
                <a:endParaRPr lang="zh-CN" altLang="en-US" sz="2400" b="1" dirty="0"/>
              </a:p>
            </p:txBody>
          </p:sp>
        </mc:Choice>
        <mc:Fallback xmlns="">
          <p:sp>
            <p:nvSpPr>
              <p:cNvPr id="2" name="文本框 1">
                <a:extLst>
                  <a:ext uri="{FF2B5EF4-FFF2-40B4-BE49-F238E27FC236}">
                    <a16:creationId xmlns:a16="http://schemas.microsoft.com/office/drawing/2014/main" id="{F66F8FC6-135C-E5A5-104D-F8D68E49A053}"/>
                  </a:ext>
                </a:extLst>
              </p:cNvPr>
              <p:cNvSpPr txBox="1">
                <a:spLocks noRot="1" noChangeAspect="1" noMove="1" noResize="1" noEditPoints="1" noAdjustHandles="1" noChangeArrowheads="1" noChangeShapeType="1" noTextEdit="1"/>
              </p:cNvSpPr>
              <p:nvPr/>
            </p:nvSpPr>
            <p:spPr>
              <a:xfrm>
                <a:off x="3644900" y="4371193"/>
                <a:ext cx="3769708" cy="494751"/>
              </a:xfrm>
              <a:prstGeom prst="rect">
                <a:avLst/>
              </a:prstGeom>
              <a:blipFill>
                <a:blip r:embed="rId7"/>
                <a:stretch>
                  <a:fillRect b="-11111"/>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65C63045-CEF2-285B-3D32-F92976DE22D5}"/>
              </a:ext>
            </a:extLst>
          </p:cNvPr>
          <p:cNvSpPr txBox="1"/>
          <p:nvPr/>
        </p:nvSpPr>
        <p:spPr>
          <a:xfrm>
            <a:off x="7120511" y="4360429"/>
            <a:ext cx="977900" cy="461665"/>
          </a:xfrm>
          <a:prstGeom prst="rect">
            <a:avLst/>
          </a:prstGeom>
          <a:noFill/>
        </p:spPr>
        <p:txBody>
          <a:bodyPr wrap="square" rtlCol="0">
            <a:spAutoFit/>
          </a:bodyPr>
          <a:lstStyle/>
          <a:p>
            <a:r>
              <a:rPr lang="en-US" altLang="zh-CN" sz="2400" dirty="0"/>
              <a:t>=</a:t>
            </a:r>
            <a:endParaRPr lang="zh-CN" altLang="en-US" sz="2400" dirty="0"/>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C72604D5-EBA3-15E4-DA0A-22E3B2458F43}"/>
                  </a:ext>
                </a:extLst>
              </p:cNvPr>
              <p:cNvSpPr txBox="1"/>
              <p:nvPr/>
            </p:nvSpPr>
            <p:spPr>
              <a:xfrm>
                <a:off x="5715363" y="4349018"/>
                <a:ext cx="7887352"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1" i="1" smtClean="0">
                              <a:latin typeface="Cambria Math" panose="02040503050406030204" pitchFamily="18" charset="0"/>
                              <a:cs typeface="Times New Roman" panose="02020603050405020304" pitchFamily="18" charset="0"/>
                            </a:rPr>
                          </m:ctrlPr>
                        </m:sSubPr>
                        <m:e>
                          <m:r>
                            <a:rPr lang="en-US" altLang="zh-CN" sz="2400" b="1" i="1" smtClean="0">
                              <a:latin typeface="Cambria Math" panose="02040503050406030204" pitchFamily="18" charset="0"/>
                              <a:cs typeface="Times New Roman" panose="02020603050405020304" pitchFamily="18" charset="0"/>
                            </a:rPr>
                            <m:t>𝑻</m:t>
                          </m:r>
                        </m:e>
                        <m:sub>
                          <m:r>
                            <a:rPr lang="en-US" altLang="zh-CN" sz="2400" b="1" i="1" smtClean="0">
                              <a:latin typeface="Cambria Math" panose="02040503050406030204" pitchFamily="18" charset="0"/>
                              <a:cs typeface="Times New Roman" panose="02020603050405020304" pitchFamily="18" charset="0"/>
                            </a:rPr>
                            <m:t>𝒍𝒐𝒂𝒅</m:t>
                          </m:r>
                        </m:sub>
                      </m:sSub>
                      <m:r>
                        <a:rPr lang="en-US" altLang="zh-CN" sz="2400" b="1" i="1" smtClean="0">
                          <a:latin typeface="Cambria Math" panose="02040503050406030204" pitchFamily="18" charset="0"/>
                          <a:cs typeface="Times New Roman" panose="02020603050405020304" pitchFamily="18" charset="0"/>
                        </a:rPr>
                        <m:t>(</m:t>
                      </m:r>
                      <m:r>
                        <a:rPr lang="en-US" altLang="zh-CN" sz="2400" b="1" i="1" smtClean="0">
                          <a:latin typeface="Cambria Math" panose="02040503050406030204" pitchFamily="18" charset="0"/>
                          <a:cs typeface="Times New Roman" panose="02020603050405020304" pitchFamily="18" charset="0"/>
                        </a:rPr>
                        <m:t>𝑳𝑳𝑴</m:t>
                      </m:r>
                      <m:r>
                        <a:rPr lang="en-US" altLang="zh-CN" sz="2400" b="1" i="1" smtClean="0">
                          <a:latin typeface="Cambria Math" panose="02040503050406030204" pitchFamily="18" charset="0"/>
                          <a:cs typeface="Times New Roman" panose="02020603050405020304" pitchFamily="18" charset="0"/>
                        </a:rPr>
                        <m:t>, </m:t>
                      </m:r>
                      <m:r>
                        <a:rPr lang="en-US" altLang="zh-CN" sz="2400" b="1" i="1" smtClean="0">
                          <a:latin typeface="Cambria Math" panose="02040503050406030204" pitchFamily="18" charset="0"/>
                          <a:cs typeface="Times New Roman" panose="02020603050405020304" pitchFamily="18" charset="0"/>
                        </a:rPr>
                        <m:t>𝑳</m:t>
                      </m:r>
                      <m:r>
                        <a:rPr lang="en-US" altLang="zh-CN" sz="2400" b="1" i="1" smtClean="0">
                          <a:latin typeface="Cambria Math" panose="02040503050406030204" pitchFamily="18" charset="0"/>
                          <a:cs typeface="Times New Roman" panose="02020603050405020304" pitchFamily="18" charset="0"/>
                        </a:rPr>
                        <m:t>, </m:t>
                      </m:r>
                      <m:r>
                        <a:rPr lang="en-US" altLang="zh-CN" sz="2400" b="1" i="1" smtClean="0">
                          <a:latin typeface="Cambria Math" panose="02040503050406030204" pitchFamily="18" charset="0"/>
                          <a:cs typeface="Times New Roman" panose="02020603050405020304" pitchFamily="18" charset="0"/>
                        </a:rPr>
                        <m:t>𝒔𝒕𝒐𝒓𝒂𝒈𝒆</m:t>
                      </m:r>
                      <m:r>
                        <a:rPr lang="en-US" altLang="zh-CN" sz="2400" b="1" i="1" smtClean="0">
                          <a:latin typeface="Cambria Math" panose="02040503050406030204" pitchFamily="18" charset="0"/>
                          <a:cs typeface="Times New Roman" panose="02020603050405020304" pitchFamily="18" charset="0"/>
                        </a:rPr>
                        <m:t>_</m:t>
                      </m:r>
                      <m:r>
                        <a:rPr lang="en-US" altLang="zh-CN" sz="2400" b="1" i="1" smtClean="0">
                          <a:latin typeface="Cambria Math" panose="02040503050406030204" pitchFamily="18" charset="0"/>
                          <a:cs typeface="Times New Roman" panose="02020603050405020304" pitchFamily="18" charset="0"/>
                        </a:rPr>
                        <m:t>𝒅𝒆𝒗𝒊𝒄𝒆</m:t>
                      </m:r>
                      <m:r>
                        <a:rPr lang="en-US" altLang="zh-CN" sz="2400" b="1" i="1" smtClean="0">
                          <a:latin typeface="Cambria Math" panose="02040503050406030204" pitchFamily="18" charset="0"/>
                          <a:cs typeface="Times New Roman" panose="02020603050405020304" pitchFamily="18" charset="0"/>
                        </a:rPr>
                        <m:t>)</m:t>
                      </m:r>
                    </m:oMath>
                  </m:oMathPara>
                </a14:m>
                <a:endParaRPr lang="zh-CN" altLang="en-US" sz="2400" b="1" dirty="0"/>
              </a:p>
            </p:txBody>
          </p:sp>
        </mc:Choice>
        <mc:Fallback xmlns="">
          <p:sp>
            <p:nvSpPr>
              <p:cNvPr id="4" name="文本框 3">
                <a:extLst>
                  <a:ext uri="{FF2B5EF4-FFF2-40B4-BE49-F238E27FC236}">
                    <a16:creationId xmlns:a16="http://schemas.microsoft.com/office/drawing/2014/main" id="{C72604D5-EBA3-15E4-DA0A-22E3B2458F43}"/>
                  </a:ext>
                </a:extLst>
              </p:cNvPr>
              <p:cNvSpPr txBox="1">
                <a:spLocks noRot="1" noChangeAspect="1" noMove="1" noResize="1" noEditPoints="1" noAdjustHandles="1" noChangeArrowheads="1" noChangeShapeType="1" noTextEdit="1"/>
              </p:cNvSpPr>
              <p:nvPr/>
            </p:nvSpPr>
            <p:spPr>
              <a:xfrm>
                <a:off x="5715363" y="4349018"/>
                <a:ext cx="7887352" cy="461665"/>
              </a:xfrm>
              <a:prstGeom prst="rect">
                <a:avLst/>
              </a:prstGeom>
              <a:blipFill>
                <a:blip r:embed="rId8"/>
                <a:stretch>
                  <a:fillRect b="-1973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342808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89">
          <a:extLst>
            <a:ext uri="{FF2B5EF4-FFF2-40B4-BE49-F238E27FC236}">
              <a16:creationId xmlns:a16="http://schemas.microsoft.com/office/drawing/2014/main" id="{567AA8F9-2A6B-2B15-3417-C25613426C52}"/>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0D7BBC8F-D50E-BDC0-05E3-3F9262B885F8}"/>
              </a:ext>
            </a:extLst>
          </p:cNvPr>
          <p:cNvPicPr>
            <a:picLocks noChangeAspect="1"/>
          </p:cNvPicPr>
          <p:nvPr/>
        </p:nvPicPr>
        <p:blipFill>
          <a:blip r:embed="rId3"/>
          <a:stretch>
            <a:fillRect/>
          </a:stretch>
        </p:blipFill>
        <p:spPr>
          <a:xfrm>
            <a:off x="1046397" y="982213"/>
            <a:ext cx="9697803" cy="3524742"/>
          </a:xfrm>
          <a:prstGeom prst="rect">
            <a:avLst/>
          </a:prstGeom>
        </p:spPr>
      </p:pic>
      <p:sp>
        <p:nvSpPr>
          <p:cNvPr id="591" name="Google Shape;591;g330b2db8419_2_73">
            <a:extLst>
              <a:ext uri="{FF2B5EF4-FFF2-40B4-BE49-F238E27FC236}">
                <a16:creationId xmlns:a16="http://schemas.microsoft.com/office/drawing/2014/main" id="{4C0743B0-2DD0-8A67-22B8-62E183AAD967}"/>
              </a:ext>
            </a:extLst>
          </p:cNvPr>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592" name="Google Shape;592;g330b2db8419_2_73">
            <a:extLst>
              <a:ext uri="{FF2B5EF4-FFF2-40B4-BE49-F238E27FC236}">
                <a16:creationId xmlns:a16="http://schemas.microsoft.com/office/drawing/2014/main" id="{D4C9E9B4-29B5-01A7-103E-673DC996977C}"/>
              </a:ext>
            </a:extLst>
          </p:cNvPr>
          <p:cNvSpPr txBox="1"/>
          <p:nvPr/>
        </p:nvSpPr>
        <p:spPr>
          <a:xfrm>
            <a:off x="114162" y="196485"/>
            <a:ext cx="12001638"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US" altLang="zh-CN" sz="2400" dirty="0">
                <a:solidFill>
                  <a:schemeClr val="lt1"/>
                </a:solidFill>
                <a:latin typeface="Times New Roman" panose="02020603050405020304" pitchFamily="18" charset="0"/>
                <a:cs typeface="Times New Roman" panose="02020603050405020304" pitchFamily="18" charset="0"/>
              </a:rPr>
              <a:t>Design Question 1. How to choose a recompute ratio without incurring extra delay?</a:t>
            </a:r>
          </a:p>
        </p:txBody>
      </p:sp>
      <p:pic>
        <p:nvPicPr>
          <p:cNvPr id="593" name="Google Shape;593;g330b2db8419_2_73">
            <a:extLst>
              <a:ext uri="{FF2B5EF4-FFF2-40B4-BE49-F238E27FC236}">
                <a16:creationId xmlns:a16="http://schemas.microsoft.com/office/drawing/2014/main" id="{7BDAB76C-70A6-CD88-0842-171321BACF05}"/>
              </a:ext>
            </a:extLst>
          </p:cNvPr>
          <p:cNvPicPr preferRelativeResize="0"/>
          <p:nvPr/>
        </p:nvPicPr>
        <p:blipFill rotWithShape="1">
          <a:blip r:embed="rId4">
            <a:alphaModFix/>
          </a:blip>
          <a:srcRect/>
          <a:stretch/>
        </p:blipFill>
        <p:spPr>
          <a:xfrm>
            <a:off x="11557509" y="233819"/>
            <a:ext cx="271309" cy="389810"/>
          </a:xfrm>
          <a:prstGeom prst="rect">
            <a:avLst/>
          </a:prstGeom>
          <a:noFill/>
          <a:ln>
            <a:noFill/>
          </a:ln>
        </p:spPr>
      </p:pic>
      <p:sp>
        <p:nvSpPr>
          <p:cNvPr id="594" name="Google Shape;594;g330b2db8419_2_73">
            <a:extLst>
              <a:ext uri="{FF2B5EF4-FFF2-40B4-BE49-F238E27FC236}">
                <a16:creationId xmlns:a16="http://schemas.microsoft.com/office/drawing/2014/main" id="{29980EAC-23DF-94D8-2679-B1D5BFE3DB5D}"/>
              </a:ext>
            </a:extLst>
          </p:cNvPr>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595" name="Google Shape;595;g330b2db8419_2_73">
            <a:extLst>
              <a:ext uri="{FF2B5EF4-FFF2-40B4-BE49-F238E27FC236}">
                <a16:creationId xmlns:a16="http://schemas.microsoft.com/office/drawing/2014/main" id="{82F162E8-FC7C-2CEB-6D53-EDDAC30880C8}"/>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596" name="Google Shape;596;g330b2db8419_2_73">
            <a:extLst>
              <a:ext uri="{FF2B5EF4-FFF2-40B4-BE49-F238E27FC236}">
                <a16:creationId xmlns:a16="http://schemas.microsoft.com/office/drawing/2014/main" id="{193B10EA-BBC9-55B7-8077-D5EA0A759980}"/>
              </a:ext>
            </a:extLst>
          </p:cNvPr>
          <p:cNvGrpSpPr/>
          <p:nvPr/>
        </p:nvGrpSpPr>
        <p:grpSpPr>
          <a:xfrm>
            <a:off x="2622925" y="6601537"/>
            <a:ext cx="6677215" cy="70500"/>
            <a:chOff x="2589675" y="6601537"/>
            <a:chExt cx="6677215" cy="70500"/>
          </a:xfrm>
        </p:grpSpPr>
        <p:cxnSp>
          <p:nvCxnSpPr>
            <p:cNvPr id="597" name="Google Shape;597;g330b2db8419_2_73">
              <a:extLst>
                <a:ext uri="{FF2B5EF4-FFF2-40B4-BE49-F238E27FC236}">
                  <a16:creationId xmlns:a16="http://schemas.microsoft.com/office/drawing/2014/main" id="{4C1004A8-A675-FBAD-B399-EE979FC468DA}"/>
                </a:ext>
              </a:extLst>
            </p:cNvPr>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598" name="Google Shape;598;g330b2db8419_2_73">
              <a:extLst>
                <a:ext uri="{FF2B5EF4-FFF2-40B4-BE49-F238E27FC236}">
                  <a16:creationId xmlns:a16="http://schemas.microsoft.com/office/drawing/2014/main" id="{CA88B271-C47E-282B-FED9-F8124147BB9A}"/>
                </a:ext>
              </a:extLst>
            </p:cNvPr>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599" name="Google Shape;599;g330b2db8419_2_73">
            <a:extLst>
              <a:ext uri="{FF2B5EF4-FFF2-40B4-BE49-F238E27FC236}">
                <a16:creationId xmlns:a16="http://schemas.microsoft.com/office/drawing/2014/main" id="{5B2EF6DE-A1BC-A6EA-91B9-D23CA3C8895E}"/>
              </a:ext>
            </a:extLst>
          </p:cNvPr>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34</a:t>
            </a:fld>
            <a:endParaRPr/>
          </a:p>
        </p:txBody>
      </p:sp>
      <p:sp>
        <p:nvSpPr>
          <p:cNvPr id="28" name="椭圆 27">
            <a:extLst>
              <a:ext uri="{FF2B5EF4-FFF2-40B4-BE49-F238E27FC236}">
                <a16:creationId xmlns:a16="http://schemas.microsoft.com/office/drawing/2014/main" id="{C05CD49E-1401-B764-B406-B642C7823CE5}"/>
              </a:ext>
            </a:extLst>
          </p:cNvPr>
          <p:cNvSpPr/>
          <p:nvPr/>
        </p:nvSpPr>
        <p:spPr>
          <a:xfrm>
            <a:off x="5805339" y="2620656"/>
            <a:ext cx="960893" cy="80834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52FF5BE6-5A00-2067-A10F-E982A43512B2}"/>
              </a:ext>
            </a:extLst>
          </p:cNvPr>
          <p:cNvPicPr>
            <a:picLocks noChangeAspect="1"/>
          </p:cNvPicPr>
          <p:nvPr/>
        </p:nvPicPr>
        <p:blipFill>
          <a:blip r:embed="rId5"/>
          <a:stretch>
            <a:fillRect/>
          </a:stretch>
        </p:blipFill>
        <p:spPr>
          <a:xfrm>
            <a:off x="954809" y="4540183"/>
            <a:ext cx="9944631" cy="1573462"/>
          </a:xfrm>
          <a:prstGeom prst="rect">
            <a:avLst/>
          </a:prstGeom>
        </p:spPr>
      </p:pic>
    </p:spTree>
    <p:extLst>
      <p:ext uri="{BB962C8B-B14F-4D97-AF65-F5344CB8AC3E}">
        <p14:creationId xmlns:p14="http://schemas.microsoft.com/office/powerpoint/2010/main" val="14721605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89">
          <a:extLst>
            <a:ext uri="{FF2B5EF4-FFF2-40B4-BE49-F238E27FC236}">
              <a16:creationId xmlns:a16="http://schemas.microsoft.com/office/drawing/2014/main" id="{FD5BFC5B-340C-C61D-79EE-BE4CCFDD39C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A9832E75-926C-CA5F-1981-27F51A74B473}"/>
                  </a:ext>
                </a:extLst>
              </p:cNvPr>
              <p:cNvSpPr txBox="1"/>
              <p:nvPr/>
            </p:nvSpPr>
            <p:spPr>
              <a:xfrm>
                <a:off x="572802" y="1335767"/>
                <a:ext cx="10451460" cy="3847272"/>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Workflow</a:t>
                </a:r>
              </a:p>
              <a:p>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Developers can provide a list of  storage devices.</a:t>
                </a:r>
              </a:p>
              <a:p>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•The controller uses a </a:t>
                </a:r>
                <a:r>
                  <a:rPr lang="en-US" altLang="zh-CN" sz="2400" i="1" dirty="0">
                    <a:latin typeface="Times New Roman" panose="02020603050405020304" pitchFamily="18" charset="0"/>
                    <a:cs typeface="Times New Roman" panose="02020603050405020304" pitchFamily="18" charset="0"/>
                  </a:rPr>
                  <a:t>storage cost estimator</a:t>
                </a:r>
                <a:r>
                  <a:rPr lang="en-US" altLang="zh-CN" sz="2400" dirty="0">
                    <a:latin typeface="Times New Roman" panose="02020603050405020304" pitchFamily="18" charset="0"/>
                    <a:cs typeface="Times New Roman" panose="02020603050405020304" pitchFamily="18" charset="0"/>
                  </a:rPr>
                  <a:t> to estimate the cost for storing KV s for each device </a:t>
                </a:r>
                <a14:m>
                  <m:oMath xmlns:m="http://schemas.openxmlformats.org/officeDocument/2006/math">
                    <m:sSub>
                      <m:sSubPr>
                        <m:ctrlPr>
                          <a:rPr lang="en-US" altLang="zh-CN" sz="2400" b="1" i="1" smtClean="0">
                            <a:latin typeface="Cambria Math" panose="02040503050406030204" pitchFamily="18" charset="0"/>
                            <a:cs typeface="Times New Roman" panose="02020603050405020304" pitchFamily="18" charset="0"/>
                          </a:rPr>
                        </m:ctrlPr>
                      </m:sSubPr>
                      <m:e>
                        <m:r>
                          <a:rPr lang="en-US" altLang="zh-CN" sz="2400" b="1" i="1" smtClean="0">
                            <a:latin typeface="Cambria Math" panose="02040503050406030204" pitchFamily="18" charset="0"/>
                            <a:cs typeface="Times New Roman" panose="02020603050405020304" pitchFamily="18" charset="0"/>
                          </a:rPr>
                          <m:t>𝑪</m:t>
                        </m:r>
                      </m:e>
                      <m:sub>
                        <m:r>
                          <a:rPr lang="en-US" altLang="zh-CN" sz="2400" b="1" i="1" smtClean="0">
                            <a:latin typeface="Cambria Math" panose="02040503050406030204" pitchFamily="18" charset="0"/>
                            <a:cs typeface="Times New Roman" panose="02020603050405020304" pitchFamily="18" charset="0"/>
                          </a:rPr>
                          <m:t>𝒔𝒕𝒐𝒓𝒆</m:t>
                        </m:r>
                      </m:sub>
                    </m:sSub>
                    <m:d>
                      <m:dPr>
                        <m:ctrlPr>
                          <a:rPr lang="en-US" altLang="zh-CN" sz="2400" b="1" i="1" smtClean="0">
                            <a:latin typeface="Cambria Math" panose="02040503050406030204" pitchFamily="18" charset="0"/>
                            <a:cs typeface="Times New Roman" panose="02020603050405020304" pitchFamily="18" charset="0"/>
                          </a:rPr>
                        </m:ctrlPr>
                      </m:dPr>
                      <m:e>
                        <m:r>
                          <a:rPr lang="en-US" altLang="zh-CN" sz="2400" b="1" i="1" smtClean="0">
                            <a:latin typeface="Cambria Math" panose="02040503050406030204" pitchFamily="18" charset="0"/>
                            <a:cs typeface="Times New Roman" panose="02020603050405020304" pitchFamily="18" charset="0"/>
                          </a:rPr>
                          <m:t>𝑳𝑳𝑴</m:t>
                        </m:r>
                        <m:r>
                          <a:rPr lang="en-US" altLang="zh-CN" sz="2400" b="1" i="1" smtClean="0">
                            <a:latin typeface="Cambria Math" panose="02040503050406030204" pitchFamily="18" charset="0"/>
                            <a:cs typeface="Times New Roman" panose="02020603050405020304" pitchFamily="18" charset="0"/>
                          </a:rPr>
                          <m:t>,</m:t>
                        </m:r>
                        <m:r>
                          <a:rPr lang="en-US" altLang="zh-CN" sz="2400" b="1" i="1" smtClean="0">
                            <a:latin typeface="Cambria Math" panose="02040503050406030204" pitchFamily="18" charset="0"/>
                            <a:cs typeface="Times New Roman" panose="02020603050405020304" pitchFamily="18" charset="0"/>
                          </a:rPr>
                          <m:t>𝑳</m:t>
                        </m:r>
                        <m:r>
                          <a:rPr lang="en-US" altLang="zh-CN" sz="2400" b="1" i="1" smtClean="0">
                            <a:latin typeface="Cambria Math" panose="02040503050406030204" pitchFamily="18" charset="0"/>
                            <a:cs typeface="Times New Roman" panose="02020603050405020304" pitchFamily="18" charset="0"/>
                          </a:rPr>
                          <m:t>,</m:t>
                        </m:r>
                        <m:r>
                          <a:rPr lang="en-US" altLang="zh-CN" sz="2400" b="1" i="1" smtClean="0">
                            <a:latin typeface="Cambria Math" panose="02040503050406030204" pitchFamily="18" charset="0"/>
                            <a:cs typeface="Times New Roman" panose="02020603050405020304" pitchFamily="18" charset="0"/>
                          </a:rPr>
                          <m:t>𝑻</m:t>
                        </m:r>
                        <m:r>
                          <a:rPr lang="en-US" altLang="zh-CN" sz="2400" b="1" i="1" smtClean="0">
                            <a:latin typeface="Cambria Math" panose="02040503050406030204" pitchFamily="18" charset="0"/>
                            <a:cs typeface="Times New Roman" panose="02020603050405020304" pitchFamily="18" charset="0"/>
                          </a:rPr>
                          <m:t>,</m:t>
                        </m:r>
                        <m:r>
                          <a:rPr lang="en-US" altLang="zh-CN" sz="2400" b="1" i="1" smtClean="0">
                            <a:latin typeface="Cambria Math" panose="02040503050406030204" pitchFamily="18" charset="0"/>
                            <a:cs typeface="Times New Roman" panose="02020603050405020304" pitchFamily="18" charset="0"/>
                          </a:rPr>
                          <m:t>𝒔𝒕𝒐𝒓𝒂𝒈𝒆</m:t>
                        </m:r>
                        <m:r>
                          <a:rPr lang="en-US" altLang="zh-CN" sz="2400" b="1" i="1" smtClean="0">
                            <a:latin typeface="Cambria Math" panose="02040503050406030204" pitchFamily="18" charset="0"/>
                            <a:cs typeface="Times New Roman" panose="02020603050405020304" pitchFamily="18" charset="0"/>
                          </a:rPr>
                          <m:t>_</m:t>
                        </m:r>
                        <m:r>
                          <a:rPr lang="en-US" altLang="zh-CN" sz="2400" b="1" i="1" smtClean="0">
                            <a:latin typeface="Cambria Math" panose="02040503050406030204" pitchFamily="18" charset="0"/>
                            <a:cs typeface="Times New Roman" panose="02020603050405020304" pitchFamily="18" charset="0"/>
                          </a:rPr>
                          <m:t>𝒅𝒆𝒗𝒊𝒄𝒆</m:t>
                        </m:r>
                      </m:e>
                    </m:d>
                    <m:r>
                      <a:rPr lang="en-US" altLang="zh-CN" sz="2400" b="0" i="1" smtClean="0">
                        <a:latin typeface="Cambria Math" panose="02040503050406030204" pitchFamily="18" charset="0"/>
                        <a:cs typeface="Times New Roman" panose="02020603050405020304" pitchFamily="18" charset="0"/>
                      </a:rPr>
                      <m:t>.</m:t>
                    </m:r>
                  </m:oMath>
                </a14:m>
                <a:endParaRPr lang="en-US" altLang="zh-CN" sz="2400" b="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•Estimate the recompute delay </a:t>
                </a:r>
                <a14:m>
                  <m:oMath xmlns:m="http://schemas.openxmlformats.org/officeDocument/2006/math">
                    <m:sSub>
                      <m:sSubPr>
                        <m:ctrlPr>
                          <a:rPr lang="en-US" altLang="zh-CN" sz="2400" b="1" i="1" smtClean="0">
                            <a:latin typeface="Cambria Math" panose="02040503050406030204" pitchFamily="18" charset="0"/>
                            <a:cs typeface="Times New Roman" panose="02020603050405020304" pitchFamily="18" charset="0"/>
                          </a:rPr>
                        </m:ctrlPr>
                      </m:sSubPr>
                      <m:e>
                        <m:r>
                          <a:rPr lang="en-US" altLang="zh-CN" sz="2400" b="1" i="1" smtClean="0">
                            <a:latin typeface="Cambria Math" panose="02040503050406030204" pitchFamily="18" charset="0"/>
                            <a:cs typeface="Times New Roman" panose="02020603050405020304" pitchFamily="18" charset="0"/>
                          </a:rPr>
                          <m:t>𝑻</m:t>
                        </m:r>
                      </m:e>
                      <m:sub>
                        <m:r>
                          <a:rPr lang="en-US" altLang="zh-CN" sz="2400" b="1" i="1" smtClean="0">
                            <a:latin typeface="Cambria Math" panose="02040503050406030204" pitchFamily="18" charset="0"/>
                            <a:cs typeface="Times New Roman" panose="02020603050405020304" pitchFamily="18" charset="0"/>
                          </a:rPr>
                          <m:t>𝒓𝒆𝒄𝒐𝒎𝒑𝒖𝒕𝒆</m:t>
                        </m:r>
                      </m:sub>
                    </m:sSub>
                    <m:d>
                      <m:dPr>
                        <m:ctrlPr>
                          <a:rPr lang="en-US" altLang="zh-CN" sz="2400" b="1" i="1" smtClean="0">
                            <a:latin typeface="Cambria Math" panose="02040503050406030204" pitchFamily="18" charset="0"/>
                            <a:cs typeface="Times New Roman" panose="02020603050405020304" pitchFamily="18" charset="0"/>
                          </a:rPr>
                        </m:ctrlPr>
                      </m:dPr>
                      <m:e>
                        <m:r>
                          <a:rPr lang="en-US" altLang="zh-CN" sz="2400" b="1" i="1" smtClean="0">
                            <a:latin typeface="Cambria Math" panose="02040503050406030204" pitchFamily="18" charset="0"/>
                            <a:cs typeface="Times New Roman" panose="02020603050405020304" pitchFamily="18" charset="0"/>
                          </a:rPr>
                          <m:t>𝟏𝟓</m:t>
                        </m:r>
                        <m:r>
                          <a:rPr lang="en-US" altLang="zh-CN" sz="2400" b="1" i="1" smtClean="0">
                            <a:latin typeface="Cambria Math" panose="02040503050406030204" pitchFamily="18" charset="0"/>
                            <a:cs typeface="Times New Roman" panose="02020603050405020304" pitchFamily="18" charset="0"/>
                          </a:rPr>
                          <m:t>%,</m:t>
                        </m:r>
                        <m:r>
                          <a:rPr lang="en-US" altLang="zh-CN" sz="2400" b="1" i="1" smtClean="0">
                            <a:latin typeface="Cambria Math" panose="02040503050406030204" pitchFamily="18" charset="0"/>
                            <a:cs typeface="Times New Roman" panose="02020603050405020304" pitchFamily="18" charset="0"/>
                          </a:rPr>
                          <m:t>𝑳𝑳𝑴</m:t>
                        </m:r>
                        <m:r>
                          <a:rPr lang="en-US" altLang="zh-CN" sz="2400" b="1" i="1" smtClean="0">
                            <a:latin typeface="Cambria Math" panose="02040503050406030204" pitchFamily="18" charset="0"/>
                            <a:cs typeface="Times New Roman" panose="02020603050405020304" pitchFamily="18" charset="0"/>
                          </a:rPr>
                          <m:t>,</m:t>
                        </m:r>
                        <m:r>
                          <a:rPr lang="en-US" altLang="zh-CN" sz="2400" b="1" i="1" smtClean="0">
                            <a:latin typeface="Cambria Math" panose="02040503050406030204" pitchFamily="18" charset="0"/>
                            <a:cs typeface="Times New Roman" panose="02020603050405020304" pitchFamily="18" charset="0"/>
                          </a:rPr>
                          <m:t>𝑳</m:t>
                        </m:r>
                      </m:e>
                    </m:d>
                  </m:oMath>
                </a14:m>
                <a:r>
                  <a:rPr lang="en-US" altLang="zh-CN" sz="2400" dirty="0">
                    <a:latin typeface="Times New Roman" panose="02020603050405020304" pitchFamily="18" charset="0"/>
                    <a:cs typeface="Times New Roman" panose="02020603050405020304" pitchFamily="18" charset="0"/>
                  </a:rPr>
                  <a:t> and loading delays </a:t>
                </a:r>
                <a14:m>
                  <m:oMath xmlns:m="http://schemas.openxmlformats.org/officeDocument/2006/math">
                    <m:sSub>
                      <m:sSubPr>
                        <m:ctrlPr>
                          <a:rPr lang="en-US" altLang="zh-CN" sz="2400" b="1" i="1" smtClean="0">
                            <a:latin typeface="Cambria Math" panose="02040503050406030204" pitchFamily="18" charset="0"/>
                            <a:cs typeface="Times New Roman" panose="02020603050405020304" pitchFamily="18" charset="0"/>
                          </a:rPr>
                        </m:ctrlPr>
                      </m:sSubPr>
                      <m:e>
                        <m:r>
                          <a:rPr lang="en-US" altLang="zh-CN" sz="2400" b="1" i="1" smtClean="0">
                            <a:latin typeface="Cambria Math" panose="02040503050406030204" pitchFamily="18" charset="0"/>
                            <a:cs typeface="Times New Roman" panose="02020603050405020304" pitchFamily="18" charset="0"/>
                          </a:rPr>
                          <m:t>𝑻</m:t>
                        </m:r>
                      </m:e>
                      <m:sub>
                        <m:r>
                          <a:rPr lang="en-US" altLang="zh-CN" sz="2400" b="1" i="1" smtClean="0">
                            <a:latin typeface="Cambria Math" panose="02040503050406030204" pitchFamily="18" charset="0"/>
                            <a:cs typeface="Times New Roman" panose="02020603050405020304" pitchFamily="18" charset="0"/>
                          </a:rPr>
                          <m:t>𝒍𝒐𝒂𝒅</m:t>
                        </m:r>
                      </m:sub>
                    </m:sSub>
                    <m:d>
                      <m:dPr>
                        <m:ctrlPr>
                          <a:rPr lang="en-US" altLang="zh-CN" sz="2400" b="1" i="1" smtClean="0">
                            <a:latin typeface="Cambria Math" panose="02040503050406030204" pitchFamily="18" charset="0"/>
                            <a:cs typeface="Times New Roman" panose="02020603050405020304" pitchFamily="18" charset="0"/>
                          </a:rPr>
                        </m:ctrlPr>
                      </m:dPr>
                      <m:e>
                        <m:r>
                          <a:rPr lang="en-US" altLang="zh-CN" sz="2400" b="1" i="1" smtClean="0">
                            <a:latin typeface="Cambria Math" panose="02040503050406030204" pitchFamily="18" charset="0"/>
                            <a:cs typeface="Times New Roman" panose="02020603050405020304" pitchFamily="18" charset="0"/>
                          </a:rPr>
                          <m:t>𝑳𝑳𝑴</m:t>
                        </m:r>
                        <m:r>
                          <a:rPr lang="en-US" altLang="zh-CN" sz="2400" b="1" i="1" smtClean="0">
                            <a:latin typeface="Cambria Math" panose="02040503050406030204" pitchFamily="18" charset="0"/>
                            <a:cs typeface="Times New Roman" panose="02020603050405020304" pitchFamily="18" charset="0"/>
                          </a:rPr>
                          <m:t>,</m:t>
                        </m:r>
                        <m:r>
                          <a:rPr lang="en-US" altLang="zh-CN" sz="2400" b="1" i="1" smtClean="0">
                            <a:latin typeface="Cambria Math" panose="02040503050406030204" pitchFamily="18" charset="0"/>
                            <a:cs typeface="Times New Roman" panose="02020603050405020304" pitchFamily="18" charset="0"/>
                          </a:rPr>
                          <m:t>𝑳</m:t>
                        </m:r>
                        <m:r>
                          <a:rPr lang="en-US" altLang="zh-CN" sz="2400" b="1" i="1" smtClean="0">
                            <a:latin typeface="Cambria Math" panose="02040503050406030204" pitchFamily="18" charset="0"/>
                            <a:cs typeface="Times New Roman" panose="02020603050405020304" pitchFamily="18" charset="0"/>
                          </a:rPr>
                          <m:t>,</m:t>
                        </m:r>
                        <m:r>
                          <a:rPr lang="en-US" altLang="zh-CN" sz="2400" b="1" i="1" smtClean="0">
                            <a:latin typeface="Cambria Math" panose="02040503050406030204" pitchFamily="18" charset="0"/>
                            <a:cs typeface="Times New Roman" panose="02020603050405020304" pitchFamily="18" charset="0"/>
                          </a:rPr>
                          <m:t>𝒔𝒕𝒐𝒓𝒂𝒈𝒆</m:t>
                        </m:r>
                        <m:r>
                          <a:rPr lang="en-US" altLang="zh-CN" sz="2400" b="1" i="1" smtClean="0">
                            <a:latin typeface="Cambria Math" panose="02040503050406030204" pitchFamily="18" charset="0"/>
                            <a:cs typeface="Times New Roman" panose="02020603050405020304" pitchFamily="18" charset="0"/>
                          </a:rPr>
                          <m:t>_</m:t>
                        </m:r>
                        <m:r>
                          <a:rPr lang="en-US" altLang="zh-CN" sz="2400" b="1" i="1" smtClean="0">
                            <a:latin typeface="Cambria Math" panose="02040503050406030204" pitchFamily="18" charset="0"/>
                            <a:cs typeface="Times New Roman" panose="02020603050405020304" pitchFamily="18" charset="0"/>
                          </a:rPr>
                          <m:t>𝒅𝒆𝒗𝒊𝒄𝒆</m:t>
                        </m:r>
                      </m:e>
                    </m:d>
                    <m:r>
                      <a:rPr lang="en-US" altLang="zh-CN" sz="2400" b="1" i="1" smtClean="0">
                        <a:latin typeface="Cambria Math" panose="02040503050406030204" pitchFamily="18" charset="0"/>
                        <a:cs typeface="Times New Roman" panose="02020603050405020304" pitchFamily="18" charset="0"/>
                      </a:rPr>
                      <m:t> </m:t>
                    </m:r>
                  </m:oMath>
                </a14:m>
                <a:r>
                  <a:rPr lang="en-US" altLang="zh-CN" sz="2400" dirty="0">
                    <a:latin typeface="Times New Roman" panose="02020603050405020304" pitchFamily="18" charset="0"/>
                    <a:cs typeface="Times New Roman" panose="02020603050405020304" pitchFamily="18" charset="0"/>
                  </a:rPr>
                  <a:t>for all devices.</a:t>
                </a:r>
              </a:p>
              <a:p>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•Finds out the cheapest device with </a:t>
                </a:r>
                <a14:m>
                  <m:oMath xmlns:m="http://schemas.openxmlformats.org/officeDocument/2006/math">
                    <m:sSub>
                      <m:sSubPr>
                        <m:ctrlPr>
                          <a:rPr lang="en-US" altLang="zh-CN" sz="2400" i="1" smtClean="0">
                            <a:latin typeface="Cambria Math" panose="02040503050406030204" pitchFamily="18" charset="0"/>
                            <a:cs typeface="Times New Roman" panose="02020603050405020304" pitchFamily="18" charset="0"/>
                          </a:rPr>
                        </m:ctrlPr>
                      </m:sSubPr>
                      <m:e>
                        <m:r>
                          <a:rPr lang="en-US" altLang="zh-CN" sz="2400" b="0" i="1" smtClean="0">
                            <a:latin typeface="Cambria Math" panose="02040503050406030204" pitchFamily="18" charset="0"/>
                            <a:cs typeface="Times New Roman" panose="02020603050405020304" pitchFamily="18" charset="0"/>
                          </a:rPr>
                          <m:t>𝑇</m:t>
                        </m:r>
                      </m:e>
                      <m:sub>
                        <m:r>
                          <a:rPr lang="en-US" altLang="zh-CN" sz="2400" b="0" i="1" smtClean="0">
                            <a:latin typeface="Cambria Math" panose="02040503050406030204" pitchFamily="18" charset="0"/>
                            <a:cs typeface="Times New Roman" panose="02020603050405020304" pitchFamily="18" charset="0"/>
                          </a:rPr>
                          <m:t>𝑟𝑒𝑐𝑜𝑚𝑝𝑢𝑡𝑒</m:t>
                        </m:r>
                        <m:r>
                          <a:rPr lang="en-US" altLang="zh-CN" sz="2400" b="0" i="1" smtClean="0">
                            <a:latin typeface="Cambria Math" panose="02040503050406030204" pitchFamily="18" charset="0"/>
                            <a:cs typeface="Times New Roman" panose="02020603050405020304" pitchFamily="18" charset="0"/>
                          </a:rPr>
                          <m:t> </m:t>
                        </m:r>
                      </m:sub>
                    </m:sSub>
                    <m:r>
                      <a:rPr lang="en-US" altLang="zh-CN" sz="2400" b="0" i="1" smtClean="0">
                        <a:latin typeface="Cambria Math" panose="02040503050406030204" pitchFamily="18" charset="0"/>
                        <a:cs typeface="Times New Roman" panose="02020603050405020304" pitchFamily="18" charset="0"/>
                      </a:rPr>
                      <m:t>≥ </m:t>
                    </m:r>
                    <m:sSub>
                      <m:sSubPr>
                        <m:ctrlPr>
                          <a:rPr lang="en-US" altLang="zh-CN" sz="2400" i="1" smtClean="0">
                            <a:latin typeface="Cambria Math" panose="02040503050406030204" pitchFamily="18" charset="0"/>
                            <a:cs typeface="Times New Roman" panose="02020603050405020304" pitchFamily="18" charset="0"/>
                          </a:rPr>
                        </m:ctrlPr>
                      </m:sSubPr>
                      <m:e>
                        <m:r>
                          <a:rPr lang="en-US" altLang="zh-CN" sz="2400" b="0" i="1" smtClean="0">
                            <a:latin typeface="Cambria Math" panose="02040503050406030204" pitchFamily="18" charset="0"/>
                            <a:cs typeface="Times New Roman" panose="02020603050405020304" pitchFamily="18" charset="0"/>
                          </a:rPr>
                          <m:t>𝑇</m:t>
                        </m:r>
                      </m:e>
                      <m:sub>
                        <m:r>
                          <a:rPr lang="en-US" altLang="zh-CN" sz="2400" b="0" i="1" smtClean="0">
                            <a:latin typeface="Cambria Math" panose="02040503050406030204" pitchFamily="18" charset="0"/>
                            <a:cs typeface="Times New Roman" panose="02020603050405020304" pitchFamily="18" charset="0"/>
                          </a:rPr>
                          <m:t>𝑙𝑜𝑎𝑑</m:t>
                        </m:r>
                      </m:sub>
                    </m:sSub>
                  </m:oMath>
                </a14:m>
                <a:r>
                  <a:rPr lang="en-US" altLang="zh-CN" sz="2400" dirty="0">
                    <a:latin typeface="Times New Roman" panose="02020603050405020304" pitchFamily="18" charset="0"/>
                    <a:cs typeface="Times New Roman" panose="02020603050405020304" pitchFamily="18" charset="0"/>
                  </a:rPr>
                  <a:t>.</a:t>
                </a:r>
              </a:p>
            </p:txBody>
          </p:sp>
        </mc:Choice>
        <mc:Fallback xmlns="">
          <p:sp>
            <p:nvSpPr>
              <p:cNvPr id="9" name="文本框 8">
                <a:extLst>
                  <a:ext uri="{FF2B5EF4-FFF2-40B4-BE49-F238E27FC236}">
                    <a16:creationId xmlns:a16="http://schemas.microsoft.com/office/drawing/2014/main" id="{A9832E75-926C-CA5F-1981-27F51A74B473}"/>
                  </a:ext>
                </a:extLst>
              </p:cNvPr>
              <p:cNvSpPr txBox="1">
                <a:spLocks noRot="1" noChangeAspect="1" noMove="1" noResize="1" noEditPoints="1" noAdjustHandles="1" noChangeArrowheads="1" noChangeShapeType="1" noTextEdit="1"/>
              </p:cNvSpPr>
              <p:nvPr/>
            </p:nvSpPr>
            <p:spPr>
              <a:xfrm>
                <a:off x="572802" y="1335767"/>
                <a:ext cx="10451460" cy="3847272"/>
              </a:xfrm>
              <a:prstGeom prst="rect">
                <a:avLst/>
              </a:prstGeom>
              <a:blipFill>
                <a:blip r:embed="rId3"/>
                <a:stretch>
                  <a:fillRect l="-933" t="-1268" b="-1902"/>
                </a:stretch>
              </a:blipFill>
            </p:spPr>
            <p:txBody>
              <a:bodyPr/>
              <a:lstStyle/>
              <a:p>
                <a:r>
                  <a:rPr lang="zh-CN" altLang="en-US">
                    <a:noFill/>
                  </a:rPr>
                  <a:t> </a:t>
                </a:r>
              </a:p>
            </p:txBody>
          </p:sp>
        </mc:Fallback>
      </mc:AlternateContent>
      <p:sp>
        <p:nvSpPr>
          <p:cNvPr id="591" name="Google Shape;591;g330b2db8419_2_73">
            <a:extLst>
              <a:ext uri="{FF2B5EF4-FFF2-40B4-BE49-F238E27FC236}">
                <a16:creationId xmlns:a16="http://schemas.microsoft.com/office/drawing/2014/main" id="{65B29445-0859-A9B8-69FE-1D722F931C21}"/>
              </a:ext>
            </a:extLst>
          </p:cNvPr>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592" name="Google Shape;592;g330b2db8419_2_73">
            <a:extLst>
              <a:ext uri="{FF2B5EF4-FFF2-40B4-BE49-F238E27FC236}">
                <a16:creationId xmlns:a16="http://schemas.microsoft.com/office/drawing/2014/main" id="{CC370F33-9EC7-3271-6A99-BAB7B1A22D7E}"/>
              </a:ext>
            </a:extLst>
          </p:cNvPr>
          <p:cNvSpPr txBox="1"/>
          <p:nvPr/>
        </p:nvSpPr>
        <p:spPr>
          <a:xfrm>
            <a:off x="114162" y="221885"/>
            <a:ext cx="10910100"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US" altLang="zh-CN" sz="2400" dirty="0">
                <a:solidFill>
                  <a:schemeClr val="lt1"/>
                </a:solidFill>
                <a:latin typeface="Times New Roman" panose="02020603050405020304" pitchFamily="18" charset="0"/>
                <a:cs typeface="Times New Roman" panose="02020603050405020304" pitchFamily="18" charset="0"/>
              </a:rPr>
              <a:t>Design Question 2. How to choose right devices given fixed r</a:t>
            </a:r>
            <a:endParaRPr lang="en-US" altLang="zh-CN" sz="2400" b="0" i="0" u="none" strike="noStrike" cap="none" dirty="0">
              <a:solidFill>
                <a:schemeClr val="lt1"/>
              </a:solidFill>
              <a:latin typeface="Times New Roman" panose="02020603050405020304" pitchFamily="18" charset="0"/>
              <a:cs typeface="Times New Roman" panose="02020603050405020304" pitchFamily="18" charset="0"/>
              <a:sym typeface="Arial"/>
            </a:endParaRPr>
          </a:p>
        </p:txBody>
      </p:sp>
      <p:pic>
        <p:nvPicPr>
          <p:cNvPr id="593" name="Google Shape;593;g330b2db8419_2_73">
            <a:extLst>
              <a:ext uri="{FF2B5EF4-FFF2-40B4-BE49-F238E27FC236}">
                <a16:creationId xmlns:a16="http://schemas.microsoft.com/office/drawing/2014/main" id="{0ACEC1F0-7D62-B555-A691-AB47CD465C16}"/>
              </a:ext>
            </a:extLst>
          </p:cNvPr>
          <p:cNvPicPr preferRelativeResize="0"/>
          <p:nvPr/>
        </p:nvPicPr>
        <p:blipFill rotWithShape="1">
          <a:blip r:embed="rId4">
            <a:alphaModFix/>
          </a:blip>
          <a:srcRect/>
          <a:stretch/>
        </p:blipFill>
        <p:spPr>
          <a:xfrm>
            <a:off x="11557509" y="233819"/>
            <a:ext cx="271309" cy="389810"/>
          </a:xfrm>
          <a:prstGeom prst="rect">
            <a:avLst/>
          </a:prstGeom>
          <a:noFill/>
          <a:ln>
            <a:noFill/>
          </a:ln>
        </p:spPr>
      </p:pic>
      <p:sp>
        <p:nvSpPr>
          <p:cNvPr id="594" name="Google Shape;594;g330b2db8419_2_73">
            <a:extLst>
              <a:ext uri="{FF2B5EF4-FFF2-40B4-BE49-F238E27FC236}">
                <a16:creationId xmlns:a16="http://schemas.microsoft.com/office/drawing/2014/main" id="{DC78F926-6891-C193-854B-DFB0B4419D31}"/>
              </a:ext>
            </a:extLst>
          </p:cNvPr>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595" name="Google Shape;595;g330b2db8419_2_73">
            <a:extLst>
              <a:ext uri="{FF2B5EF4-FFF2-40B4-BE49-F238E27FC236}">
                <a16:creationId xmlns:a16="http://schemas.microsoft.com/office/drawing/2014/main" id="{3B6BE76E-CB02-3638-B4CA-6CCEE4DB6373}"/>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596" name="Google Shape;596;g330b2db8419_2_73">
            <a:extLst>
              <a:ext uri="{FF2B5EF4-FFF2-40B4-BE49-F238E27FC236}">
                <a16:creationId xmlns:a16="http://schemas.microsoft.com/office/drawing/2014/main" id="{045B7E34-3D95-D24B-1CFB-3777378161F0}"/>
              </a:ext>
            </a:extLst>
          </p:cNvPr>
          <p:cNvGrpSpPr/>
          <p:nvPr/>
        </p:nvGrpSpPr>
        <p:grpSpPr>
          <a:xfrm>
            <a:off x="2622925" y="6601537"/>
            <a:ext cx="6677215" cy="70500"/>
            <a:chOff x="2589675" y="6601537"/>
            <a:chExt cx="6677215" cy="70500"/>
          </a:xfrm>
        </p:grpSpPr>
        <p:cxnSp>
          <p:nvCxnSpPr>
            <p:cNvPr id="597" name="Google Shape;597;g330b2db8419_2_73">
              <a:extLst>
                <a:ext uri="{FF2B5EF4-FFF2-40B4-BE49-F238E27FC236}">
                  <a16:creationId xmlns:a16="http://schemas.microsoft.com/office/drawing/2014/main" id="{B8A31BD0-F1EC-A5B8-133F-2B5741DF09CB}"/>
                </a:ext>
              </a:extLst>
            </p:cNvPr>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598" name="Google Shape;598;g330b2db8419_2_73">
              <a:extLst>
                <a:ext uri="{FF2B5EF4-FFF2-40B4-BE49-F238E27FC236}">
                  <a16:creationId xmlns:a16="http://schemas.microsoft.com/office/drawing/2014/main" id="{C863D99C-5E8A-5166-C5B2-8C98C6A8E7CA}"/>
                </a:ext>
              </a:extLst>
            </p:cNvPr>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599" name="Google Shape;599;g330b2db8419_2_73">
            <a:extLst>
              <a:ext uri="{FF2B5EF4-FFF2-40B4-BE49-F238E27FC236}">
                <a16:creationId xmlns:a16="http://schemas.microsoft.com/office/drawing/2014/main" id="{740D0F4A-23C2-FFFE-59D0-B67FF299B7CB}"/>
              </a:ext>
            </a:extLst>
          </p:cNvPr>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35</a:t>
            </a:fld>
            <a:endParaRPr/>
          </a:p>
        </p:txBody>
      </p:sp>
    </p:spTree>
    <p:extLst>
      <p:ext uri="{BB962C8B-B14F-4D97-AF65-F5344CB8AC3E}">
        <p14:creationId xmlns:p14="http://schemas.microsoft.com/office/powerpoint/2010/main" val="28444379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89">
          <a:extLst>
            <a:ext uri="{FF2B5EF4-FFF2-40B4-BE49-F238E27FC236}">
              <a16:creationId xmlns:a16="http://schemas.microsoft.com/office/drawing/2014/main" id="{6C8CE812-C0D1-3B87-3D91-9F342092D6F5}"/>
            </a:ext>
          </a:extLst>
        </p:cNvPr>
        <p:cNvGrpSpPr/>
        <p:nvPr/>
      </p:nvGrpSpPr>
      <p:grpSpPr>
        <a:xfrm>
          <a:off x="0" y="0"/>
          <a:ext cx="0" cy="0"/>
          <a:chOff x="0" y="0"/>
          <a:chExt cx="0" cy="0"/>
        </a:xfrm>
      </p:grpSpPr>
      <p:sp>
        <p:nvSpPr>
          <p:cNvPr id="591" name="Google Shape;591;g330b2db8419_2_73">
            <a:extLst>
              <a:ext uri="{FF2B5EF4-FFF2-40B4-BE49-F238E27FC236}">
                <a16:creationId xmlns:a16="http://schemas.microsoft.com/office/drawing/2014/main" id="{BAD275DB-0CF5-01BB-A838-F31D216FBC12}"/>
              </a:ext>
            </a:extLst>
          </p:cNvPr>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592" name="Google Shape;592;g330b2db8419_2_73">
            <a:extLst>
              <a:ext uri="{FF2B5EF4-FFF2-40B4-BE49-F238E27FC236}">
                <a16:creationId xmlns:a16="http://schemas.microsoft.com/office/drawing/2014/main" id="{48723E44-59F7-62A7-A27A-A206F4113D75}"/>
              </a:ext>
            </a:extLst>
          </p:cNvPr>
          <p:cNvSpPr txBox="1"/>
          <p:nvPr/>
        </p:nvSpPr>
        <p:spPr>
          <a:xfrm>
            <a:off x="114162" y="221885"/>
            <a:ext cx="10910100"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US" altLang="zh-CN" sz="2400" dirty="0">
                <a:solidFill>
                  <a:schemeClr val="lt1"/>
                </a:solidFill>
                <a:latin typeface="Times New Roman" panose="02020603050405020304" pitchFamily="18" charset="0"/>
                <a:cs typeface="Times New Roman" panose="02020603050405020304" pitchFamily="18" charset="0"/>
              </a:rPr>
              <a:t>Design Question 2. How to choose right devices given fixed r</a:t>
            </a:r>
            <a:endParaRPr lang="en-US" altLang="zh-CN" sz="2400" b="0" i="0" u="none" strike="noStrike" cap="none" dirty="0">
              <a:solidFill>
                <a:schemeClr val="lt1"/>
              </a:solidFill>
              <a:latin typeface="Times New Roman" panose="02020603050405020304" pitchFamily="18" charset="0"/>
              <a:cs typeface="Times New Roman" panose="02020603050405020304" pitchFamily="18" charset="0"/>
              <a:sym typeface="Arial"/>
            </a:endParaRPr>
          </a:p>
        </p:txBody>
      </p:sp>
      <p:pic>
        <p:nvPicPr>
          <p:cNvPr id="593" name="Google Shape;593;g330b2db8419_2_73">
            <a:extLst>
              <a:ext uri="{FF2B5EF4-FFF2-40B4-BE49-F238E27FC236}">
                <a16:creationId xmlns:a16="http://schemas.microsoft.com/office/drawing/2014/main" id="{7A4BBC4A-EE4C-2A3D-613F-60E22D9016A4}"/>
              </a:ext>
            </a:extLst>
          </p:cNvPr>
          <p:cNvPicPr preferRelativeResize="0"/>
          <p:nvPr/>
        </p:nvPicPr>
        <p:blipFill rotWithShape="1">
          <a:blip r:embed="rId3">
            <a:alphaModFix/>
          </a:blip>
          <a:srcRect/>
          <a:stretch/>
        </p:blipFill>
        <p:spPr>
          <a:xfrm>
            <a:off x="11557509" y="233819"/>
            <a:ext cx="271309" cy="389810"/>
          </a:xfrm>
          <a:prstGeom prst="rect">
            <a:avLst/>
          </a:prstGeom>
          <a:noFill/>
          <a:ln>
            <a:noFill/>
          </a:ln>
        </p:spPr>
      </p:pic>
      <p:sp>
        <p:nvSpPr>
          <p:cNvPr id="594" name="Google Shape;594;g330b2db8419_2_73">
            <a:extLst>
              <a:ext uri="{FF2B5EF4-FFF2-40B4-BE49-F238E27FC236}">
                <a16:creationId xmlns:a16="http://schemas.microsoft.com/office/drawing/2014/main" id="{DFED6707-6107-65E2-E304-18B923179E5A}"/>
              </a:ext>
            </a:extLst>
          </p:cNvPr>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595" name="Google Shape;595;g330b2db8419_2_73">
            <a:extLst>
              <a:ext uri="{FF2B5EF4-FFF2-40B4-BE49-F238E27FC236}">
                <a16:creationId xmlns:a16="http://schemas.microsoft.com/office/drawing/2014/main" id="{CF8E0A90-E3BC-DDB2-9D7D-DE3104E34BEB}"/>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596" name="Google Shape;596;g330b2db8419_2_73">
            <a:extLst>
              <a:ext uri="{FF2B5EF4-FFF2-40B4-BE49-F238E27FC236}">
                <a16:creationId xmlns:a16="http://schemas.microsoft.com/office/drawing/2014/main" id="{81309E1C-1247-B59B-0732-78A5DF9FD16D}"/>
              </a:ext>
            </a:extLst>
          </p:cNvPr>
          <p:cNvGrpSpPr/>
          <p:nvPr/>
        </p:nvGrpSpPr>
        <p:grpSpPr>
          <a:xfrm>
            <a:off x="2622925" y="6601537"/>
            <a:ext cx="6677215" cy="70500"/>
            <a:chOff x="2589675" y="6601537"/>
            <a:chExt cx="6677215" cy="70500"/>
          </a:xfrm>
        </p:grpSpPr>
        <p:cxnSp>
          <p:nvCxnSpPr>
            <p:cNvPr id="597" name="Google Shape;597;g330b2db8419_2_73">
              <a:extLst>
                <a:ext uri="{FF2B5EF4-FFF2-40B4-BE49-F238E27FC236}">
                  <a16:creationId xmlns:a16="http://schemas.microsoft.com/office/drawing/2014/main" id="{B7D6E4BB-7EC6-AF38-A267-C1179586CB4F}"/>
                </a:ext>
              </a:extLst>
            </p:cNvPr>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598" name="Google Shape;598;g330b2db8419_2_73">
              <a:extLst>
                <a:ext uri="{FF2B5EF4-FFF2-40B4-BE49-F238E27FC236}">
                  <a16:creationId xmlns:a16="http://schemas.microsoft.com/office/drawing/2014/main" id="{6612D13C-A07F-A72C-9A73-498E8C395B18}"/>
                </a:ext>
              </a:extLst>
            </p:cNvPr>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599" name="Google Shape;599;g330b2db8419_2_73">
            <a:extLst>
              <a:ext uri="{FF2B5EF4-FFF2-40B4-BE49-F238E27FC236}">
                <a16:creationId xmlns:a16="http://schemas.microsoft.com/office/drawing/2014/main" id="{0560D433-AD6E-DDA3-F629-1D50F56B6ADE}"/>
              </a:ext>
            </a:extLst>
          </p:cNvPr>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36</a:t>
            </a:fld>
            <a:endParaRPr/>
          </a:p>
        </p:txBody>
      </p:sp>
      <p:pic>
        <p:nvPicPr>
          <p:cNvPr id="3" name="图片 2">
            <a:extLst>
              <a:ext uri="{FF2B5EF4-FFF2-40B4-BE49-F238E27FC236}">
                <a16:creationId xmlns:a16="http://schemas.microsoft.com/office/drawing/2014/main" id="{D2E5B3A7-48B8-66D8-3AE9-862B0C03FEDB}"/>
              </a:ext>
            </a:extLst>
          </p:cNvPr>
          <p:cNvPicPr>
            <a:picLocks noChangeAspect="1"/>
          </p:cNvPicPr>
          <p:nvPr/>
        </p:nvPicPr>
        <p:blipFill>
          <a:blip r:embed="rId4"/>
          <a:stretch>
            <a:fillRect/>
          </a:stretch>
        </p:blipFill>
        <p:spPr>
          <a:xfrm>
            <a:off x="1267188" y="1048496"/>
            <a:ext cx="9657623" cy="5058342"/>
          </a:xfrm>
          <a:prstGeom prst="rect">
            <a:avLst/>
          </a:prstGeom>
        </p:spPr>
      </p:pic>
    </p:spTree>
    <p:extLst>
      <p:ext uri="{BB962C8B-B14F-4D97-AF65-F5344CB8AC3E}">
        <p14:creationId xmlns:p14="http://schemas.microsoft.com/office/powerpoint/2010/main" val="15159330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89">
          <a:extLst>
            <a:ext uri="{FF2B5EF4-FFF2-40B4-BE49-F238E27FC236}">
              <a16:creationId xmlns:a16="http://schemas.microsoft.com/office/drawing/2014/main" id="{9CBF67BE-9C49-EABD-85D4-637D9E9CF5A1}"/>
            </a:ext>
          </a:extLst>
        </p:cNvPr>
        <p:cNvGrpSpPr/>
        <p:nvPr/>
      </p:nvGrpSpPr>
      <p:grpSpPr>
        <a:xfrm>
          <a:off x="0" y="0"/>
          <a:ext cx="0" cy="0"/>
          <a:chOff x="0" y="0"/>
          <a:chExt cx="0" cy="0"/>
        </a:xfrm>
      </p:grpSpPr>
      <p:sp>
        <p:nvSpPr>
          <p:cNvPr id="591" name="Google Shape;591;g330b2db8419_2_73">
            <a:extLst>
              <a:ext uri="{FF2B5EF4-FFF2-40B4-BE49-F238E27FC236}">
                <a16:creationId xmlns:a16="http://schemas.microsoft.com/office/drawing/2014/main" id="{0DB69690-4E97-A136-1497-5A9F6202D4BA}"/>
              </a:ext>
            </a:extLst>
          </p:cNvPr>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592" name="Google Shape;592;g330b2db8419_2_73">
            <a:extLst>
              <a:ext uri="{FF2B5EF4-FFF2-40B4-BE49-F238E27FC236}">
                <a16:creationId xmlns:a16="http://schemas.microsoft.com/office/drawing/2014/main" id="{60911FED-E1FB-ECB6-6C61-A2C1E072BAD0}"/>
              </a:ext>
            </a:extLst>
          </p:cNvPr>
          <p:cNvSpPr txBox="1"/>
          <p:nvPr/>
        </p:nvSpPr>
        <p:spPr>
          <a:xfrm>
            <a:off x="114161" y="145685"/>
            <a:ext cx="11227563"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US" altLang="zh-CN" sz="3200" dirty="0">
                <a:solidFill>
                  <a:schemeClr val="lt1"/>
                </a:solidFill>
                <a:latin typeface="Times New Roman" panose="02020603050405020304" pitchFamily="18" charset="0"/>
                <a:cs typeface="Times New Roman" panose="02020603050405020304" pitchFamily="18" charset="0"/>
              </a:rPr>
              <a:t>Key Components: KV cache Store(LLM input        KV caches)</a:t>
            </a:r>
            <a:endParaRPr lang="en-US" altLang="zh-CN" sz="3200" b="0" i="0" u="none" strike="noStrike" cap="none" dirty="0">
              <a:solidFill>
                <a:schemeClr val="lt1"/>
              </a:solidFill>
              <a:latin typeface="Times New Roman" panose="02020603050405020304" pitchFamily="18" charset="0"/>
              <a:cs typeface="Times New Roman" panose="02020603050405020304" pitchFamily="18" charset="0"/>
              <a:sym typeface="Arial"/>
            </a:endParaRPr>
          </a:p>
        </p:txBody>
      </p:sp>
      <p:pic>
        <p:nvPicPr>
          <p:cNvPr id="593" name="Google Shape;593;g330b2db8419_2_73">
            <a:extLst>
              <a:ext uri="{FF2B5EF4-FFF2-40B4-BE49-F238E27FC236}">
                <a16:creationId xmlns:a16="http://schemas.microsoft.com/office/drawing/2014/main" id="{8FA8BAA0-6BF2-5065-3F93-B7DFB986A9E2}"/>
              </a:ext>
            </a:extLst>
          </p:cNvPr>
          <p:cNvPicPr preferRelativeResize="0"/>
          <p:nvPr/>
        </p:nvPicPr>
        <p:blipFill rotWithShape="1">
          <a:blip r:embed="rId3">
            <a:alphaModFix/>
          </a:blip>
          <a:srcRect/>
          <a:stretch/>
        </p:blipFill>
        <p:spPr>
          <a:xfrm>
            <a:off x="11557509" y="233819"/>
            <a:ext cx="271309" cy="389810"/>
          </a:xfrm>
          <a:prstGeom prst="rect">
            <a:avLst/>
          </a:prstGeom>
          <a:noFill/>
          <a:ln>
            <a:noFill/>
          </a:ln>
        </p:spPr>
      </p:pic>
      <p:sp>
        <p:nvSpPr>
          <p:cNvPr id="594" name="Google Shape;594;g330b2db8419_2_73">
            <a:extLst>
              <a:ext uri="{FF2B5EF4-FFF2-40B4-BE49-F238E27FC236}">
                <a16:creationId xmlns:a16="http://schemas.microsoft.com/office/drawing/2014/main" id="{DAA3009F-D06C-52ED-39DE-13D09CD17728}"/>
              </a:ext>
            </a:extLst>
          </p:cNvPr>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595" name="Google Shape;595;g330b2db8419_2_73">
            <a:extLst>
              <a:ext uri="{FF2B5EF4-FFF2-40B4-BE49-F238E27FC236}">
                <a16:creationId xmlns:a16="http://schemas.microsoft.com/office/drawing/2014/main" id="{785694C4-6374-8AE9-790E-916EC2AFFD63}"/>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596" name="Google Shape;596;g330b2db8419_2_73">
            <a:extLst>
              <a:ext uri="{FF2B5EF4-FFF2-40B4-BE49-F238E27FC236}">
                <a16:creationId xmlns:a16="http://schemas.microsoft.com/office/drawing/2014/main" id="{983457E0-CB00-A1A8-7ECF-2BE286D1BF0D}"/>
              </a:ext>
            </a:extLst>
          </p:cNvPr>
          <p:cNvGrpSpPr/>
          <p:nvPr/>
        </p:nvGrpSpPr>
        <p:grpSpPr>
          <a:xfrm>
            <a:off x="2622925" y="6601537"/>
            <a:ext cx="6677215" cy="70500"/>
            <a:chOff x="2589675" y="6601537"/>
            <a:chExt cx="6677215" cy="70500"/>
          </a:xfrm>
        </p:grpSpPr>
        <p:cxnSp>
          <p:nvCxnSpPr>
            <p:cNvPr id="597" name="Google Shape;597;g330b2db8419_2_73">
              <a:extLst>
                <a:ext uri="{FF2B5EF4-FFF2-40B4-BE49-F238E27FC236}">
                  <a16:creationId xmlns:a16="http://schemas.microsoft.com/office/drawing/2014/main" id="{B764DCE4-2190-6940-1BBB-C04EFC2FCD65}"/>
                </a:ext>
              </a:extLst>
            </p:cNvPr>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598" name="Google Shape;598;g330b2db8419_2_73">
              <a:extLst>
                <a:ext uri="{FF2B5EF4-FFF2-40B4-BE49-F238E27FC236}">
                  <a16:creationId xmlns:a16="http://schemas.microsoft.com/office/drawing/2014/main" id="{C6FA6FA4-BB90-A1EA-CA00-76C0927F01D9}"/>
                </a:ext>
              </a:extLst>
            </p:cNvPr>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599" name="Google Shape;599;g330b2db8419_2_73">
            <a:extLst>
              <a:ext uri="{FF2B5EF4-FFF2-40B4-BE49-F238E27FC236}">
                <a16:creationId xmlns:a16="http://schemas.microsoft.com/office/drawing/2014/main" id="{2265F79A-DA26-AD2E-68BF-2B3F0A927E94}"/>
              </a:ext>
            </a:extLst>
          </p:cNvPr>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37</a:t>
            </a:fld>
            <a:endParaRPr/>
          </a:p>
        </p:txBody>
      </p:sp>
      <p:cxnSp>
        <p:nvCxnSpPr>
          <p:cNvPr id="3" name="直接箭头连接符 2">
            <a:extLst>
              <a:ext uri="{FF2B5EF4-FFF2-40B4-BE49-F238E27FC236}">
                <a16:creationId xmlns:a16="http://schemas.microsoft.com/office/drawing/2014/main" id="{F78610E3-4EBA-D188-645A-0368D7E4DB54}"/>
              </a:ext>
            </a:extLst>
          </p:cNvPr>
          <p:cNvCxnSpPr/>
          <p:nvPr/>
        </p:nvCxnSpPr>
        <p:spPr>
          <a:xfrm>
            <a:off x="7836446" y="471949"/>
            <a:ext cx="628309"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A51E2859-43F3-29DB-1ADD-C35C3E15A103}"/>
              </a:ext>
            </a:extLst>
          </p:cNvPr>
          <p:cNvSpPr txBox="1"/>
          <p:nvPr/>
        </p:nvSpPr>
        <p:spPr>
          <a:xfrm>
            <a:off x="766915" y="4837471"/>
            <a:ext cx="10574810" cy="1569660"/>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•The KV cache store splits an LLM input into multiple text chunks.</a:t>
            </a:r>
          </a:p>
          <a:p>
            <a:r>
              <a:rPr lang="en-US" altLang="zh-CN" sz="2400" dirty="0">
                <a:latin typeface="Times New Roman" panose="02020603050405020304" pitchFamily="18" charset="0"/>
                <a:cs typeface="Times New Roman" panose="02020603050405020304" pitchFamily="18" charset="0"/>
              </a:rPr>
              <a:t>•Each split input text chunk is hashed to find their corresponding KV cache.</a:t>
            </a:r>
          </a:p>
          <a:p>
            <a:r>
              <a:rPr lang="en-US" altLang="zh-CN" sz="2400" dirty="0">
                <a:latin typeface="Times New Roman" panose="02020603050405020304" pitchFamily="18" charset="0"/>
                <a:cs typeface="Times New Roman" panose="02020603050405020304" pitchFamily="18" charset="0"/>
              </a:rPr>
              <a:t>•The KV caches of new chunks by the fusor are added to the devices. Least recently used KV caches are evicted when full.</a:t>
            </a:r>
            <a:endParaRPr lang="zh-CN" altLang="en-US" sz="2400" dirty="0">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CD26EC21-631F-24A4-3341-9F7751233731}"/>
              </a:ext>
            </a:extLst>
          </p:cNvPr>
          <p:cNvPicPr>
            <a:picLocks noChangeAspect="1"/>
          </p:cNvPicPr>
          <p:nvPr/>
        </p:nvPicPr>
        <p:blipFill>
          <a:blip r:embed="rId4"/>
          <a:stretch>
            <a:fillRect/>
          </a:stretch>
        </p:blipFill>
        <p:spPr>
          <a:xfrm>
            <a:off x="376807" y="987700"/>
            <a:ext cx="10745700" cy="3543795"/>
          </a:xfrm>
          <a:prstGeom prst="rect">
            <a:avLst/>
          </a:prstGeom>
        </p:spPr>
      </p:pic>
      <p:sp>
        <p:nvSpPr>
          <p:cNvPr id="7" name="矩形 6">
            <a:extLst>
              <a:ext uri="{FF2B5EF4-FFF2-40B4-BE49-F238E27FC236}">
                <a16:creationId xmlns:a16="http://schemas.microsoft.com/office/drawing/2014/main" id="{2CE27062-3261-097E-3F71-BE5F3D913BAF}"/>
              </a:ext>
            </a:extLst>
          </p:cNvPr>
          <p:cNvSpPr/>
          <p:nvPr/>
        </p:nvSpPr>
        <p:spPr>
          <a:xfrm>
            <a:off x="8596807" y="2759597"/>
            <a:ext cx="2525700" cy="177189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680974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89">
          <a:extLst>
            <a:ext uri="{FF2B5EF4-FFF2-40B4-BE49-F238E27FC236}">
              <a16:creationId xmlns:a16="http://schemas.microsoft.com/office/drawing/2014/main" id="{1909047D-CCAE-9095-55BA-E5517FBCBE80}"/>
            </a:ext>
          </a:extLst>
        </p:cNvPr>
        <p:cNvGrpSpPr/>
        <p:nvPr/>
      </p:nvGrpSpPr>
      <p:grpSpPr>
        <a:xfrm>
          <a:off x="0" y="0"/>
          <a:ext cx="0" cy="0"/>
          <a:chOff x="0" y="0"/>
          <a:chExt cx="0" cy="0"/>
        </a:xfrm>
      </p:grpSpPr>
      <p:sp>
        <p:nvSpPr>
          <p:cNvPr id="591" name="Google Shape;591;g330b2db8419_2_73">
            <a:extLst>
              <a:ext uri="{FF2B5EF4-FFF2-40B4-BE49-F238E27FC236}">
                <a16:creationId xmlns:a16="http://schemas.microsoft.com/office/drawing/2014/main" id="{CEF48291-CF17-E8CD-CD1E-6D3B29F4D0C7}"/>
              </a:ext>
            </a:extLst>
          </p:cNvPr>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592" name="Google Shape;592;g330b2db8419_2_73">
            <a:extLst>
              <a:ext uri="{FF2B5EF4-FFF2-40B4-BE49-F238E27FC236}">
                <a16:creationId xmlns:a16="http://schemas.microsoft.com/office/drawing/2014/main" id="{E1904B95-1445-BB44-65CA-5E67EC02CFE5}"/>
              </a:ext>
            </a:extLst>
          </p:cNvPr>
          <p:cNvSpPr txBox="1"/>
          <p:nvPr/>
        </p:nvSpPr>
        <p:spPr>
          <a:xfrm>
            <a:off x="114162" y="145685"/>
            <a:ext cx="10910100"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US" altLang="zh-CN" sz="3200" dirty="0">
                <a:solidFill>
                  <a:schemeClr val="lt1"/>
                </a:solidFill>
                <a:latin typeface="Times New Roman" panose="02020603050405020304" pitchFamily="18" charset="0"/>
                <a:cs typeface="Times New Roman" panose="02020603050405020304" pitchFamily="18" charset="0"/>
              </a:rPr>
              <a:t>Key Components: Fusor</a:t>
            </a:r>
            <a:endParaRPr lang="en-US" altLang="zh-CN" sz="3200" b="0" i="0" u="none" strike="noStrike" cap="none" dirty="0">
              <a:solidFill>
                <a:schemeClr val="lt1"/>
              </a:solidFill>
              <a:latin typeface="Times New Roman" panose="02020603050405020304" pitchFamily="18" charset="0"/>
              <a:cs typeface="Times New Roman" panose="02020603050405020304" pitchFamily="18" charset="0"/>
              <a:sym typeface="Arial"/>
            </a:endParaRPr>
          </a:p>
        </p:txBody>
      </p:sp>
      <p:pic>
        <p:nvPicPr>
          <p:cNvPr id="593" name="Google Shape;593;g330b2db8419_2_73">
            <a:extLst>
              <a:ext uri="{FF2B5EF4-FFF2-40B4-BE49-F238E27FC236}">
                <a16:creationId xmlns:a16="http://schemas.microsoft.com/office/drawing/2014/main" id="{B94EB4EC-2CFA-4F9D-F555-9EF0EA1C7667}"/>
              </a:ext>
            </a:extLst>
          </p:cNvPr>
          <p:cNvPicPr preferRelativeResize="0"/>
          <p:nvPr/>
        </p:nvPicPr>
        <p:blipFill rotWithShape="1">
          <a:blip r:embed="rId3">
            <a:alphaModFix/>
          </a:blip>
          <a:srcRect/>
          <a:stretch/>
        </p:blipFill>
        <p:spPr>
          <a:xfrm>
            <a:off x="11557509" y="233819"/>
            <a:ext cx="271309" cy="389810"/>
          </a:xfrm>
          <a:prstGeom prst="rect">
            <a:avLst/>
          </a:prstGeom>
          <a:noFill/>
          <a:ln>
            <a:noFill/>
          </a:ln>
        </p:spPr>
      </p:pic>
      <p:sp>
        <p:nvSpPr>
          <p:cNvPr id="594" name="Google Shape;594;g330b2db8419_2_73">
            <a:extLst>
              <a:ext uri="{FF2B5EF4-FFF2-40B4-BE49-F238E27FC236}">
                <a16:creationId xmlns:a16="http://schemas.microsoft.com/office/drawing/2014/main" id="{B19CE735-7B25-C799-1205-5949A0154640}"/>
              </a:ext>
            </a:extLst>
          </p:cNvPr>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595" name="Google Shape;595;g330b2db8419_2_73">
            <a:extLst>
              <a:ext uri="{FF2B5EF4-FFF2-40B4-BE49-F238E27FC236}">
                <a16:creationId xmlns:a16="http://schemas.microsoft.com/office/drawing/2014/main" id="{68A8A14F-F4A1-0184-CCF7-6CC5EB31B2CE}"/>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596" name="Google Shape;596;g330b2db8419_2_73">
            <a:extLst>
              <a:ext uri="{FF2B5EF4-FFF2-40B4-BE49-F238E27FC236}">
                <a16:creationId xmlns:a16="http://schemas.microsoft.com/office/drawing/2014/main" id="{910D68F1-D4B6-EE13-76D8-FBEAD20925F7}"/>
              </a:ext>
            </a:extLst>
          </p:cNvPr>
          <p:cNvGrpSpPr/>
          <p:nvPr/>
        </p:nvGrpSpPr>
        <p:grpSpPr>
          <a:xfrm>
            <a:off x="2622925" y="6601537"/>
            <a:ext cx="6677215" cy="70500"/>
            <a:chOff x="2589675" y="6601537"/>
            <a:chExt cx="6677215" cy="70500"/>
          </a:xfrm>
        </p:grpSpPr>
        <p:cxnSp>
          <p:nvCxnSpPr>
            <p:cNvPr id="597" name="Google Shape;597;g330b2db8419_2_73">
              <a:extLst>
                <a:ext uri="{FF2B5EF4-FFF2-40B4-BE49-F238E27FC236}">
                  <a16:creationId xmlns:a16="http://schemas.microsoft.com/office/drawing/2014/main" id="{509A0EED-A395-6FC2-3BE6-ECE723F78922}"/>
                </a:ext>
              </a:extLst>
            </p:cNvPr>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598" name="Google Shape;598;g330b2db8419_2_73">
              <a:extLst>
                <a:ext uri="{FF2B5EF4-FFF2-40B4-BE49-F238E27FC236}">
                  <a16:creationId xmlns:a16="http://schemas.microsoft.com/office/drawing/2014/main" id="{1BE15D1C-24EB-4930-6F7B-E5CAFB0BC8B0}"/>
                </a:ext>
              </a:extLst>
            </p:cNvPr>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599" name="Google Shape;599;g330b2db8419_2_73">
            <a:extLst>
              <a:ext uri="{FF2B5EF4-FFF2-40B4-BE49-F238E27FC236}">
                <a16:creationId xmlns:a16="http://schemas.microsoft.com/office/drawing/2014/main" id="{1821F25A-700A-358E-DD6B-F222156A58C5}"/>
              </a:ext>
            </a:extLst>
          </p:cNvPr>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38</a:t>
            </a:fld>
            <a:endParaRPr/>
          </a:p>
        </p:txBody>
      </p:sp>
      <p:sp>
        <p:nvSpPr>
          <p:cNvPr id="8" name="文本框 7">
            <a:extLst>
              <a:ext uri="{FF2B5EF4-FFF2-40B4-BE49-F238E27FC236}">
                <a16:creationId xmlns:a16="http://schemas.microsoft.com/office/drawing/2014/main" id="{0E07D657-37BE-0F94-DAF6-0A6749A75E90}"/>
              </a:ext>
            </a:extLst>
          </p:cNvPr>
          <p:cNvSpPr txBox="1"/>
          <p:nvPr/>
        </p:nvSpPr>
        <p:spPr>
          <a:xfrm>
            <a:off x="766915" y="4522430"/>
            <a:ext cx="10574810" cy="1938992"/>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Workflow</a:t>
            </a:r>
          </a:p>
          <a:p>
            <a:r>
              <a:rPr lang="en-US" altLang="zh-CN" sz="2400" dirty="0">
                <a:latin typeface="Times New Roman" panose="02020603050405020304" pitchFamily="18" charset="0"/>
                <a:cs typeface="Times New Roman" panose="02020603050405020304" pitchFamily="18" charset="0"/>
              </a:rPr>
              <a:t>•The fusor </a:t>
            </a:r>
            <a:r>
              <a:rPr lang="en-US" altLang="zh-CN" sz="2400" b="1" dirty="0">
                <a:latin typeface="Times New Roman" panose="02020603050405020304" pitchFamily="18" charset="0"/>
                <a:cs typeface="Times New Roman" panose="02020603050405020304" pitchFamily="18" charset="0"/>
              </a:rPr>
              <a:t>waits</a:t>
            </a:r>
            <a:r>
              <a:rPr lang="en-US" altLang="zh-CN" sz="2400" dirty="0">
                <a:latin typeface="Times New Roman" panose="02020603050405020304" pitchFamily="18" charset="0"/>
                <a:cs typeface="Times New Roman" panose="02020603050405020304" pitchFamily="18" charset="0"/>
              </a:rPr>
              <a:t> until: </a:t>
            </a:r>
            <a:r>
              <a:rPr lang="en-US" altLang="zh-CN" sz="2400" b="1" dirty="0">
                <a:latin typeface="Times New Roman" panose="02020603050405020304" pitchFamily="18" charset="0"/>
                <a:cs typeface="Times New Roman" panose="02020603050405020304" pitchFamily="18" charset="0"/>
              </a:rPr>
              <a:t>recompute</a:t>
            </a:r>
            <a:r>
              <a:rPr lang="en-US" altLang="zh-CN" sz="2400" dirty="0">
                <a:latin typeface="Times New Roman" panose="02020603050405020304" pitchFamily="18" charset="0"/>
                <a:cs typeface="Times New Roman" panose="02020603050405020304" pitchFamily="18" charset="0"/>
              </a:rPr>
              <a:t> for the previous layer is done &amp; </a:t>
            </a:r>
            <a:r>
              <a:rPr lang="en-US" altLang="zh-CN" sz="2400" b="1" dirty="0">
                <a:latin typeface="Times New Roman" panose="02020603050405020304" pitchFamily="18" charset="0"/>
                <a:cs typeface="Times New Roman" panose="02020603050405020304" pitchFamily="18" charset="0"/>
              </a:rPr>
              <a:t>KV caches </a:t>
            </a:r>
            <a:r>
              <a:rPr lang="en-US" altLang="zh-CN" sz="2400" dirty="0">
                <a:latin typeface="Times New Roman" panose="02020603050405020304" pitchFamily="18" charset="0"/>
                <a:cs typeface="Times New Roman" panose="02020603050405020304" pitchFamily="18" charset="0"/>
              </a:rPr>
              <a:t>for layer L are loaded.</a:t>
            </a:r>
          </a:p>
          <a:p>
            <a:r>
              <a:rPr lang="en-US" altLang="zh-CN" sz="2400" dirty="0">
                <a:latin typeface="Times New Roman" panose="02020603050405020304" pitchFamily="18" charset="0"/>
                <a:cs typeface="Times New Roman" panose="02020603050405020304" pitchFamily="18" charset="0"/>
              </a:rPr>
              <a:t>•The fusor performs </a:t>
            </a:r>
            <a:r>
              <a:rPr lang="en-US" altLang="zh-CN" sz="2400" b="1" dirty="0">
                <a:latin typeface="Times New Roman" panose="02020603050405020304" pitchFamily="18" charset="0"/>
                <a:cs typeface="Times New Roman" panose="02020603050405020304" pitchFamily="18" charset="0"/>
              </a:rPr>
              <a:t>selective recompute </a:t>
            </a:r>
            <a:r>
              <a:rPr lang="en-US" altLang="zh-CN" sz="2400" dirty="0">
                <a:latin typeface="Times New Roman" panose="02020603050405020304" pitchFamily="18" charset="0"/>
                <a:cs typeface="Times New Roman" panose="02020603050405020304" pitchFamily="18" charset="0"/>
              </a:rPr>
              <a:t>using r% calculated by the load controller.</a:t>
            </a:r>
          </a:p>
          <a:p>
            <a:r>
              <a:rPr lang="en-US" altLang="zh-CN" sz="2400" dirty="0">
                <a:latin typeface="Times New Roman" panose="02020603050405020304" pitchFamily="18" charset="0"/>
                <a:cs typeface="Times New Roman" panose="02020603050405020304" pitchFamily="18" charset="0"/>
              </a:rPr>
              <a:t>•Repeats until all layers are recomputed.</a:t>
            </a:r>
            <a:endParaRPr lang="zh-CN" altLang="en-US" sz="2400"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508E4761-74CE-3641-DA47-B3285A79CEAA}"/>
              </a:ext>
            </a:extLst>
          </p:cNvPr>
          <p:cNvPicPr>
            <a:picLocks noChangeAspect="1"/>
          </p:cNvPicPr>
          <p:nvPr/>
        </p:nvPicPr>
        <p:blipFill>
          <a:blip r:embed="rId4"/>
          <a:stretch>
            <a:fillRect/>
          </a:stretch>
        </p:blipFill>
        <p:spPr>
          <a:xfrm>
            <a:off x="647429" y="925426"/>
            <a:ext cx="10745700" cy="3543795"/>
          </a:xfrm>
          <a:prstGeom prst="rect">
            <a:avLst/>
          </a:prstGeom>
        </p:spPr>
      </p:pic>
      <p:sp>
        <p:nvSpPr>
          <p:cNvPr id="7" name="矩形 6">
            <a:extLst>
              <a:ext uri="{FF2B5EF4-FFF2-40B4-BE49-F238E27FC236}">
                <a16:creationId xmlns:a16="http://schemas.microsoft.com/office/drawing/2014/main" id="{01ADC7A0-F224-B410-CB38-8486A836DE06}"/>
              </a:ext>
            </a:extLst>
          </p:cNvPr>
          <p:cNvSpPr/>
          <p:nvPr/>
        </p:nvSpPr>
        <p:spPr>
          <a:xfrm>
            <a:off x="5279240" y="2816686"/>
            <a:ext cx="1604159" cy="94251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942811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89">
          <a:extLst>
            <a:ext uri="{FF2B5EF4-FFF2-40B4-BE49-F238E27FC236}">
              <a16:creationId xmlns:a16="http://schemas.microsoft.com/office/drawing/2014/main" id="{7AD001E6-5C59-7FD5-F104-9BC137567B26}"/>
            </a:ext>
          </a:extLst>
        </p:cNvPr>
        <p:cNvGrpSpPr/>
        <p:nvPr/>
      </p:nvGrpSpPr>
      <p:grpSpPr>
        <a:xfrm>
          <a:off x="0" y="0"/>
          <a:ext cx="0" cy="0"/>
          <a:chOff x="0" y="0"/>
          <a:chExt cx="0" cy="0"/>
        </a:xfrm>
      </p:grpSpPr>
      <p:sp>
        <p:nvSpPr>
          <p:cNvPr id="590" name="Google Shape;590;g330b2db8419_2_73">
            <a:extLst>
              <a:ext uri="{FF2B5EF4-FFF2-40B4-BE49-F238E27FC236}">
                <a16:creationId xmlns:a16="http://schemas.microsoft.com/office/drawing/2014/main" id="{06DBC0F0-E178-FFDB-59B7-757C4479BF41}"/>
              </a:ext>
            </a:extLst>
          </p:cNvPr>
          <p:cNvSpPr txBox="1"/>
          <p:nvPr/>
        </p:nvSpPr>
        <p:spPr>
          <a:xfrm>
            <a:off x="114162" y="4899898"/>
            <a:ext cx="11327100" cy="1812417"/>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600"/>
              </a:spcBef>
              <a:spcAft>
                <a:spcPts val="600"/>
              </a:spcAft>
              <a:buNone/>
            </a:pPr>
            <a:endParaRPr sz="1800" dirty="0">
              <a:solidFill>
                <a:schemeClr val="dk1"/>
              </a:solidFill>
              <a:latin typeface="Times New Roman" panose="02020603050405020304" pitchFamily="18" charset="0"/>
              <a:ea typeface="Roboto"/>
              <a:cs typeface="Times New Roman" panose="02020603050405020304" pitchFamily="18" charset="0"/>
              <a:sym typeface="Roboto"/>
            </a:endParaRPr>
          </a:p>
        </p:txBody>
      </p:sp>
      <p:sp>
        <p:nvSpPr>
          <p:cNvPr id="591" name="Google Shape;591;g330b2db8419_2_73">
            <a:extLst>
              <a:ext uri="{FF2B5EF4-FFF2-40B4-BE49-F238E27FC236}">
                <a16:creationId xmlns:a16="http://schemas.microsoft.com/office/drawing/2014/main" id="{41453D0B-7EDF-9834-CF24-0E60244846AC}"/>
              </a:ext>
            </a:extLst>
          </p:cNvPr>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592" name="Google Shape;592;g330b2db8419_2_73">
            <a:extLst>
              <a:ext uri="{FF2B5EF4-FFF2-40B4-BE49-F238E27FC236}">
                <a16:creationId xmlns:a16="http://schemas.microsoft.com/office/drawing/2014/main" id="{1342C97A-6A44-8EAD-BE08-547D4B602475}"/>
              </a:ext>
            </a:extLst>
          </p:cNvPr>
          <p:cNvSpPr txBox="1"/>
          <p:nvPr/>
        </p:nvSpPr>
        <p:spPr>
          <a:xfrm>
            <a:off x="114162" y="145685"/>
            <a:ext cx="10910100"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US" altLang="zh-CN" sz="3200" dirty="0">
                <a:solidFill>
                  <a:schemeClr val="lt1"/>
                </a:solidFill>
                <a:latin typeface="Times New Roman" panose="02020603050405020304" pitchFamily="18" charset="0"/>
                <a:cs typeface="Times New Roman" panose="02020603050405020304" pitchFamily="18" charset="0"/>
              </a:rPr>
              <a:t>Evaluation</a:t>
            </a:r>
            <a:endParaRPr sz="3200" b="0" i="0" u="none" strike="noStrike" cap="none" dirty="0">
              <a:solidFill>
                <a:schemeClr val="lt1"/>
              </a:solidFill>
              <a:latin typeface="Times New Roman" panose="02020603050405020304" pitchFamily="18" charset="0"/>
              <a:cs typeface="Times New Roman" panose="02020603050405020304" pitchFamily="18" charset="0"/>
              <a:sym typeface="Arial"/>
            </a:endParaRPr>
          </a:p>
        </p:txBody>
      </p:sp>
      <p:pic>
        <p:nvPicPr>
          <p:cNvPr id="593" name="Google Shape;593;g330b2db8419_2_73">
            <a:extLst>
              <a:ext uri="{FF2B5EF4-FFF2-40B4-BE49-F238E27FC236}">
                <a16:creationId xmlns:a16="http://schemas.microsoft.com/office/drawing/2014/main" id="{93BE40FA-AFD4-305E-2805-299898B9B365}"/>
              </a:ext>
            </a:extLst>
          </p:cNvPr>
          <p:cNvPicPr preferRelativeResize="0"/>
          <p:nvPr/>
        </p:nvPicPr>
        <p:blipFill rotWithShape="1">
          <a:blip r:embed="rId3">
            <a:alphaModFix/>
          </a:blip>
          <a:srcRect/>
          <a:stretch/>
        </p:blipFill>
        <p:spPr>
          <a:xfrm>
            <a:off x="11557509" y="233819"/>
            <a:ext cx="271309" cy="389810"/>
          </a:xfrm>
          <a:prstGeom prst="rect">
            <a:avLst/>
          </a:prstGeom>
          <a:noFill/>
          <a:ln>
            <a:noFill/>
          </a:ln>
        </p:spPr>
      </p:pic>
      <p:sp>
        <p:nvSpPr>
          <p:cNvPr id="594" name="Google Shape;594;g330b2db8419_2_73">
            <a:extLst>
              <a:ext uri="{FF2B5EF4-FFF2-40B4-BE49-F238E27FC236}">
                <a16:creationId xmlns:a16="http://schemas.microsoft.com/office/drawing/2014/main" id="{AACE72CD-CEA6-359E-13C3-4C6721D3DC24}"/>
              </a:ext>
            </a:extLst>
          </p:cNvPr>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595" name="Google Shape;595;g330b2db8419_2_73">
            <a:extLst>
              <a:ext uri="{FF2B5EF4-FFF2-40B4-BE49-F238E27FC236}">
                <a16:creationId xmlns:a16="http://schemas.microsoft.com/office/drawing/2014/main" id="{6C87A32D-FD48-D7A5-A31B-B1EAF7ABA153}"/>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596" name="Google Shape;596;g330b2db8419_2_73">
            <a:extLst>
              <a:ext uri="{FF2B5EF4-FFF2-40B4-BE49-F238E27FC236}">
                <a16:creationId xmlns:a16="http://schemas.microsoft.com/office/drawing/2014/main" id="{506ACC2D-4966-A7D6-4D4C-96EE46C49CD6}"/>
              </a:ext>
            </a:extLst>
          </p:cNvPr>
          <p:cNvGrpSpPr/>
          <p:nvPr/>
        </p:nvGrpSpPr>
        <p:grpSpPr>
          <a:xfrm>
            <a:off x="2622925" y="6601537"/>
            <a:ext cx="6677215" cy="70500"/>
            <a:chOff x="2589675" y="6601537"/>
            <a:chExt cx="6677215" cy="70500"/>
          </a:xfrm>
        </p:grpSpPr>
        <p:cxnSp>
          <p:nvCxnSpPr>
            <p:cNvPr id="597" name="Google Shape;597;g330b2db8419_2_73">
              <a:extLst>
                <a:ext uri="{FF2B5EF4-FFF2-40B4-BE49-F238E27FC236}">
                  <a16:creationId xmlns:a16="http://schemas.microsoft.com/office/drawing/2014/main" id="{32CEF0EC-9997-BF23-6CCA-97AA0E688916}"/>
                </a:ext>
              </a:extLst>
            </p:cNvPr>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598" name="Google Shape;598;g330b2db8419_2_73">
              <a:extLst>
                <a:ext uri="{FF2B5EF4-FFF2-40B4-BE49-F238E27FC236}">
                  <a16:creationId xmlns:a16="http://schemas.microsoft.com/office/drawing/2014/main" id="{6BA94F3C-4EDD-0D41-A3B2-DDEA7628BA4A}"/>
                </a:ext>
              </a:extLst>
            </p:cNvPr>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599" name="Google Shape;599;g330b2db8419_2_73">
            <a:extLst>
              <a:ext uri="{FF2B5EF4-FFF2-40B4-BE49-F238E27FC236}">
                <a16:creationId xmlns:a16="http://schemas.microsoft.com/office/drawing/2014/main" id="{48ED64D5-F717-4F16-66F7-3EE48B79A124}"/>
              </a:ext>
            </a:extLst>
          </p:cNvPr>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39</a:t>
            </a:fld>
            <a:endParaRPr/>
          </a:p>
        </p:txBody>
      </p:sp>
      <p:pic>
        <p:nvPicPr>
          <p:cNvPr id="3" name="图片 2">
            <a:extLst>
              <a:ext uri="{FF2B5EF4-FFF2-40B4-BE49-F238E27FC236}">
                <a16:creationId xmlns:a16="http://schemas.microsoft.com/office/drawing/2014/main" id="{9DDD2DD2-9F16-A951-20B2-4D72FAEFA66A}"/>
              </a:ext>
            </a:extLst>
          </p:cNvPr>
          <p:cNvPicPr>
            <a:picLocks noChangeAspect="1"/>
          </p:cNvPicPr>
          <p:nvPr/>
        </p:nvPicPr>
        <p:blipFill>
          <a:blip r:embed="rId4"/>
          <a:stretch>
            <a:fillRect/>
          </a:stretch>
        </p:blipFill>
        <p:spPr>
          <a:xfrm>
            <a:off x="1379619" y="1060791"/>
            <a:ext cx="9849853" cy="5463590"/>
          </a:xfrm>
          <a:prstGeom prst="rect">
            <a:avLst/>
          </a:prstGeom>
        </p:spPr>
      </p:pic>
    </p:spTree>
    <p:extLst>
      <p:ext uri="{BB962C8B-B14F-4D97-AF65-F5344CB8AC3E}">
        <p14:creationId xmlns:p14="http://schemas.microsoft.com/office/powerpoint/2010/main" val="11421477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89">
          <a:extLst>
            <a:ext uri="{FF2B5EF4-FFF2-40B4-BE49-F238E27FC236}">
              <a16:creationId xmlns:a16="http://schemas.microsoft.com/office/drawing/2014/main" id="{41A27B09-E222-0392-96FE-5EC0B69B0190}"/>
            </a:ext>
          </a:extLst>
        </p:cNvPr>
        <p:cNvGrpSpPr/>
        <p:nvPr/>
      </p:nvGrpSpPr>
      <p:grpSpPr>
        <a:xfrm>
          <a:off x="0" y="0"/>
          <a:ext cx="0" cy="0"/>
          <a:chOff x="0" y="0"/>
          <a:chExt cx="0" cy="0"/>
        </a:xfrm>
      </p:grpSpPr>
      <p:sp>
        <p:nvSpPr>
          <p:cNvPr id="590" name="Google Shape;590;g330b2db8419_2_73">
            <a:extLst>
              <a:ext uri="{FF2B5EF4-FFF2-40B4-BE49-F238E27FC236}">
                <a16:creationId xmlns:a16="http://schemas.microsoft.com/office/drawing/2014/main" id="{7592FE2F-0B1A-D605-C7AA-10FA20E4F7A5}"/>
              </a:ext>
            </a:extLst>
          </p:cNvPr>
          <p:cNvSpPr txBox="1"/>
          <p:nvPr/>
        </p:nvSpPr>
        <p:spPr>
          <a:xfrm>
            <a:off x="114162" y="4899898"/>
            <a:ext cx="11327100" cy="1812417"/>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600"/>
              </a:spcBef>
              <a:spcAft>
                <a:spcPts val="600"/>
              </a:spcAft>
              <a:buNone/>
            </a:pPr>
            <a:endParaRPr sz="1800" dirty="0">
              <a:solidFill>
                <a:schemeClr val="dk1"/>
              </a:solidFill>
              <a:latin typeface="Times New Roman" panose="02020603050405020304" pitchFamily="18" charset="0"/>
              <a:ea typeface="Roboto"/>
              <a:cs typeface="Times New Roman" panose="02020603050405020304" pitchFamily="18" charset="0"/>
              <a:sym typeface="Roboto"/>
            </a:endParaRPr>
          </a:p>
        </p:txBody>
      </p:sp>
      <p:sp>
        <p:nvSpPr>
          <p:cNvPr id="591" name="Google Shape;591;g330b2db8419_2_73">
            <a:extLst>
              <a:ext uri="{FF2B5EF4-FFF2-40B4-BE49-F238E27FC236}">
                <a16:creationId xmlns:a16="http://schemas.microsoft.com/office/drawing/2014/main" id="{4AA3FB03-6E79-4D6F-7F19-648A057AEA75}"/>
              </a:ext>
            </a:extLst>
          </p:cNvPr>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592" name="Google Shape;592;g330b2db8419_2_73">
            <a:extLst>
              <a:ext uri="{FF2B5EF4-FFF2-40B4-BE49-F238E27FC236}">
                <a16:creationId xmlns:a16="http://schemas.microsoft.com/office/drawing/2014/main" id="{89AB94B8-9C2B-750F-3C8C-2AE7589EB4A4}"/>
              </a:ext>
            </a:extLst>
          </p:cNvPr>
          <p:cNvSpPr txBox="1"/>
          <p:nvPr/>
        </p:nvSpPr>
        <p:spPr>
          <a:xfrm>
            <a:off x="114162" y="145685"/>
            <a:ext cx="10910100"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US" altLang="zh-CN" sz="3200" dirty="0">
                <a:solidFill>
                  <a:schemeClr val="lt1"/>
                </a:solidFill>
                <a:latin typeface="Times New Roman" panose="02020603050405020304" pitchFamily="18" charset="0"/>
                <a:cs typeface="Times New Roman" panose="02020603050405020304" pitchFamily="18" charset="0"/>
              </a:rPr>
              <a:t>Evaluation</a:t>
            </a:r>
            <a:endParaRPr sz="3200" b="0" i="0" u="none" strike="noStrike" cap="none" dirty="0">
              <a:solidFill>
                <a:schemeClr val="lt1"/>
              </a:solidFill>
              <a:latin typeface="Times New Roman" panose="02020603050405020304" pitchFamily="18" charset="0"/>
              <a:cs typeface="Times New Roman" panose="02020603050405020304" pitchFamily="18" charset="0"/>
              <a:sym typeface="Arial"/>
            </a:endParaRPr>
          </a:p>
        </p:txBody>
      </p:sp>
      <p:pic>
        <p:nvPicPr>
          <p:cNvPr id="593" name="Google Shape;593;g330b2db8419_2_73">
            <a:extLst>
              <a:ext uri="{FF2B5EF4-FFF2-40B4-BE49-F238E27FC236}">
                <a16:creationId xmlns:a16="http://schemas.microsoft.com/office/drawing/2014/main" id="{77EBF87B-22AE-D9B8-31BC-053B20F656C3}"/>
              </a:ext>
            </a:extLst>
          </p:cNvPr>
          <p:cNvPicPr preferRelativeResize="0"/>
          <p:nvPr/>
        </p:nvPicPr>
        <p:blipFill rotWithShape="1">
          <a:blip r:embed="rId3">
            <a:alphaModFix/>
          </a:blip>
          <a:srcRect/>
          <a:stretch/>
        </p:blipFill>
        <p:spPr>
          <a:xfrm>
            <a:off x="11557509" y="233819"/>
            <a:ext cx="271309" cy="389810"/>
          </a:xfrm>
          <a:prstGeom prst="rect">
            <a:avLst/>
          </a:prstGeom>
          <a:noFill/>
          <a:ln>
            <a:noFill/>
          </a:ln>
        </p:spPr>
      </p:pic>
      <p:sp>
        <p:nvSpPr>
          <p:cNvPr id="594" name="Google Shape;594;g330b2db8419_2_73">
            <a:extLst>
              <a:ext uri="{FF2B5EF4-FFF2-40B4-BE49-F238E27FC236}">
                <a16:creationId xmlns:a16="http://schemas.microsoft.com/office/drawing/2014/main" id="{330A3EA3-5CCD-4B7D-3FBC-F895E9EB71C1}"/>
              </a:ext>
            </a:extLst>
          </p:cNvPr>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595" name="Google Shape;595;g330b2db8419_2_73">
            <a:extLst>
              <a:ext uri="{FF2B5EF4-FFF2-40B4-BE49-F238E27FC236}">
                <a16:creationId xmlns:a16="http://schemas.microsoft.com/office/drawing/2014/main" id="{6930DB96-E9D8-57B3-C18D-639DDA565D2D}"/>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596" name="Google Shape;596;g330b2db8419_2_73">
            <a:extLst>
              <a:ext uri="{FF2B5EF4-FFF2-40B4-BE49-F238E27FC236}">
                <a16:creationId xmlns:a16="http://schemas.microsoft.com/office/drawing/2014/main" id="{B2BF1FF8-F600-AF9D-8041-20E4CC8C0808}"/>
              </a:ext>
            </a:extLst>
          </p:cNvPr>
          <p:cNvGrpSpPr/>
          <p:nvPr/>
        </p:nvGrpSpPr>
        <p:grpSpPr>
          <a:xfrm>
            <a:off x="2622925" y="6601537"/>
            <a:ext cx="6677215" cy="70500"/>
            <a:chOff x="2589675" y="6601537"/>
            <a:chExt cx="6677215" cy="70500"/>
          </a:xfrm>
        </p:grpSpPr>
        <p:cxnSp>
          <p:nvCxnSpPr>
            <p:cNvPr id="597" name="Google Shape;597;g330b2db8419_2_73">
              <a:extLst>
                <a:ext uri="{FF2B5EF4-FFF2-40B4-BE49-F238E27FC236}">
                  <a16:creationId xmlns:a16="http://schemas.microsoft.com/office/drawing/2014/main" id="{36FB02D9-D5D8-98BE-8E7D-97C393D9981A}"/>
                </a:ext>
              </a:extLst>
            </p:cNvPr>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598" name="Google Shape;598;g330b2db8419_2_73">
              <a:extLst>
                <a:ext uri="{FF2B5EF4-FFF2-40B4-BE49-F238E27FC236}">
                  <a16:creationId xmlns:a16="http://schemas.microsoft.com/office/drawing/2014/main" id="{D9E193C5-490B-1181-5646-26C744702913}"/>
                </a:ext>
              </a:extLst>
            </p:cNvPr>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599" name="Google Shape;599;g330b2db8419_2_73">
            <a:extLst>
              <a:ext uri="{FF2B5EF4-FFF2-40B4-BE49-F238E27FC236}">
                <a16:creationId xmlns:a16="http://schemas.microsoft.com/office/drawing/2014/main" id="{5EFEE984-CB92-31B3-C90A-20A9447C4E24}"/>
              </a:ext>
            </a:extLst>
          </p:cNvPr>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40</a:t>
            </a:fld>
            <a:endParaRPr/>
          </a:p>
        </p:txBody>
      </p:sp>
      <p:pic>
        <p:nvPicPr>
          <p:cNvPr id="3" name="图片 2">
            <a:extLst>
              <a:ext uri="{FF2B5EF4-FFF2-40B4-BE49-F238E27FC236}">
                <a16:creationId xmlns:a16="http://schemas.microsoft.com/office/drawing/2014/main" id="{19508EF6-038B-4441-DCC6-36A61554D922}"/>
              </a:ext>
            </a:extLst>
          </p:cNvPr>
          <p:cNvPicPr>
            <a:picLocks noChangeAspect="1"/>
          </p:cNvPicPr>
          <p:nvPr/>
        </p:nvPicPr>
        <p:blipFill>
          <a:blip r:embed="rId4"/>
          <a:stretch>
            <a:fillRect/>
          </a:stretch>
        </p:blipFill>
        <p:spPr>
          <a:xfrm>
            <a:off x="205451" y="1668485"/>
            <a:ext cx="11443347" cy="3521030"/>
          </a:xfrm>
          <a:prstGeom prst="rect">
            <a:avLst/>
          </a:prstGeom>
        </p:spPr>
      </p:pic>
    </p:spTree>
    <p:extLst>
      <p:ext uri="{BB962C8B-B14F-4D97-AF65-F5344CB8AC3E}">
        <p14:creationId xmlns:p14="http://schemas.microsoft.com/office/powerpoint/2010/main" val="36660855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89">
          <a:extLst>
            <a:ext uri="{FF2B5EF4-FFF2-40B4-BE49-F238E27FC236}">
              <a16:creationId xmlns:a16="http://schemas.microsoft.com/office/drawing/2014/main" id="{C8F59E5B-D4DE-E05C-9C49-C56E926B1785}"/>
            </a:ext>
          </a:extLst>
        </p:cNvPr>
        <p:cNvGrpSpPr/>
        <p:nvPr/>
      </p:nvGrpSpPr>
      <p:grpSpPr>
        <a:xfrm>
          <a:off x="0" y="0"/>
          <a:ext cx="0" cy="0"/>
          <a:chOff x="0" y="0"/>
          <a:chExt cx="0" cy="0"/>
        </a:xfrm>
      </p:grpSpPr>
      <p:sp>
        <p:nvSpPr>
          <p:cNvPr id="590" name="Google Shape;590;g330b2db8419_2_73">
            <a:extLst>
              <a:ext uri="{FF2B5EF4-FFF2-40B4-BE49-F238E27FC236}">
                <a16:creationId xmlns:a16="http://schemas.microsoft.com/office/drawing/2014/main" id="{BE7EFD7C-4248-6342-9E9A-00A57E44B1AC}"/>
              </a:ext>
            </a:extLst>
          </p:cNvPr>
          <p:cNvSpPr txBox="1"/>
          <p:nvPr/>
        </p:nvSpPr>
        <p:spPr>
          <a:xfrm>
            <a:off x="114162" y="4899898"/>
            <a:ext cx="11327100" cy="1812417"/>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600"/>
              </a:spcBef>
              <a:spcAft>
                <a:spcPts val="600"/>
              </a:spcAft>
              <a:buNone/>
            </a:pPr>
            <a:endParaRPr sz="1800" dirty="0">
              <a:solidFill>
                <a:schemeClr val="dk1"/>
              </a:solidFill>
              <a:latin typeface="Times New Roman" panose="02020603050405020304" pitchFamily="18" charset="0"/>
              <a:ea typeface="Roboto"/>
              <a:cs typeface="Times New Roman" panose="02020603050405020304" pitchFamily="18" charset="0"/>
              <a:sym typeface="Roboto"/>
            </a:endParaRPr>
          </a:p>
        </p:txBody>
      </p:sp>
      <p:sp>
        <p:nvSpPr>
          <p:cNvPr id="591" name="Google Shape;591;g330b2db8419_2_73">
            <a:extLst>
              <a:ext uri="{FF2B5EF4-FFF2-40B4-BE49-F238E27FC236}">
                <a16:creationId xmlns:a16="http://schemas.microsoft.com/office/drawing/2014/main" id="{716431F6-9339-0899-C034-AF3B697266A2}"/>
              </a:ext>
            </a:extLst>
          </p:cNvPr>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592" name="Google Shape;592;g330b2db8419_2_73">
            <a:extLst>
              <a:ext uri="{FF2B5EF4-FFF2-40B4-BE49-F238E27FC236}">
                <a16:creationId xmlns:a16="http://schemas.microsoft.com/office/drawing/2014/main" id="{4C3A5556-CD98-6E12-57A1-934B0CF1E539}"/>
              </a:ext>
            </a:extLst>
          </p:cNvPr>
          <p:cNvSpPr txBox="1"/>
          <p:nvPr/>
        </p:nvSpPr>
        <p:spPr>
          <a:xfrm>
            <a:off x="114162" y="145685"/>
            <a:ext cx="10910100"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US" sz="3200" b="0" i="0" u="none" strike="noStrike" cap="none" dirty="0">
                <a:solidFill>
                  <a:schemeClr val="lt1"/>
                </a:solidFill>
                <a:latin typeface="Times New Roman" panose="02020603050405020304" pitchFamily="18" charset="0"/>
                <a:cs typeface="Times New Roman" panose="02020603050405020304" pitchFamily="18" charset="0"/>
                <a:sym typeface="Arial"/>
              </a:rPr>
              <a:t>Pro / Con Dis</a:t>
            </a:r>
            <a:r>
              <a:rPr lang="en-US" sz="3200" dirty="0">
                <a:solidFill>
                  <a:schemeClr val="lt1"/>
                </a:solidFill>
                <a:latin typeface="Times New Roman" panose="02020603050405020304" pitchFamily="18" charset="0"/>
                <a:cs typeface="Times New Roman" panose="02020603050405020304" pitchFamily="18" charset="0"/>
              </a:rPr>
              <a:t>cussion</a:t>
            </a:r>
            <a:endParaRPr sz="3200" b="0" i="0" u="none" strike="noStrike" cap="none" dirty="0">
              <a:solidFill>
                <a:schemeClr val="lt1"/>
              </a:solidFill>
              <a:latin typeface="Times New Roman" panose="02020603050405020304" pitchFamily="18" charset="0"/>
              <a:cs typeface="Times New Roman" panose="02020603050405020304" pitchFamily="18" charset="0"/>
              <a:sym typeface="Arial"/>
            </a:endParaRPr>
          </a:p>
        </p:txBody>
      </p:sp>
      <p:pic>
        <p:nvPicPr>
          <p:cNvPr id="593" name="Google Shape;593;g330b2db8419_2_73">
            <a:extLst>
              <a:ext uri="{FF2B5EF4-FFF2-40B4-BE49-F238E27FC236}">
                <a16:creationId xmlns:a16="http://schemas.microsoft.com/office/drawing/2014/main" id="{C1128539-558E-2084-FC2C-8E11BBEAC37B}"/>
              </a:ext>
            </a:extLst>
          </p:cNvPr>
          <p:cNvPicPr preferRelativeResize="0"/>
          <p:nvPr/>
        </p:nvPicPr>
        <p:blipFill rotWithShape="1">
          <a:blip r:embed="rId3">
            <a:alphaModFix/>
          </a:blip>
          <a:srcRect/>
          <a:stretch/>
        </p:blipFill>
        <p:spPr>
          <a:xfrm>
            <a:off x="11557509" y="233819"/>
            <a:ext cx="271309" cy="389810"/>
          </a:xfrm>
          <a:prstGeom prst="rect">
            <a:avLst/>
          </a:prstGeom>
          <a:noFill/>
          <a:ln>
            <a:noFill/>
          </a:ln>
        </p:spPr>
      </p:pic>
      <p:sp>
        <p:nvSpPr>
          <p:cNvPr id="594" name="Google Shape;594;g330b2db8419_2_73">
            <a:extLst>
              <a:ext uri="{FF2B5EF4-FFF2-40B4-BE49-F238E27FC236}">
                <a16:creationId xmlns:a16="http://schemas.microsoft.com/office/drawing/2014/main" id="{F6521136-C3BB-7D81-5729-D9D8DFD864E3}"/>
              </a:ext>
            </a:extLst>
          </p:cNvPr>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595" name="Google Shape;595;g330b2db8419_2_73">
            <a:extLst>
              <a:ext uri="{FF2B5EF4-FFF2-40B4-BE49-F238E27FC236}">
                <a16:creationId xmlns:a16="http://schemas.microsoft.com/office/drawing/2014/main" id="{8D7199C4-F51A-849C-B2A3-2BC8BE902AD8}"/>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596" name="Google Shape;596;g330b2db8419_2_73">
            <a:extLst>
              <a:ext uri="{FF2B5EF4-FFF2-40B4-BE49-F238E27FC236}">
                <a16:creationId xmlns:a16="http://schemas.microsoft.com/office/drawing/2014/main" id="{E1141639-4B83-D0EF-04FA-59125BDF9A43}"/>
              </a:ext>
            </a:extLst>
          </p:cNvPr>
          <p:cNvGrpSpPr/>
          <p:nvPr/>
        </p:nvGrpSpPr>
        <p:grpSpPr>
          <a:xfrm>
            <a:off x="2622925" y="6601537"/>
            <a:ext cx="6677215" cy="70500"/>
            <a:chOff x="2589675" y="6601537"/>
            <a:chExt cx="6677215" cy="70500"/>
          </a:xfrm>
        </p:grpSpPr>
        <p:cxnSp>
          <p:nvCxnSpPr>
            <p:cNvPr id="597" name="Google Shape;597;g330b2db8419_2_73">
              <a:extLst>
                <a:ext uri="{FF2B5EF4-FFF2-40B4-BE49-F238E27FC236}">
                  <a16:creationId xmlns:a16="http://schemas.microsoft.com/office/drawing/2014/main" id="{28E5B72F-18B7-1181-CD04-8BCCC5D3EB44}"/>
                </a:ext>
              </a:extLst>
            </p:cNvPr>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598" name="Google Shape;598;g330b2db8419_2_73">
              <a:extLst>
                <a:ext uri="{FF2B5EF4-FFF2-40B4-BE49-F238E27FC236}">
                  <a16:creationId xmlns:a16="http://schemas.microsoft.com/office/drawing/2014/main" id="{A98791EB-5E39-570F-1CE5-A47B4D0A5E3B}"/>
                </a:ext>
              </a:extLst>
            </p:cNvPr>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599" name="Google Shape;599;g330b2db8419_2_73">
            <a:extLst>
              <a:ext uri="{FF2B5EF4-FFF2-40B4-BE49-F238E27FC236}">
                <a16:creationId xmlns:a16="http://schemas.microsoft.com/office/drawing/2014/main" id="{96DFB7D8-769A-1053-EC77-6C90F2946224}"/>
              </a:ext>
            </a:extLst>
          </p:cNvPr>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41</a:t>
            </a:fld>
            <a:endParaRPr/>
          </a:p>
        </p:txBody>
      </p:sp>
      <p:sp>
        <p:nvSpPr>
          <p:cNvPr id="5" name="文本框 4">
            <a:extLst>
              <a:ext uri="{FF2B5EF4-FFF2-40B4-BE49-F238E27FC236}">
                <a16:creationId xmlns:a16="http://schemas.microsoft.com/office/drawing/2014/main" id="{A10E3439-7581-FCFE-0C2D-3947F82FBA29}"/>
              </a:ext>
            </a:extLst>
          </p:cNvPr>
          <p:cNvSpPr txBox="1"/>
          <p:nvPr/>
        </p:nvSpPr>
        <p:spPr>
          <a:xfrm>
            <a:off x="1219603" y="1729897"/>
            <a:ext cx="4153020" cy="3416320"/>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•Full KV recompute</a:t>
            </a: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•Full KV reuse</a:t>
            </a: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•Prefix caching</a:t>
            </a:r>
            <a:endParaRPr lang="zh-CN" altLang="en-US" sz="2400" dirty="0">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AFFB7D4E-40AE-E3EC-A176-D0697FF26290}"/>
              </a:ext>
            </a:extLst>
          </p:cNvPr>
          <p:cNvSpPr txBox="1"/>
          <p:nvPr/>
        </p:nvSpPr>
        <p:spPr>
          <a:xfrm>
            <a:off x="1515606" y="957886"/>
            <a:ext cx="7714034" cy="584775"/>
          </a:xfrm>
          <a:prstGeom prst="rect">
            <a:avLst/>
          </a:prstGeom>
          <a:noFill/>
        </p:spPr>
        <p:txBody>
          <a:bodyPr wrap="square" rtlCol="0">
            <a:spAutoFit/>
          </a:bodyPr>
          <a:lstStyle/>
          <a:p>
            <a:r>
              <a:rPr lang="en-US" altLang="zh-CN" sz="3200" dirty="0">
                <a:latin typeface="Times New Roman" panose="02020603050405020304" pitchFamily="18" charset="0"/>
                <a:cs typeface="Times New Roman" panose="02020603050405020304" pitchFamily="18" charset="0"/>
              </a:rPr>
              <a:t>Compared To					Pros</a:t>
            </a:r>
            <a:endParaRPr lang="zh-CN" altLang="en-US" sz="3200" dirty="0">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651B7E52-C894-1680-2F3B-BD85091EDF15}"/>
              </a:ext>
            </a:extLst>
          </p:cNvPr>
          <p:cNvSpPr txBox="1"/>
          <p:nvPr/>
        </p:nvSpPr>
        <p:spPr>
          <a:xfrm>
            <a:off x="5927125" y="1609250"/>
            <a:ext cx="5881972" cy="4893647"/>
          </a:xfrm>
          <a:prstGeom prst="rect">
            <a:avLst/>
          </a:prstGeom>
          <a:noFill/>
        </p:spPr>
        <p:txBody>
          <a:bodyPr wrap="square">
            <a:spAutoFit/>
          </a:bodyPr>
          <a:lstStyle/>
          <a:p>
            <a:r>
              <a:rPr lang="en-US" altLang="zh-CN" sz="2400" dirty="0">
                <a:latin typeface="Times New Roman" panose="02020603050405020304" pitchFamily="18" charset="0"/>
                <a:cs typeface="Times New Roman" panose="02020603050405020304" pitchFamily="18" charset="0"/>
              </a:rPr>
              <a:t>Much lower delay and higher throughput due to only a small amount of tokens are recomputed.</a:t>
            </a:r>
          </a:p>
          <a:p>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Maintains cross attention between different chunks.</a:t>
            </a: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Higher throughput, lower delay and lower miss rate since prefix caching simply store multiple versions of the same chunk.</a:t>
            </a: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32422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89">
          <a:extLst>
            <a:ext uri="{FF2B5EF4-FFF2-40B4-BE49-F238E27FC236}">
              <a16:creationId xmlns:a16="http://schemas.microsoft.com/office/drawing/2014/main" id="{227952CA-4E7F-284C-67D7-841683017CFA}"/>
            </a:ext>
          </a:extLst>
        </p:cNvPr>
        <p:cNvGrpSpPr/>
        <p:nvPr/>
      </p:nvGrpSpPr>
      <p:grpSpPr>
        <a:xfrm>
          <a:off x="0" y="0"/>
          <a:ext cx="0" cy="0"/>
          <a:chOff x="0" y="0"/>
          <a:chExt cx="0" cy="0"/>
        </a:xfrm>
      </p:grpSpPr>
      <p:sp>
        <p:nvSpPr>
          <p:cNvPr id="590" name="Google Shape;590;g330b2db8419_2_73">
            <a:extLst>
              <a:ext uri="{FF2B5EF4-FFF2-40B4-BE49-F238E27FC236}">
                <a16:creationId xmlns:a16="http://schemas.microsoft.com/office/drawing/2014/main" id="{1D6755DD-ED35-F51C-4FC0-B5606826FBA5}"/>
              </a:ext>
            </a:extLst>
          </p:cNvPr>
          <p:cNvSpPr txBox="1"/>
          <p:nvPr/>
        </p:nvSpPr>
        <p:spPr>
          <a:xfrm>
            <a:off x="114162" y="4899898"/>
            <a:ext cx="11327100" cy="1812417"/>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600"/>
              </a:spcBef>
              <a:spcAft>
                <a:spcPts val="600"/>
              </a:spcAft>
              <a:buNone/>
            </a:pPr>
            <a:endParaRPr sz="1800" dirty="0">
              <a:solidFill>
                <a:schemeClr val="dk1"/>
              </a:solidFill>
              <a:latin typeface="Times New Roman" panose="02020603050405020304" pitchFamily="18" charset="0"/>
              <a:ea typeface="Roboto"/>
              <a:cs typeface="Times New Roman" panose="02020603050405020304" pitchFamily="18" charset="0"/>
              <a:sym typeface="Roboto"/>
            </a:endParaRPr>
          </a:p>
        </p:txBody>
      </p:sp>
      <p:sp>
        <p:nvSpPr>
          <p:cNvPr id="591" name="Google Shape;591;g330b2db8419_2_73">
            <a:extLst>
              <a:ext uri="{FF2B5EF4-FFF2-40B4-BE49-F238E27FC236}">
                <a16:creationId xmlns:a16="http://schemas.microsoft.com/office/drawing/2014/main" id="{780E74C7-A9CA-F524-0034-BBF7A15B53A9}"/>
              </a:ext>
            </a:extLst>
          </p:cNvPr>
          <p:cNvSpPr/>
          <p:nvPr/>
        </p:nvSpPr>
        <p:spPr>
          <a:xfrm rot="10800000" flipH="1">
            <a:off x="0" y="20"/>
            <a:ext cx="12192000" cy="86820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592" name="Google Shape;592;g330b2db8419_2_73">
            <a:extLst>
              <a:ext uri="{FF2B5EF4-FFF2-40B4-BE49-F238E27FC236}">
                <a16:creationId xmlns:a16="http://schemas.microsoft.com/office/drawing/2014/main" id="{4009D2BC-5ABD-7A29-3A31-70994C814966}"/>
              </a:ext>
            </a:extLst>
          </p:cNvPr>
          <p:cNvSpPr txBox="1"/>
          <p:nvPr/>
        </p:nvSpPr>
        <p:spPr>
          <a:xfrm>
            <a:off x="114162" y="145685"/>
            <a:ext cx="10910100"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US" sz="3200" b="0" i="0" u="none" strike="noStrike" cap="none" dirty="0">
                <a:solidFill>
                  <a:schemeClr val="lt1"/>
                </a:solidFill>
                <a:latin typeface="Times New Roman" panose="02020603050405020304" pitchFamily="18" charset="0"/>
                <a:cs typeface="Times New Roman" panose="02020603050405020304" pitchFamily="18" charset="0"/>
                <a:sym typeface="Arial"/>
              </a:rPr>
              <a:t>Pro / Con Dis</a:t>
            </a:r>
            <a:r>
              <a:rPr lang="en-US" sz="3200" dirty="0">
                <a:solidFill>
                  <a:schemeClr val="lt1"/>
                </a:solidFill>
                <a:latin typeface="Times New Roman" panose="02020603050405020304" pitchFamily="18" charset="0"/>
                <a:cs typeface="Times New Roman" panose="02020603050405020304" pitchFamily="18" charset="0"/>
              </a:rPr>
              <a:t>cussion</a:t>
            </a:r>
            <a:endParaRPr sz="3200" b="0" i="0" u="none" strike="noStrike" cap="none" dirty="0">
              <a:solidFill>
                <a:schemeClr val="lt1"/>
              </a:solidFill>
              <a:latin typeface="Times New Roman" panose="02020603050405020304" pitchFamily="18" charset="0"/>
              <a:cs typeface="Times New Roman" panose="02020603050405020304" pitchFamily="18" charset="0"/>
              <a:sym typeface="Arial"/>
            </a:endParaRPr>
          </a:p>
        </p:txBody>
      </p:sp>
      <p:pic>
        <p:nvPicPr>
          <p:cNvPr id="593" name="Google Shape;593;g330b2db8419_2_73">
            <a:extLst>
              <a:ext uri="{FF2B5EF4-FFF2-40B4-BE49-F238E27FC236}">
                <a16:creationId xmlns:a16="http://schemas.microsoft.com/office/drawing/2014/main" id="{84CE551F-066F-05C9-E600-555A449D12F5}"/>
              </a:ext>
            </a:extLst>
          </p:cNvPr>
          <p:cNvPicPr preferRelativeResize="0"/>
          <p:nvPr/>
        </p:nvPicPr>
        <p:blipFill rotWithShape="1">
          <a:blip r:embed="rId3">
            <a:alphaModFix/>
          </a:blip>
          <a:srcRect/>
          <a:stretch/>
        </p:blipFill>
        <p:spPr>
          <a:xfrm>
            <a:off x="11557509" y="233819"/>
            <a:ext cx="271309" cy="389810"/>
          </a:xfrm>
          <a:prstGeom prst="rect">
            <a:avLst/>
          </a:prstGeom>
          <a:noFill/>
          <a:ln>
            <a:noFill/>
          </a:ln>
        </p:spPr>
      </p:pic>
      <p:sp>
        <p:nvSpPr>
          <p:cNvPr id="594" name="Google Shape;594;g330b2db8419_2_73">
            <a:extLst>
              <a:ext uri="{FF2B5EF4-FFF2-40B4-BE49-F238E27FC236}">
                <a16:creationId xmlns:a16="http://schemas.microsoft.com/office/drawing/2014/main" id="{2E8E5C6A-5BFF-63E8-BED8-8F28D5DE5BA4}"/>
              </a:ext>
            </a:extLst>
          </p:cNvPr>
          <p:cNvSpPr txBox="1"/>
          <p:nvPr/>
        </p:nvSpPr>
        <p:spPr>
          <a:xfrm>
            <a:off x="9335597" y="6524381"/>
            <a:ext cx="247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GRAINGER ENGINEERING</a:t>
            </a:r>
            <a:endParaRPr sz="1400" b="0" i="0" u="none" strike="noStrike" cap="none">
              <a:solidFill>
                <a:srgbClr val="000000"/>
              </a:solidFill>
              <a:latin typeface="Arial"/>
              <a:ea typeface="Arial"/>
              <a:cs typeface="Arial"/>
              <a:sym typeface="Arial"/>
            </a:endParaRPr>
          </a:p>
        </p:txBody>
      </p:sp>
      <p:sp>
        <p:nvSpPr>
          <p:cNvPr id="595" name="Google Shape;595;g330b2db8419_2_73">
            <a:extLst>
              <a:ext uri="{FF2B5EF4-FFF2-40B4-BE49-F238E27FC236}">
                <a16:creationId xmlns:a16="http://schemas.microsoft.com/office/drawing/2014/main" id="{681EBBDC-5E34-C423-4F19-4B8E0476D9CB}"/>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rgbClr val="13294B"/>
                </a:solidFill>
                <a:latin typeface="Arial"/>
                <a:ea typeface="Arial"/>
                <a:cs typeface="Arial"/>
                <a:sym typeface="Arial"/>
              </a:rPr>
              <a:t>COMPUTER SCIENCE</a:t>
            </a:r>
            <a:endParaRPr sz="1400" b="0" i="0" u="none" strike="noStrike" cap="none">
              <a:solidFill>
                <a:srgbClr val="000000"/>
              </a:solidFill>
              <a:latin typeface="Arial"/>
              <a:ea typeface="Arial"/>
              <a:cs typeface="Arial"/>
              <a:sym typeface="Arial"/>
            </a:endParaRPr>
          </a:p>
        </p:txBody>
      </p:sp>
      <p:grpSp>
        <p:nvGrpSpPr>
          <p:cNvPr id="596" name="Google Shape;596;g330b2db8419_2_73">
            <a:extLst>
              <a:ext uri="{FF2B5EF4-FFF2-40B4-BE49-F238E27FC236}">
                <a16:creationId xmlns:a16="http://schemas.microsoft.com/office/drawing/2014/main" id="{B21EA6A5-DD23-51F1-0EEB-1989C80F27E8}"/>
              </a:ext>
            </a:extLst>
          </p:cNvPr>
          <p:cNvGrpSpPr/>
          <p:nvPr/>
        </p:nvGrpSpPr>
        <p:grpSpPr>
          <a:xfrm>
            <a:off x="2622925" y="6601537"/>
            <a:ext cx="6677215" cy="70500"/>
            <a:chOff x="2589675" y="6601537"/>
            <a:chExt cx="6677215" cy="70500"/>
          </a:xfrm>
        </p:grpSpPr>
        <p:cxnSp>
          <p:nvCxnSpPr>
            <p:cNvPr id="597" name="Google Shape;597;g330b2db8419_2_73">
              <a:extLst>
                <a:ext uri="{FF2B5EF4-FFF2-40B4-BE49-F238E27FC236}">
                  <a16:creationId xmlns:a16="http://schemas.microsoft.com/office/drawing/2014/main" id="{19DB9388-1218-CA5A-E6D6-9FAE55E6AA1B}"/>
                </a:ext>
              </a:extLst>
            </p:cNvPr>
            <p:cNvCxnSpPr/>
            <p:nvPr/>
          </p:nvCxnSpPr>
          <p:spPr>
            <a:xfrm rot="10800000">
              <a:off x="2589675" y="6639606"/>
              <a:ext cx="6608400" cy="0"/>
            </a:xfrm>
            <a:prstGeom prst="straightConnector1">
              <a:avLst/>
            </a:prstGeom>
            <a:noFill/>
            <a:ln w="9525" cap="flat" cmpd="sng">
              <a:solidFill>
                <a:srgbClr val="13294B"/>
              </a:solidFill>
              <a:prstDash val="solid"/>
              <a:round/>
              <a:headEnd type="none" w="sm" len="sm"/>
              <a:tailEnd type="none" w="sm" len="sm"/>
            </a:ln>
          </p:spPr>
        </p:cxnSp>
        <p:sp>
          <p:nvSpPr>
            <p:cNvPr id="598" name="Google Shape;598;g330b2db8419_2_73">
              <a:extLst>
                <a:ext uri="{FF2B5EF4-FFF2-40B4-BE49-F238E27FC236}">
                  <a16:creationId xmlns:a16="http://schemas.microsoft.com/office/drawing/2014/main" id="{5287D039-35C1-9556-E9FE-D9CBD8AEB850}"/>
                </a:ext>
              </a:extLst>
            </p:cNvPr>
            <p:cNvSpPr/>
            <p:nvPr/>
          </p:nvSpPr>
          <p:spPr>
            <a:xfrm>
              <a:off x="9196390" y="6601537"/>
              <a:ext cx="70500" cy="70500"/>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3294B"/>
                </a:solidFill>
                <a:latin typeface="Arial"/>
                <a:ea typeface="Arial"/>
                <a:cs typeface="Arial"/>
                <a:sym typeface="Arial"/>
              </a:endParaRPr>
            </a:p>
          </p:txBody>
        </p:sp>
      </p:grpSp>
      <p:sp>
        <p:nvSpPr>
          <p:cNvPr id="599" name="Google Shape;599;g330b2db8419_2_73">
            <a:extLst>
              <a:ext uri="{FF2B5EF4-FFF2-40B4-BE49-F238E27FC236}">
                <a16:creationId xmlns:a16="http://schemas.microsoft.com/office/drawing/2014/main" id="{02A7BCE8-FD92-0953-F108-EE62C1EC3D4A}"/>
              </a:ext>
            </a:extLst>
          </p:cNvPr>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42</a:t>
            </a:fld>
            <a:endParaRPr/>
          </a:p>
        </p:txBody>
      </p:sp>
      <p:sp>
        <p:nvSpPr>
          <p:cNvPr id="2" name="文本框 1">
            <a:extLst>
              <a:ext uri="{FF2B5EF4-FFF2-40B4-BE49-F238E27FC236}">
                <a16:creationId xmlns:a16="http://schemas.microsoft.com/office/drawing/2014/main" id="{EABC818A-249F-7341-C8D6-6FDCE9A8F75D}"/>
              </a:ext>
            </a:extLst>
          </p:cNvPr>
          <p:cNvSpPr txBox="1"/>
          <p:nvPr/>
        </p:nvSpPr>
        <p:spPr>
          <a:xfrm>
            <a:off x="1515606" y="957886"/>
            <a:ext cx="7714034" cy="1077218"/>
          </a:xfrm>
          <a:prstGeom prst="rect">
            <a:avLst/>
          </a:prstGeom>
          <a:noFill/>
        </p:spPr>
        <p:txBody>
          <a:bodyPr wrap="square" rtlCol="0">
            <a:spAutoFit/>
          </a:bodyPr>
          <a:lstStyle/>
          <a:p>
            <a:r>
              <a:rPr lang="en-US" altLang="zh-CN" sz="3200" dirty="0">
                <a:latin typeface="Times New Roman" panose="02020603050405020304" pitchFamily="18" charset="0"/>
                <a:cs typeface="Times New Roman" panose="02020603050405020304" pitchFamily="18" charset="0"/>
              </a:rPr>
              <a:t>Cons</a:t>
            </a:r>
          </a:p>
          <a:p>
            <a:endParaRPr lang="zh-CN" altLang="en-US" sz="3200" dirty="0">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8F699DB7-5A85-8B5C-ED9D-FC77AA7CD22A}"/>
              </a:ext>
            </a:extLst>
          </p:cNvPr>
          <p:cNvSpPr txBox="1"/>
          <p:nvPr/>
        </p:nvSpPr>
        <p:spPr>
          <a:xfrm>
            <a:off x="1219603" y="1729897"/>
            <a:ext cx="10745418" cy="1938992"/>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•It may not apply to language models with architectures other than transformers, such Mamba or Griffin. </a:t>
            </a:r>
          </a:p>
          <a:p>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a:t>
            </a:r>
            <a:r>
              <a:rPr lang="en-US" altLang="zh-CN" sz="2400" dirty="0" err="1">
                <a:latin typeface="Times New Roman" panose="02020603050405020304" pitchFamily="18" charset="0"/>
                <a:cs typeface="Times New Roman" panose="02020603050405020304" pitchFamily="18" charset="0"/>
              </a:rPr>
              <a:t>CacheBlend</a:t>
            </a:r>
            <a:r>
              <a:rPr lang="en-US" altLang="zh-CN" sz="2400" dirty="0">
                <a:latin typeface="Times New Roman" panose="02020603050405020304" pitchFamily="18" charset="0"/>
                <a:cs typeface="Times New Roman" panose="02020603050405020304" pitchFamily="18" charset="0"/>
              </a:rPr>
              <a:t> has not yet been examined on latest serving engines like </a:t>
            </a:r>
            <a:r>
              <a:rPr lang="en-US" altLang="zh-CN" sz="2400" dirty="0" err="1">
                <a:latin typeface="Times New Roman" panose="02020603050405020304" pitchFamily="18" charset="0"/>
                <a:cs typeface="Times New Roman" panose="02020603050405020304" pitchFamily="18" charset="0"/>
              </a:rPr>
              <a:t>Distserve</a:t>
            </a:r>
            <a:r>
              <a:rPr lang="en-US" altLang="zh-CN" sz="2400" dirty="0">
                <a:latin typeface="Times New Roman" panose="02020603050405020304" pitchFamily="18" charset="0"/>
                <a:cs typeface="Times New Roman" panose="02020603050405020304" pitchFamily="18" charset="0"/>
              </a:rPr>
              <a:t> or </a:t>
            </a:r>
            <a:r>
              <a:rPr lang="en-US" altLang="zh-CN" sz="2400" dirty="0" err="1">
                <a:latin typeface="Times New Roman" panose="02020603050405020304" pitchFamily="18" charset="0"/>
                <a:cs typeface="Times New Roman" panose="02020603050405020304" pitchFamily="18" charset="0"/>
              </a:rPr>
              <a:t>StableGen</a:t>
            </a:r>
            <a:r>
              <a:rPr lang="en-US" altLang="zh-CN" sz="24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06410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13294B"/>
        </a:solidFill>
        <a:effectLst/>
      </p:bgPr>
    </p:bg>
    <p:spTree>
      <p:nvGrpSpPr>
        <p:cNvPr id="1" name="Shape 81">
          <a:extLst>
            <a:ext uri="{FF2B5EF4-FFF2-40B4-BE49-F238E27FC236}">
              <a16:creationId xmlns:a16="http://schemas.microsoft.com/office/drawing/2014/main" id="{548940BB-031F-0D08-C9CA-1F6492FA142E}"/>
            </a:ext>
          </a:extLst>
        </p:cNvPr>
        <p:cNvGrpSpPr/>
        <p:nvPr/>
      </p:nvGrpSpPr>
      <p:grpSpPr>
        <a:xfrm>
          <a:off x="0" y="0"/>
          <a:ext cx="0" cy="0"/>
          <a:chOff x="0" y="0"/>
          <a:chExt cx="0" cy="0"/>
        </a:xfrm>
      </p:grpSpPr>
      <p:sp>
        <p:nvSpPr>
          <p:cNvPr id="82" name="Google Shape;82;p26">
            <a:extLst>
              <a:ext uri="{FF2B5EF4-FFF2-40B4-BE49-F238E27FC236}">
                <a16:creationId xmlns:a16="http://schemas.microsoft.com/office/drawing/2014/main" id="{1B31EAE3-71CA-FFEA-2C26-970E4BAA2466}"/>
              </a:ext>
            </a:extLst>
          </p:cNvPr>
          <p:cNvSpPr txBox="1"/>
          <p:nvPr/>
        </p:nvSpPr>
        <p:spPr>
          <a:xfrm>
            <a:off x="1134035" y="2553964"/>
            <a:ext cx="9924000" cy="86173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600"/>
              </a:spcBef>
              <a:spcAft>
                <a:spcPts val="0"/>
              </a:spcAft>
              <a:buClr>
                <a:srgbClr val="000000"/>
              </a:buClr>
              <a:buSzPts val="4500"/>
              <a:buFont typeface="Arial"/>
              <a:buNone/>
            </a:pPr>
            <a:r>
              <a:rPr lang="en-US" sz="4500" b="1" dirty="0">
                <a:solidFill>
                  <a:schemeClr val="lt1"/>
                </a:solidFill>
              </a:rPr>
              <a:t>Thanks for your listening</a:t>
            </a:r>
            <a:endParaRPr lang="en-US" sz="1800" b="0" i="0" u="none" strike="noStrike" cap="none" dirty="0">
              <a:solidFill>
                <a:schemeClr val="lt1"/>
              </a:solidFill>
              <a:latin typeface="Arial"/>
              <a:ea typeface="Arial"/>
              <a:cs typeface="Arial"/>
              <a:sym typeface="Arial"/>
            </a:endParaRPr>
          </a:p>
        </p:txBody>
      </p:sp>
      <p:sp>
        <p:nvSpPr>
          <p:cNvPr id="83" name="Google Shape;83;p26">
            <a:extLst>
              <a:ext uri="{FF2B5EF4-FFF2-40B4-BE49-F238E27FC236}">
                <a16:creationId xmlns:a16="http://schemas.microsoft.com/office/drawing/2014/main" id="{B3BEF693-407B-ED3F-DB3E-7CCE533C98A5}"/>
              </a:ext>
            </a:extLst>
          </p:cNvPr>
          <p:cNvSpPr txBox="1"/>
          <p:nvPr/>
        </p:nvSpPr>
        <p:spPr>
          <a:xfrm>
            <a:off x="3922059" y="5413888"/>
            <a:ext cx="4347882"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a:solidFill>
                  <a:schemeClr val="lt1"/>
                </a:solidFill>
              </a:rPr>
              <a:t>April</a:t>
            </a:r>
            <a:r>
              <a:rPr lang="en-US" sz="1800" b="0" i="0" u="none" strike="noStrike" cap="none">
                <a:solidFill>
                  <a:schemeClr val="lt1"/>
                </a:solidFill>
                <a:latin typeface="Arial"/>
                <a:ea typeface="Arial"/>
                <a:cs typeface="Arial"/>
                <a:sym typeface="Arial"/>
              </a:rPr>
              <a:t> 9th, 2025</a:t>
            </a:r>
            <a:endParaRPr sz="1800" b="0" i="0" u="none" strike="noStrike" cap="none">
              <a:solidFill>
                <a:schemeClr val="lt1"/>
              </a:solidFill>
              <a:latin typeface="Arial"/>
              <a:ea typeface="Arial"/>
              <a:cs typeface="Arial"/>
              <a:sym typeface="Arial"/>
            </a:endParaRPr>
          </a:p>
        </p:txBody>
      </p:sp>
      <p:pic>
        <p:nvPicPr>
          <p:cNvPr id="84" name="Google Shape;84;p26">
            <a:extLst>
              <a:ext uri="{FF2B5EF4-FFF2-40B4-BE49-F238E27FC236}">
                <a16:creationId xmlns:a16="http://schemas.microsoft.com/office/drawing/2014/main" id="{F7D41C92-FD93-853A-81C2-80EDA2485D5C}"/>
              </a:ext>
            </a:extLst>
          </p:cNvPr>
          <p:cNvPicPr preferRelativeResize="0"/>
          <p:nvPr/>
        </p:nvPicPr>
        <p:blipFill rotWithShape="1">
          <a:blip r:embed="rId3">
            <a:alphaModFix/>
          </a:blip>
          <a:srcRect/>
          <a:stretch/>
        </p:blipFill>
        <p:spPr>
          <a:xfrm>
            <a:off x="4641007" y="1004743"/>
            <a:ext cx="2909982" cy="754664"/>
          </a:xfrm>
          <a:prstGeom prst="rect">
            <a:avLst/>
          </a:prstGeom>
          <a:noFill/>
          <a:ln>
            <a:noFill/>
          </a:ln>
        </p:spPr>
      </p:pic>
      <p:sp>
        <p:nvSpPr>
          <p:cNvPr id="85" name="Google Shape;85;p26">
            <a:extLst>
              <a:ext uri="{FF2B5EF4-FFF2-40B4-BE49-F238E27FC236}">
                <a16:creationId xmlns:a16="http://schemas.microsoft.com/office/drawing/2014/main" id="{7CD6C209-EFB6-3A61-6B77-FFF5DA0422DE}"/>
              </a:ext>
            </a:extLst>
          </p:cNvPr>
          <p:cNvSpPr txBox="1">
            <a:spLocks noGrp="1"/>
          </p:cNvSpPr>
          <p:nvPr>
            <p:ph type="sldNum" idx="12"/>
          </p:nvPr>
        </p:nvSpPr>
        <p:spPr>
          <a:xfrm>
            <a:off x="9372600" y="6444325"/>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43</a:t>
            </a:fld>
            <a:endParaRPr/>
          </a:p>
        </p:txBody>
      </p:sp>
    </p:spTree>
    <p:extLst>
      <p:ext uri="{BB962C8B-B14F-4D97-AF65-F5344CB8AC3E}">
        <p14:creationId xmlns:p14="http://schemas.microsoft.com/office/powerpoint/2010/main" val="2056382619"/>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TotalTime>
  <Words>3483</Words>
  <Application>Microsoft Office PowerPoint</Application>
  <PresentationFormat>宽屏</PresentationFormat>
  <Paragraphs>465</Paragraphs>
  <Slides>43</Slides>
  <Notes>43</Notes>
  <HiddenSlides>3</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43</vt:i4>
      </vt:variant>
    </vt:vector>
  </HeadingPairs>
  <TitlesOfParts>
    <vt:vector size="51" baseType="lpstr">
      <vt:lpstr>Arial</vt:lpstr>
      <vt:lpstr>Cambria Math</vt:lpstr>
      <vt:lpstr>Times New Roman</vt:lpstr>
      <vt:lpstr>Courier New,monospace</vt:lpstr>
      <vt:lpstr>Calibri</vt:lpstr>
      <vt:lpstr>Roboto</vt:lpstr>
      <vt:lpstr>Courier New</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Nielsen, Joshua</dc:creator>
  <cp:lastModifiedBy>ThinkPad</cp:lastModifiedBy>
  <cp:revision>152</cp:revision>
  <dcterms:created xsi:type="dcterms:W3CDTF">2019-01-14T22:06:33Z</dcterms:created>
  <dcterms:modified xsi:type="dcterms:W3CDTF">2025-04-09T15:14:00Z</dcterms:modified>
</cp:coreProperties>
</file>